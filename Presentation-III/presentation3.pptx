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Sardar Trilochan Singh, Roll Number 25 W U 0102246, B.Tech AIML, Woxsen University. This is Presentation 3 for my DBMS course project — the School Transport Route and Student Pickup Management System. It's a fully working, MySQL-backed application with a React frontend and a Node.js/Express backend, and in the next ten minutes I'll walk through the design, the live database, and demonstrate real insert and delete operations against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system, transport data for a school this size lived in scattered spreadsheets — assignments, bus capacity, routes, pickups and fees all tracked manually, with no single source of truth and no easy way to verify anything quickly. The objective of this project was to design a normalized relational database and a live web interface on top of it, so every piece of transport information — students, buses, drivers, routes, pickup and drop points, attendance and fees — is connected and instantly queryable instead of scattered.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standard three-tier design. The user interacts with a React and Vite frontend — eight pages covering dashboard, students, transport, routes, buses, pickup and drop points, pickup records and fees. Every page calls a Node.js and Express REST API, which validates input and runs parameterized queries through a MySQL connection pool using the mysql2 driver. MySQL itself holds nine relational tables. There's no mock data anywhere — every number on screen is a live round trip from React to Express to MySQL 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center of the schema is the Student table. From there, a solid primary flow connects Student to Student Transport — the associative table — then to Pickup Point, Route, Bus and Driver in sequence. Two more tables, Transport Fee and Pickup Record, connect directly to Student with a one-to-many relationship, since every student independently accumulates fee and attendance records. Drop Point mirrors Pickup Point on the same Route. In total this is nine tables, one thousand seven hundred and seventy-three records, covering 285 students across 7 routes and 7 buses.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mock dataset — it's a fully populated MySQL database. Nine tables holding one thousand seven hundred seventy-three real rows: 285 students, 285 transport assignments, 855 pickup records — that's three attendance entries per student on average — and 285 fee records. On the right you can see the actual MySQL terminal output of an aggregate COUNT query across all nine tables, which matches these numbers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application, not a mockup — every screen you're seeing here is a live screenshot of the running React app talking to MySQL. The dashboard on the left shows real-time counts. On the right, the Students page supports search and course filtering, the Transport page is a five-table JOIN showing student, pickup, route, bus and driver together, and the Routes page shows live bus-capacity bars computed with a GROUP BY aggregation. Every one of these — view, search, filter, insert, delete, route and capacity analysis — is backed by a real SQL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today's evaluation. Step one: View — I open the Students page and you can see all 285 real students loaded from MySQL. Step two: Insert — I add a temporary demo student, S286, Trilochan Demo, B.Tech AIML, through the Add Student form; it's validated, sent to the backend, and inserted with a parameterized SQL statement. Step three: Verify — switching to the MySQL terminal, a SELECT for student_id S286 returns exactly one row, proving the insert really happened in the database, not just in the UI. Step four: Delete — I remove S286 from the UI with a confirmation dialog. Step five: Verify — the same SELECT now returns an empty set, and the student count is back to 285. This proves the React interface is genuinely reading and writing live MySQL data,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isn't just storage — it supports real analysis through SQL joins and aggregations. These four queries are actually running behind the Transport, Routes and Fees pages: tracing students back to their driver through a five-table join, counting route-wise student distribution with GROUP BY, computing bus capacity utilization — which currently comes out to 285 out of 285 seats, full capacity across all seven buses — and flagging pending transport fees with a simple WHERE filter. Together these show the schema was designed for genuine relational querying, not just flat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what's been tested end to end: the MySQL connection, dashboard loading, student insertion and deletion, viewing, search and filtering, the transport joins, route information, bus capacity, pickup records and transport fees — all verified live today. The final numbers: 285 students, 7 buses, 7 routes, 21 pickup points, 21 drop points, 1,773 total records, and 100% seat utilization. This system successfully brings together a normalized MySQL database and a modern React interface to manage the full transport lifecycle. Future scope includes authentication, live GPS tracking, automated notifications, a mobile app, predictive route optimization and automated fee reminders — none of which are implemented yet, but the schema is designed to extend cleanly into them.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1.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slideLayout" Target="../slideLayouts/slideLayout1.xml"/><Relationship Id="rId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slideLayout" Target="../slideLayouts/slideLayout1.xml"/><Relationship Id="rId2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slideLayout" Target="../slideLayouts/slideLayout1.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image" Target="../media/image-9-21.png"/><Relationship Id="rId22" Type="http://schemas.openxmlformats.org/officeDocument/2006/relationships/image" Target="../media/image-9-22.png"/><Relationship Id="rId23" Type="http://schemas.openxmlformats.org/officeDocument/2006/relationships/image" Target="../media/image-9-23.png"/><Relationship Id="rId24" Type="http://schemas.openxmlformats.org/officeDocument/2006/relationships/slideLayout" Target="../slideLayouts/slideLayout1.xml"/><Relationship Id="rId2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5800" y="914400"/>
            <a:ext cx="3246120" cy="329184"/>
          </a:xfrm>
          <a:prstGeom prst="roundRect">
            <a:avLst>
              <a:gd name="adj" fmla="val 50000"/>
            </a:avLst>
          </a:prstGeom>
          <a:solidFill>
            <a:srgbClr val="4C9BFF">
              <a:alpha val="18000"/>
            </a:srgbClr>
          </a:solidFill>
          <a:ln w="12700">
            <a:solidFill>
              <a:srgbClr val="4C9BFF"/>
            </a:solidFill>
            <a:prstDash val="solid"/>
          </a:ln>
        </p:spPr>
      </p:sp>
      <p:sp>
        <p:nvSpPr>
          <p:cNvPr id="3" name="Text 1"/>
          <p:cNvSpPr txBox="1"/>
          <p:nvPr/>
        </p:nvSpPr>
        <p:spPr>
          <a:xfrm>
            <a:off x="685800" y="914400"/>
            <a:ext cx="3246120" cy="329184"/>
          </a:xfrm>
          <a:prstGeom prst="rect">
            <a:avLst/>
          </a:prstGeom>
          <a:noFill/>
          <a:ln/>
        </p:spPr>
        <p:txBody>
          <a:bodyPr wrap="square" lIns="0" tIns="0" rIns="0" bIns="0" rtlCol="0" anchor="ctr"/>
          <a:lstStyle/>
          <a:p>
            <a:pPr algn="ctr" indent="0" marL="0">
              <a:buNone/>
            </a:pPr>
            <a:r>
              <a:rPr lang="en-US" sz="950" b="1" spc="100" kern="0" dirty="0">
                <a:solidFill>
                  <a:srgbClr val="4C9BFF"/>
                </a:solidFill>
                <a:latin typeface="Calibri" pitchFamily="34" charset="0"/>
                <a:ea typeface="Calibri" pitchFamily="34" charset="-122"/>
                <a:cs typeface="Calibri" pitchFamily="34" charset="-120"/>
              </a:rPr>
              <a:t>DBMS COURSE PROJECT · PRESENTATION III</a:t>
            </a:r>
            <a:endParaRPr lang="en-US" sz="950" dirty="0"/>
          </a:p>
        </p:txBody>
      </p:sp>
      <p:sp>
        <p:nvSpPr>
          <p:cNvPr id="4" name="Text 2"/>
          <p:cNvSpPr txBox="1"/>
          <p:nvPr/>
        </p:nvSpPr>
        <p:spPr>
          <a:xfrm>
            <a:off x="685800" y="1508760"/>
            <a:ext cx="7589520" cy="1691640"/>
          </a:xfrm>
          <a:prstGeom prst="rect">
            <a:avLst/>
          </a:prstGeom>
          <a:noFill/>
          <a:ln/>
        </p:spPr>
        <p:txBody>
          <a:bodyPr wrap="square" lIns="0" tIns="0" rIns="0" bIns="0" rtlCol="0" anchor="ctr"/>
          <a:lstStyle/>
          <a:p>
            <a:pPr algn="l" indent="0" marL="0">
              <a:lnSpc>
                <a:spcPct val="110000"/>
              </a:lnSpc>
              <a:buNone/>
            </a:pPr>
            <a:r>
              <a:rPr lang="en-US" sz="3200" b="1" dirty="0">
                <a:solidFill>
                  <a:srgbClr val="F4F8FC"/>
                </a:solidFill>
                <a:latin typeface="Cambria" pitchFamily="34" charset="0"/>
                <a:ea typeface="Cambria" pitchFamily="34" charset="-122"/>
                <a:cs typeface="Cambria" pitchFamily="34" charset="-120"/>
              </a:rPr>
              <a:t>School Transport Route &amp;</a:t>
            </a:r>
            <a:endParaRPr lang="en-US" sz="3200" dirty="0"/>
          </a:p>
          <a:p>
            <a:pPr algn="l" indent="0" marL="0">
              <a:lnSpc>
                <a:spcPct val="110000"/>
              </a:lnSpc>
              <a:buNone/>
            </a:pPr>
            <a:r>
              <a:rPr lang="en-US" sz="3200" b="1" dirty="0">
                <a:solidFill>
                  <a:srgbClr val="F4F8FC"/>
                </a:solidFill>
                <a:latin typeface="Cambria" pitchFamily="34" charset="0"/>
                <a:ea typeface="Cambria" pitchFamily="34" charset="-122"/>
                <a:cs typeface="Cambria" pitchFamily="34" charset="-120"/>
              </a:rPr>
              <a:t>Student Pickup Management System</a:t>
            </a:r>
            <a:endParaRPr lang="en-US" sz="3200" dirty="0"/>
          </a:p>
        </p:txBody>
      </p:sp>
      <p:sp>
        <p:nvSpPr>
          <p:cNvPr id="5" name="Text 3"/>
          <p:cNvSpPr txBox="1"/>
          <p:nvPr/>
        </p:nvSpPr>
        <p:spPr>
          <a:xfrm>
            <a:off x="685800" y="3246120"/>
            <a:ext cx="7589520" cy="457200"/>
          </a:xfrm>
          <a:prstGeom prst="rect">
            <a:avLst/>
          </a:prstGeom>
          <a:noFill/>
          <a:ln/>
        </p:spPr>
        <p:txBody>
          <a:bodyPr wrap="square" lIns="0" tIns="0" rIns="0" bIns="0" rtlCol="0" anchor="ctr"/>
          <a:lstStyle/>
          <a:p>
            <a:pPr algn="l" indent="0" marL="0">
              <a:buNone/>
            </a:pPr>
            <a:r>
              <a:rPr lang="en-US" sz="1600" i="1" dirty="0">
                <a:solidFill>
                  <a:srgbClr val="93A5C2"/>
                </a:solidFill>
                <a:latin typeface="Calibri" pitchFamily="34" charset="0"/>
                <a:ea typeface="Calibri" pitchFamily="34" charset="-122"/>
                <a:cs typeface="Calibri" pitchFamily="34" charset="-120"/>
              </a:rPr>
              <a:t>Database Management System — Presentation III</a:t>
            </a:r>
            <a:endParaRPr lang="en-US" sz="1600" dirty="0"/>
          </a:p>
        </p:txBody>
      </p:sp>
      <p:sp>
        <p:nvSpPr>
          <p:cNvPr id="6" name="Shape 4"/>
          <p:cNvSpPr/>
          <p:nvPr/>
        </p:nvSpPr>
        <p:spPr>
          <a:xfrm>
            <a:off x="685800" y="4114800"/>
            <a:ext cx="4663440" cy="914400"/>
          </a:xfrm>
          <a:prstGeom prst="roundRect">
            <a:avLst>
              <a:gd name="adj" fmla="val 120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7" name="Shape 5"/>
          <p:cNvSpPr/>
          <p:nvPr/>
        </p:nvSpPr>
        <p:spPr>
          <a:xfrm>
            <a:off x="873252" y="4274820"/>
            <a:ext cx="576072" cy="576072"/>
          </a:xfrm>
          <a:prstGeom prst="ellipse">
            <a:avLst/>
          </a:prstGeom>
          <a:solidFill>
            <a:srgbClr val="000000">
              <a:alpha val="25000"/>
            </a:srgbClr>
          </a:solidFill>
          <a:ln/>
        </p:spPr>
      </p:sp>
      <p:pic>
        <p:nvPicPr>
          <p:cNvPr id="8" name="Image 0" descr="preencoded.png">    </p:cNvPr>
          <p:cNvPicPr>
            <a:picLocks noChangeAspect="1"/>
          </p:cNvPicPr>
          <p:nvPr/>
        </p:nvPicPr>
        <p:blipFill>
          <a:blip r:embed="rId2"/>
          <a:stretch>
            <a:fillRect/>
          </a:stretch>
        </p:blipFill>
        <p:spPr>
          <a:xfrm>
            <a:off x="896112" y="4297680"/>
            <a:ext cx="530352" cy="530352"/>
          </a:xfrm>
          <a:prstGeom prst="rect">
            <a:avLst/>
          </a:prstGeom>
        </p:spPr>
      </p:pic>
      <p:pic>
        <p:nvPicPr>
          <p:cNvPr id="9" name="Image 1" descr="preencoded.png">    </p:cNvPr>
          <p:cNvPicPr>
            <a:picLocks noChangeAspect="1"/>
          </p:cNvPicPr>
          <p:nvPr/>
        </p:nvPicPr>
        <p:blipFill>
          <a:blip r:embed="rId3"/>
          <a:stretch>
            <a:fillRect/>
          </a:stretch>
        </p:blipFill>
        <p:spPr>
          <a:xfrm>
            <a:off x="1023396" y="4424964"/>
            <a:ext cx="275783" cy="275783"/>
          </a:xfrm>
          <a:prstGeom prst="rect">
            <a:avLst/>
          </a:prstGeom>
        </p:spPr>
      </p:pic>
      <p:sp>
        <p:nvSpPr>
          <p:cNvPr id="10" name="Text 6"/>
          <p:cNvSpPr txBox="1"/>
          <p:nvPr/>
        </p:nvSpPr>
        <p:spPr>
          <a:xfrm>
            <a:off x="1572768" y="4114800"/>
            <a:ext cx="3611880" cy="914400"/>
          </a:xfrm>
          <a:prstGeom prst="rect">
            <a:avLst/>
          </a:prstGeom>
          <a:noFill/>
          <a:ln/>
        </p:spPr>
        <p:txBody>
          <a:bodyPr wrap="square" lIns="0" tIns="0" rIns="0" bIns="0" rtlCol="0" anchor="ctr"/>
          <a:lstStyle/>
          <a:p>
            <a:pPr indent="0" marL="0">
              <a:buNone/>
            </a:pPr>
            <a:r>
              <a:rPr lang="en-US" sz="1450" b="1" dirty="0">
                <a:solidFill>
                  <a:srgbClr val="F4F8FC"/>
                </a:solidFill>
                <a:latin typeface="Calibri" pitchFamily="34" charset="0"/>
                <a:ea typeface="Calibri" pitchFamily="34" charset="-122"/>
                <a:cs typeface="Calibri" pitchFamily="34" charset="-120"/>
              </a:rPr>
              <a:t>Sardar Trilochan Singh
</a:t>
            </a:r>
            <a:pPr indent="0" marL="0">
              <a:buNone/>
            </a:pPr>
            <a:r>
              <a:rPr lang="en-US" sz="1100" dirty="0">
                <a:solidFill>
                  <a:srgbClr val="93A5C2"/>
                </a:solidFill>
                <a:latin typeface="Calibri" pitchFamily="34" charset="0"/>
                <a:ea typeface="Calibri" pitchFamily="34" charset="-122"/>
                <a:cs typeface="Calibri" pitchFamily="34" charset="-120"/>
              </a:rPr>
              <a:t>25WU0102246  |  B.Tech AIML  |  Woxsen University</a:t>
            </a:r>
            <a:endParaRPr lang="en-US" sz="1450" dirty="0"/>
          </a:p>
        </p:txBody>
      </p:sp>
      <p:sp>
        <p:nvSpPr>
          <p:cNvPr id="11" name="Text 7"/>
          <p:cNvSpPr txBox="1"/>
          <p:nvPr/>
        </p:nvSpPr>
        <p:spPr>
          <a:xfrm>
            <a:off x="685800" y="5760720"/>
            <a:ext cx="8229600" cy="320040"/>
          </a:xfrm>
          <a:prstGeom prst="rect">
            <a:avLst/>
          </a:prstGeom>
          <a:noFill/>
          <a:ln/>
        </p:spPr>
        <p:txBody>
          <a:bodyPr wrap="square" lIns="0" tIns="0" rIns="0" bIns="0" rtlCol="0" anchor="ctr"/>
          <a:lstStyle/>
          <a:p>
            <a:pPr algn="l" indent="0" marL="0">
              <a:buNone/>
            </a:pPr>
            <a:r>
              <a:rPr lang="en-US" sz="1250" dirty="0">
                <a:solidFill>
                  <a:srgbClr val="4C9BFF"/>
                </a:solidFill>
                <a:latin typeface="Consolas" pitchFamily="34" charset="0"/>
                <a:ea typeface="Consolas" pitchFamily="34" charset="-122"/>
                <a:cs typeface="Consolas" pitchFamily="34" charset="-120"/>
              </a:rPr>
              <a:t>React + Vite   ·   Node.js + Express   ·   MySQL</a:t>
            </a:r>
            <a:endParaRPr lang="en-US" sz="1250" dirty="0"/>
          </a:p>
        </p:txBody>
      </p:sp>
      <p:sp>
        <p:nvSpPr>
          <p:cNvPr id="12" name="Shape 8"/>
          <p:cNvSpPr/>
          <p:nvPr/>
        </p:nvSpPr>
        <p:spPr>
          <a:xfrm>
            <a:off x="9646920" y="1371600"/>
            <a:ext cx="0" cy="3931920"/>
          </a:xfrm>
          <a:prstGeom prst="line">
            <a:avLst/>
          </a:prstGeom>
          <a:noFill/>
          <a:ln w="31750">
            <a:solidFill>
              <a:srgbClr val="4C9BFF"/>
            </a:solidFill>
            <a:prstDash val="solid"/>
          </a:ln>
        </p:spPr>
      </p:sp>
      <p:sp>
        <p:nvSpPr>
          <p:cNvPr id="13" name="Shape 9"/>
          <p:cNvSpPr/>
          <p:nvPr/>
        </p:nvSpPr>
        <p:spPr>
          <a:xfrm>
            <a:off x="9285732" y="1165860"/>
            <a:ext cx="722376" cy="722376"/>
          </a:xfrm>
          <a:prstGeom prst="ellipse">
            <a:avLst/>
          </a:prstGeom>
          <a:solidFill>
            <a:srgbClr val="000000">
              <a:alpha val="25000"/>
            </a:srgbClr>
          </a:solidFill>
          <a:ln/>
        </p:spPr>
      </p:sp>
      <p:pic>
        <p:nvPicPr>
          <p:cNvPr id="14" name="Image 2" descr="preencoded.png">    </p:cNvPr>
          <p:cNvPicPr>
            <a:picLocks noChangeAspect="1"/>
          </p:cNvPicPr>
          <p:nvPr/>
        </p:nvPicPr>
        <p:blipFill>
          <a:blip r:embed="rId4"/>
          <a:stretch>
            <a:fillRect/>
          </a:stretch>
        </p:blipFill>
        <p:spPr>
          <a:xfrm>
            <a:off x="9308592" y="1188720"/>
            <a:ext cx="676656" cy="676656"/>
          </a:xfrm>
          <a:prstGeom prst="rect">
            <a:avLst/>
          </a:prstGeom>
        </p:spPr>
      </p:pic>
      <p:pic>
        <p:nvPicPr>
          <p:cNvPr id="15" name="Image 3" descr="preencoded.png">    </p:cNvPr>
          <p:cNvPicPr>
            <a:picLocks noChangeAspect="1"/>
          </p:cNvPicPr>
          <p:nvPr/>
        </p:nvPicPr>
        <p:blipFill>
          <a:blip r:embed="rId5"/>
          <a:stretch>
            <a:fillRect/>
          </a:stretch>
        </p:blipFill>
        <p:spPr>
          <a:xfrm>
            <a:off x="9477756" y="1357884"/>
            <a:ext cx="338328" cy="338328"/>
          </a:xfrm>
          <a:prstGeom prst="rect">
            <a:avLst/>
          </a:prstGeom>
        </p:spPr>
      </p:pic>
      <p:sp>
        <p:nvSpPr>
          <p:cNvPr id="16" name="Shape 10"/>
          <p:cNvSpPr/>
          <p:nvPr/>
        </p:nvSpPr>
        <p:spPr>
          <a:xfrm>
            <a:off x="9285732" y="2308860"/>
            <a:ext cx="722376" cy="722376"/>
          </a:xfrm>
          <a:prstGeom prst="ellipse">
            <a:avLst/>
          </a:prstGeom>
          <a:solidFill>
            <a:srgbClr val="000000">
              <a:alpha val="25000"/>
            </a:srgbClr>
          </a:solidFill>
          <a:ln/>
        </p:spPr>
      </p:sp>
      <p:pic>
        <p:nvPicPr>
          <p:cNvPr id="17" name="Image 4" descr="preencoded.png">    </p:cNvPr>
          <p:cNvPicPr>
            <a:picLocks noChangeAspect="1"/>
          </p:cNvPicPr>
          <p:nvPr/>
        </p:nvPicPr>
        <p:blipFill>
          <a:blip r:embed="rId6"/>
          <a:stretch>
            <a:fillRect/>
          </a:stretch>
        </p:blipFill>
        <p:spPr>
          <a:xfrm>
            <a:off x="9308592" y="2331720"/>
            <a:ext cx="676656" cy="676656"/>
          </a:xfrm>
          <a:prstGeom prst="rect">
            <a:avLst/>
          </a:prstGeom>
        </p:spPr>
      </p:pic>
      <p:pic>
        <p:nvPicPr>
          <p:cNvPr id="18" name="Image 5" descr="preencoded.png">    </p:cNvPr>
          <p:cNvPicPr>
            <a:picLocks noChangeAspect="1"/>
          </p:cNvPicPr>
          <p:nvPr/>
        </p:nvPicPr>
        <p:blipFill>
          <a:blip r:embed="rId7"/>
          <a:stretch>
            <a:fillRect/>
          </a:stretch>
        </p:blipFill>
        <p:spPr>
          <a:xfrm>
            <a:off x="9477756" y="2500884"/>
            <a:ext cx="338328" cy="338328"/>
          </a:xfrm>
          <a:prstGeom prst="rect">
            <a:avLst/>
          </a:prstGeom>
        </p:spPr>
      </p:pic>
      <p:sp>
        <p:nvSpPr>
          <p:cNvPr id="19" name="Shape 11"/>
          <p:cNvSpPr/>
          <p:nvPr/>
        </p:nvSpPr>
        <p:spPr>
          <a:xfrm>
            <a:off x="9285732" y="3451860"/>
            <a:ext cx="722376" cy="722376"/>
          </a:xfrm>
          <a:prstGeom prst="ellipse">
            <a:avLst/>
          </a:prstGeom>
          <a:solidFill>
            <a:srgbClr val="000000">
              <a:alpha val="25000"/>
            </a:srgbClr>
          </a:solidFill>
          <a:ln/>
        </p:spPr>
      </p:sp>
      <p:pic>
        <p:nvPicPr>
          <p:cNvPr id="20" name="Image 6" descr="preencoded.png">    </p:cNvPr>
          <p:cNvPicPr>
            <a:picLocks noChangeAspect="1"/>
          </p:cNvPicPr>
          <p:nvPr/>
        </p:nvPicPr>
        <p:blipFill>
          <a:blip r:embed="rId8"/>
          <a:stretch>
            <a:fillRect/>
          </a:stretch>
        </p:blipFill>
        <p:spPr>
          <a:xfrm>
            <a:off x="9308592" y="3474720"/>
            <a:ext cx="676656" cy="676656"/>
          </a:xfrm>
          <a:prstGeom prst="rect">
            <a:avLst/>
          </a:prstGeom>
        </p:spPr>
      </p:pic>
      <p:pic>
        <p:nvPicPr>
          <p:cNvPr id="21" name="Image 7" descr="preencoded.png">    </p:cNvPr>
          <p:cNvPicPr>
            <a:picLocks noChangeAspect="1"/>
          </p:cNvPicPr>
          <p:nvPr/>
        </p:nvPicPr>
        <p:blipFill>
          <a:blip r:embed="rId9"/>
          <a:stretch>
            <a:fillRect/>
          </a:stretch>
        </p:blipFill>
        <p:spPr>
          <a:xfrm>
            <a:off x="9477756" y="3643884"/>
            <a:ext cx="338328" cy="338328"/>
          </a:xfrm>
          <a:prstGeom prst="rect">
            <a:avLst/>
          </a:prstGeom>
        </p:spPr>
      </p:pic>
      <p:sp>
        <p:nvSpPr>
          <p:cNvPr id="22" name="Shape 12"/>
          <p:cNvSpPr/>
          <p:nvPr/>
        </p:nvSpPr>
        <p:spPr>
          <a:xfrm>
            <a:off x="9285732" y="4594860"/>
            <a:ext cx="722376" cy="722376"/>
          </a:xfrm>
          <a:prstGeom prst="ellipse">
            <a:avLst/>
          </a:prstGeom>
          <a:solidFill>
            <a:srgbClr val="000000">
              <a:alpha val="25000"/>
            </a:srgbClr>
          </a:solidFill>
          <a:ln/>
        </p:spPr>
      </p:sp>
      <p:pic>
        <p:nvPicPr>
          <p:cNvPr id="23" name="Image 8" descr="preencoded.png">    </p:cNvPr>
          <p:cNvPicPr>
            <a:picLocks noChangeAspect="1"/>
          </p:cNvPicPr>
          <p:nvPr/>
        </p:nvPicPr>
        <p:blipFill>
          <a:blip r:embed="rId10"/>
          <a:stretch>
            <a:fillRect/>
          </a:stretch>
        </p:blipFill>
        <p:spPr>
          <a:xfrm>
            <a:off x="9308592" y="4617720"/>
            <a:ext cx="676656" cy="676656"/>
          </a:xfrm>
          <a:prstGeom prst="rect">
            <a:avLst/>
          </a:prstGeom>
        </p:spPr>
      </p:pic>
      <p:pic>
        <p:nvPicPr>
          <p:cNvPr id="24" name="Image 9" descr="preencoded.png">    </p:cNvPr>
          <p:cNvPicPr>
            <a:picLocks noChangeAspect="1"/>
          </p:cNvPicPr>
          <p:nvPr/>
        </p:nvPicPr>
        <p:blipFill>
          <a:blip r:embed="rId11"/>
          <a:stretch>
            <a:fillRect/>
          </a:stretch>
        </p:blipFill>
        <p:spPr>
          <a:xfrm>
            <a:off x="9477756" y="4786884"/>
            <a:ext cx="338328" cy="338328"/>
          </a:xfrm>
          <a:prstGeom prst="rect">
            <a:avLst/>
          </a:prstGeom>
        </p:spPr>
      </p:pic>
      <p:sp>
        <p:nvSpPr>
          <p:cNvPr id="25" name="Text 13"/>
          <p:cNvSpPr txBox="1"/>
          <p:nvPr/>
        </p:nvSpPr>
        <p:spPr>
          <a:xfrm>
            <a:off x="8275320" y="5440680"/>
            <a:ext cx="3108960" cy="274320"/>
          </a:xfrm>
          <a:prstGeom prst="rect">
            <a:avLst/>
          </a:prstGeom>
          <a:noFill/>
          <a:ln/>
        </p:spPr>
        <p:txBody>
          <a:bodyPr wrap="square" lIns="0" tIns="0" rIns="0" bIns="0" rtlCol="0" anchor="ctr"/>
          <a:lstStyle/>
          <a:p>
            <a:pPr algn="ctr" indent="0" marL="0">
              <a:buNone/>
            </a:pPr>
            <a:r>
              <a:rPr lang="en-US" sz="900" i="1" dirty="0">
                <a:solidFill>
                  <a:srgbClr val="56688A"/>
                </a:solidFill>
                <a:latin typeface="Calibri" pitchFamily="34" charset="0"/>
                <a:ea typeface="Calibri" pitchFamily="34" charset="-122"/>
                <a:cs typeface="Calibri" pitchFamily="34" charset="-120"/>
              </a:rPr>
              <a:t>Transport Network ⇄ Relational Database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algn="l" indent="0" marL="0">
              <a:buNone/>
            </a:pPr>
            <a:r>
              <a:rPr lang="en-US" sz="1100" b="1" spc="220" kern="0" dirty="0">
                <a:solidFill>
                  <a:srgbClr val="4C9BFF"/>
                </a:solidFill>
                <a:latin typeface="Calibri" pitchFamily="34" charset="0"/>
                <a:ea typeface="Calibri" pitchFamily="34" charset="-122"/>
                <a:cs typeface="Calibri" pitchFamily="34" charset="-120"/>
              </a:rPr>
              <a:t>PROBLEM &amp; OBJECTIVE</a:t>
            </a:r>
            <a:endParaRPr lang="en-US" sz="1100" dirty="0"/>
          </a:p>
        </p:txBody>
      </p:sp>
      <p:sp>
        <p:nvSpPr>
          <p:cNvPr id="3" name="Text 1"/>
          <p:cNvSpPr txBox="1"/>
          <p:nvPr/>
        </p:nvSpPr>
        <p:spPr>
          <a:xfrm>
            <a:off x="548640" y="658368"/>
            <a:ext cx="10515600" cy="594360"/>
          </a:xfrm>
          <a:prstGeom prst="rect">
            <a:avLst/>
          </a:prstGeom>
          <a:noFill/>
          <a:ln/>
        </p:spPr>
        <p:txBody>
          <a:bodyPr wrap="square" lIns="0" tIns="0" rIns="0" bIns="0" rtlCol="0" anchor="ctr"/>
          <a:lstStyle/>
          <a:p>
            <a:pPr algn="l" indent="0" marL="0">
              <a:buNone/>
            </a:pPr>
            <a:r>
              <a:rPr lang="en-US" sz="2700" b="1" dirty="0">
                <a:solidFill>
                  <a:srgbClr val="F4F8FC"/>
                </a:solidFill>
                <a:latin typeface="Cambria" pitchFamily="34" charset="0"/>
                <a:ea typeface="Cambria" pitchFamily="34" charset="-122"/>
                <a:cs typeface="Cambria" pitchFamily="34" charset="-120"/>
              </a:rPr>
              <a:t>From Transport Chaos to One Connected System</a:t>
            </a:r>
            <a:endParaRPr lang="en-US" sz="2700" dirty="0"/>
          </a:p>
        </p:txBody>
      </p:sp>
      <p:sp>
        <p:nvSpPr>
          <p:cNvPr id="4" name="Text 2"/>
          <p:cNvSpPr txBox="1"/>
          <p:nvPr/>
        </p:nvSpPr>
        <p:spPr>
          <a:xfrm>
            <a:off x="548640" y="1371600"/>
            <a:ext cx="10607040" cy="548640"/>
          </a:xfrm>
          <a:prstGeom prst="rect">
            <a:avLst/>
          </a:prstGeom>
          <a:noFill/>
          <a:ln/>
        </p:spPr>
        <p:txBody>
          <a:bodyPr wrap="square" lIns="0" tIns="0" rIns="0" bIns="0" rtlCol="0" anchor="ctr"/>
          <a:lstStyle/>
          <a:p>
            <a:pPr indent="0" marL="0">
              <a:buNone/>
            </a:pPr>
            <a:r>
              <a:rPr lang="en-US" sz="1350" i="1" dirty="0">
                <a:solidFill>
                  <a:srgbClr val="93A5C2"/>
                </a:solidFill>
                <a:latin typeface="Calibri" pitchFamily="34" charset="0"/>
                <a:ea typeface="Calibri" pitchFamily="34" charset="-122"/>
                <a:cs typeface="Calibri" pitchFamily="34" charset="-120"/>
              </a:rPr>
              <a:t>Manual transport management makes it difficult to track assignments, bus capacity, routes, pickup/drop points, drivers, attendance and fees together.</a:t>
            </a:r>
            <a:endParaRPr lang="en-US" sz="1350" dirty="0"/>
          </a:p>
        </p:txBody>
      </p:sp>
      <p:sp>
        <p:nvSpPr>
          <p:cNvPr id="5" name="Shape 3"/>
          <p:cNvSpPr/>
          <p:nvPr/>
        </p:nvSpPr>
        <p:spPr>
          <a:xfrm>
            <a:off x="548640" y="2148840"/>
            <a:ext cx="5120640" cy="512064"/>
          </a:xfrm>
          <a:prstGeom prst="roundRect">
            <a:avLst>
              <a:gd name="adj" fmla="val 17857"/>
            </a:avLst>
          </a:prstGeom>
          <a:solidFill>
            <a:srgbClr val="5A1E1E">
              <a:alpha val="40000"/>
            </a:srgbClr>
          </a:solidFill>
          <a:ln w="12700">
            <a:solidFill>
              <a:srgbClr val="FF6B6B"/>
            </a:solidFill>
            <a:prstDash val="solid"/>
          </a:ln>
          <a:effectLst>
            <a:outerShdw sx="100000" sy="100000" kx="0" ky="0" algn="bl" rotWithShape="0" blurRad="127000" dist="38100" dir="5400000">
              <a:srgbClr val="000000">
                <a:alpha val="45000"/>
              </a:srgbClr>
            </a:outerShdw>
          </a:effectLst>
        </p:spPr>
      </p:sp>
      <p:sp>
        <p:nvSpPr>
          <p:cNvPr id="6" name="Text 4"/>
          <p:cNvSpPr txBox="1"/>
          <p:nvPr/>
        </p:nvSpPr>
        <p:spPr>
          <a:xfrm>
            <a:off x="548640" y="2148840"/>
            <a:ext cx="5120640" cy="512064"/>
          </a:xfrm>
          <a:prstGeom prst="rect">
            <a:avLst/>
          </a:prstGeom>
          <a:noFill/>
          <a:ln/>
        </p:spPr>
        <p:txBody>
          <a:bodyPr wrap="square" lIns="0" tIns="0" rIns="0" bIns="0" rtlCol="0" anchor="ctr"/>
          <a:lstStyle/>
          <a:p>
            <a:pPr algn="ctr" indent="0" marL="0">
              <a:buNone/>
            </a:pPr>
            <a:r>
              <a:rPr lang="en-US" sz="1500" b="1" spc="200" kern="0" dirty="0">
                <a:solidFill>
                  <a:srgbClr val="FF6B6B"/>
                </a:solidFill>
                <a:latin typeface="Cambria" pitchFamily="34" charset="0"/>
                <a:ea typeface="Cambria" pitchFamily="34" charset="-122"/>
                <a:cs typeface="Cambria" pitchFamily="34" charset="-120"/>
              </a:rPr>
              <a:t>BEFORE</a:t>
            </a:r>
            <a:endParaRPr lang="en-US" sz="1500" dirty="0"/>
          </a:p>
        </p:txBody>
      </p:sp>
      <p:sp>
        <p:nvSpPr>
          <p:cNvPr id="7" name="Shape 5"/>
          <p:cNvSpPr/>
          <p:nvPr/>
        </p:nvSpPr>
        <p:spPr>
          <a:xfrm>
            <a:off x="548640" y="2825496"/>
            <a:ext cx="5120640" cy="658368"/>
          </a:xfrm>
          <a:prstGeom prst="roundRect">
            <a:avLst>
              <a:gd name="adj" fmla="val 125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8" name="Shape 6"/>
          <p:cNvSpPr/>
          <p:nvPr/>
        </p:nvSpPr>
        <p:spPr>
          <a:xfrm>
            <a:off x="672084" y="2921508"/>
            <a:ext cx="466344" cy="466344"/>
          </a:xfrm>
          <a:prstGeom prst="ellipse">
            <a:avLst/>
          </a:prstGeom>
          <a:solidFill>
            <a:srgbClr val="000000">
              <a:alpha val="25000"/>
            </a:srgbClr>
          </a:solidFill>
          <a:ln/>
        </p:spPr>
      </p:sp>
      <p:pic>
        <p:nvPicPr>
          <p:cNvPr id="9" name="Image 0" descr="preencoded.png">    </p:cNvPr>
          <p:cNvPicPr>
            <a:picLocks noChangeAspect="1"/>
          </p:cNvPicPr>
          <p:nvPr/>
        </p:nvPicPr>
        <p:blipFill>
          <a:blip r:embed="rId2"/>
          <a:stretch>
            <a:fillRect/>
          </a:stretch>
        </p:blipFill>
        <p:spPr>
          <a:xfrm>
            <a:off x="694944" y="2944368"/>
            <a:ext cx="420624" cy="420624"/>
          </a:xfrm>
          <a:prstGeom prst="rect">
            <a:avLst/>
          </a:prstGeom>
        </p:spPr>
      </p:pic>
      <p:pic>
        <p:nvPicPr>
          <p:cNvPr id="10" name="Image 1" descr="preencoded.png">    </p:cNvPr>
          <p:cNvPicPr>
            <a:picLocks noChangeAspect="1"/>
          </p:cNvPicPr>
          <p:nvPr/>
        </p:nvPicPr>
        <p:blipFill>
          <a:blip r:embed="rId3"/>
          <a:stretch>
            <a:fillRect/>
          </a:stretch>
        </p:blipFill>
        <p:spPr>
          <a:xfrm>
            <a:off x="789584" y="3039008"/>
            <a:ext cx="231343" cy="231343"/>
          </a:xfrm>
          <a:prstGeom prst="rect">
            <a:avLst/>
          </a:prstGeom>
        </p:spPr>
      </p:pic>
      <p:sp>
        <p:nvSpPr>
          <p:cNvPr id="11" name="Text 7"/>
          <p:cNvSpPr txBox="1"/>
          <p:nvPr/>
        </p:nvSpPr>
        <p:spPr>
          <a:xfrm>
            <a:off x="1280160" y="2825496"/>
            <a:ext cx="4251960" cy="658368"/>
          </a:xfrm>
          <a:prstGeom prst="rect">
            <a:avLst/>
          </a:prstGeom>
          <a:noFill/>
          <a:ln/>
        </p:spPr>
        <p:txBody>
          <a:bodyPr wrap="square" lIns="0" tIns="0" rIns="0" bIns="0" rtlCol="0" anchor="ctr"/>
          <a:lstStyle/>
          <a:p>
            <a:pPr algn="l" indent="0" marL="0">
              <a:buNone/>
            </a:pPr>
            <a:r>
              <a:rPr lang="en-US" sz="1350" b="1" dirty="0">
                <a:solidFill>
                  <a:srgbClr val="F4F8FC"/>
                </a:solidFill>
                <a:latin typeface="Calibri" pitchFamily="34" charset="0"/>
                <a:ea typeface="Calibri" pitchFamily="34" charset="-122"/>
                <a:cs typeface="Calibri" pitchFamily="34" charset="-120"/>
              </a:rPr>
              <a:t>Scattered records</a:t>
            </a:r>
            <a:endParaRPr lang="en-US" sz="1350" dirty="0"/>
          </a:p>
        </p:txBody>
      </p:sp>
      <p:sp>
        <p:nvSpPr>
          <p:cNvPr id="12" name="Shape 8"/>
          <p:cNvSpPr/>
          <p:nvPr/>
        </p:nvSpPr>
        <p:spPr>
          <a:xfrm>
            <a:off x="548640" y="3611880"/>
            <a:ext cx="5120640" cy="658368"/>
          </a:xfrm>
          <a:prstGeom prst="roundRect">
            <a:avLst>
              <a:gd name="adj" fmla="val 125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3" name="Shape 9"/>
          <p:cNvSpPr/>
          <p:nvPr/>
        </p:nvSpPr>
        <p:spPr>
          <a:xfrm>
            <a:off x="672084" y="3707892"/>
            <a:ext cx="466344" cy="466344"/>
          </a:xfrm>
          <a:prstGeom prst="ellipse">
            <a:avLst/>
          </a:prstGeom>
          <a:solidFill>
            <a:srgbClr val="000000">
              <a:alpha val="25000"/>
            </a:srgbClr>
          </a:solidFill>
          <a:ln/>
        </p:spPr>
      </p:sp>
      <p:pic>
        <p:nvPicPr>
          <p:cNvPr id="14" name="Image 2" descr="preencoded.png">    </p:cNvPr>
          <p:cNvPicPr>
            <a:picLocks noChangeAspect="1"/>
          </p:cNvPicPr>
          <p:nvPr/>
        </p:nvPicPr>
        <p:blipFill>
          <a:blip r:embed="rId4"/>
          <a:stretch>
            <a:fillRect/>
          </a:stretch>
        </p:blipFill>
        <p:spPr>
          <a:xfrm>
            <a:off x="694944" y="3730752"/>
            <a:ext cx="420624" cy="420624"/>
          </a:xfrm>
          <a:prstGeom prst="rect">
            <a:avLst/>
          </a:prstGeom>
        </p:spPr>
      </p:pic>
      <p:pic>
        <p:nvPicPr>
          <p:cNvPr id="15" name="Image 3" descr="preencoded.png">    </p:cNvPr>
          <p:cNvPicPr>
            <a:picLocks noChangeAspect="1"/>
          </p:cNvPicPr>
          <p:nvPr/>
        </p:nvPicPr>
        <p:blipFill>
          <a:blip r:embed="rId5"/>
          <a:stretch>
            <a:fillRect/>
          </a:stretch>
        </p:blipFill>
        <p:spPr>
          <a:xfrm>
            <a:off x="789584" y="3825392"/>
            <a:ext cx="231343" cy="231343"/>
          </a:xfrm>
          <a:prstGeom prst="rect">
            <a:avLst/>
          </a:prstGeom>
        </p:spPr>
      </p:pic>
      <p:sp>
        <p:nvSpPr>
          <p:cNvPr id="16" name="Text 10"/>
          <p:cNvSpPr txBox="1"/>
          <p:nvPr/>
        </p:nvSpPr>
        <p:spPr>
          <a:xfrm>
            <a:off x="1280160" y="3611880"/>
            <a:ext cx="4251960" cy="658368"/>
          </a:xfrm>
          <a:prstGeom prst="rect">
            <a:avLst/>
          </a:prstGeom>
          <a:noFill/>
          <a:ln/>
        </p:spPr>
        <p:txBody>
          <a:bodyPr wrap="square" lIns="0" tIns="0" rIns="0" bIns="0" rtlCol="0" anchor="ctr"/>
          <a:lstStyle/>
          <a:p>
            <a:pPr algn="l" indent="0" marL="0">
              <a:buNone/>
            </a:pPr>
            <a:r>
              <a:rPr lang="en-US" sz="1350" b="1" dirty="0">
                <a:solidFill>
                  <a:srgbClr val="F4F8FC"/>
                </a:solidFill>
                <a:latin typeface="Calibri" pitchFamily="34" charset="0"/>
                <a:ea typeface="Calibri" pitchFamily="34" charset="-122"/>
                <a:cs typeface="Calibri" pitchFamily="34" charset="-120"/>
              </a:rPr>
              <a:t>Manual tracking</a:t>
            </a:r>
            <a:endParaRPr lang="en-US" sz="1350" dirty="0"/>
          </a:p>
        </p:txBody>
      </p:sp>
      <p:sp>
        <p:nvSpPr>
          <p:cNvPr id="17" name="Shape 11"/>
          <p:cNvSpPr/>
          <p:nvPr/>
        </p:nvSpPr>
        <p:spPr>
          <a:xfrm>
            <a:off x="548640" y="4398264"/>
            <a:ext cx="5120640" cy="658368"/>
          </a:xfrm>
          <a:prstGeom prst="roundRect">
            <a:avLst>
              <a:gd name="adj" fmla="val 125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8" name="Shape 12"/>
          <p:cNvSpPr/>
          <p:nvPr/>
        </p:nvSpPr>
        <p:spPr>
          <a:xfrm>
            <a:off x="672084" y="4494276"/>
            <a:ext cx="466344" cy="466344"/>
          </a:xfrm>
          <a:prstGeom prst="ellipse">
            <a:avLst/>
          </a:prstGeom>
          <a:solidFill>
            <a:srgbClr val="000000">
              <a:alpha val="25000"/>
            </a:srgbClr>
          </a:solidFill>
          <a:ln/>
        </p:spPr>
      </p:sp>
      <p:pic>
        <p:nvPicPr>
          <p:cNvPr id="19" name="Image 4" descr="preencoded.png">    </p:cNvPr>
          <p:cNvPicPr>
            <a:picLocks noChangeAspect="1"/>
          </p:cNvPicPr>
          <p:nvPr/>
        </p:nvPicPr>
        <p:blipFill>
          <a:blip r:embed="rId6"/>
          <a:stretch>
            <a:fillRect/>
          </a:stretch>
        </p:blipFill>
        <p:spPr>
          <a:xfrm>
            <a:off x="694944" y="4517136"/>
            <a:ext cx="420624" cy="420624"/>
          </a:xfrm>
          <a:prstGeom prst="rect">
            <a:avLst/>
          </a:prstGeom>
        </p:spPr>
      </p:pic>
      <p:pic>
        <p:nvPicPr>
          <p:cNvPr id="20" name="Image 5" descr="preencoded.png">    </p:cNvPr>
          <p:cNvPicPr>
            <a:picLocks noChangeAspect="1"/>
          </p:cNvPicPr>
          <p:nvPr/>
        </p:nvPicPr>
        <p:blipFill>
          <a:blip r:embed="rId7"/>
          <a:stretch>
            <a:fillRect/>
          </a:stretch>
        </p:blipFill>
        <p:spPr>
          <a:xfrm>
            <a:off x="789584" y="4611776"/>
            <a:ext cx="231343" cy="231343"/>
          </a:xfrm>
          <a:prstGeom prst="rect">
            <a:avLst/>
          </a:prstGeom>
        </p:spPr>
      </p:pic>
      <p:sp>
        <p:nvSpPr>
          <p:cNvPr id="21" name="Text 13"/>
          <p:cNvSpPr txBox="1"/>
          <p:nvPr/>
        </p:nvSpPr>
        <p:spPr>
          <a:xfrm>
            <a:off x="1280160" y="4398264"/>
            <a:ext cx="4251960" cy="658368"/>
          </a:xfrm>
          <a:prstGeom prst="rect">
            <a:avLst/>
          </a:prstGeom>
          <a:noFill/>
          <a:ln/>
        </p:spPr>
        <p:txBody>
          <a:bodyPr wrap="square" lIns="0" tIns="0" rIns="0" bIns="0" rtlCol="0" anchor="ctr"/>
          <a:lstStyle/>
          <a:p>
            <a:pPr algn="l" indent="0" marL="0">
              <a:buNone/>
            </a:pPr>
            <a:r>
              <a:rPr lang="en-US" sz="1350" b="1" dirty="0">
                <a:solidFill>
                  <a:srgbClr val="F4F8FC"/>
                </a:solidFill>
                <a:latin typeface="Calibri" pitchFamily="34" charset="0"/>
                <a:ea typeface="Calibri" pitchFamily="34" charset="-122"/>
                <a:cs typeface="Calibri" pitchFamily="34" charset="-120"/>
              </a:rPr>
              <a:t>Difficult updates</a:t>
            </a:r>
            <a:endParaRPr lang="en-US" sz="1350" dirty="0"/>
          </a:p>
        </p:txBody>
      </p:sp>
      <p:sp>
        <p:nvSpPr>
          <p:cNvPr id="22" name="Shape 14"/>
          <p:cNvSpPr/>
          <p:nvPr/>
        </p:nvSpPr>
        <p:spPr>
          <a:xfrm>
            <a:off x="548640" y="5184648"/>
            <a:ext cx="5120640" cy="658368"/>
          </a:xfrm>
          <a:prstGeom prst="roundRect">
            <a:avLst>
              <a:gd name="adj" fmla="val 125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23" name="Shape 15"/>
          <p:cNvSpPr/>
          <p:nvPr/>
        </p:nvSpPr>
        <p:spPr>
          <a:xfrm>
            <a:off x="672084" y="5280660"/>
            <a:ext cx="466344" cy="466344"/>
          </a:xfrm>
          <a:prstGeom prst="ellipse">
            <a:avLst/>
          </a:prstGeom>
          <a:solidFill>
            <a:srgbClr val="000000">
              <a:alpha val="25000"/>
            </a:srgbClr>
          </a:solidFill>
          <a:ln/>
        </p:spPr>
      </p:sp>
      <p:pic>
        <p:nvPicPr>
          <p:cNvPr id="24" name="Image 6" descr="preencoded.png">    </p:cNvPr>
          <p:cNvPicPr>
            <a:picLocks noChangeAspect="1"/>
          </p:cNvPicPr>
          <p:nvPr/>
        </p:nvPicPr>
        <p:blipFill>
          <a:blip r:embed="rId8"/>
          <a:stretch>
            <a:fillRect/>
          </a:stretch>
        </p:blipFill>
        <p:spPr>
          <a:xfrm>
            <a:off x="694944" y="5303520"/>
            <a:ext cx="420624" cy="420624"/>
          </a:xfrm>
          <a:prstGeom prst="rect">
            <a:avLst/>
          </a:prstGeom>
        </p:spPr>
      </p:pic>
      <p:pic>
        <p:nvPicPr>
          <p:cNvPr id="25" name="Image 7" descr="preencoded.png">    </p:cNvPr>
          <p:cNvPicPr>
            <a:picLocks noChangeAspect="1"/>
          </p:cNvPicPr>
          <p:nvPr/>
        </p:nvPicPr>
        <p:blipFill>
          <a:blip r:embed="rId9"/>
          <a:stretch>
            <a:fillRect/>
          </a:stretch>
        </p:blipFill>
        <p:spPr>
          <a:xfrm>
            <a:off x="789584" y="5398160"/>
            <a:ext cx="231343" cy="231343"/>
          </a:xfrm>
          <a:prstGeom prst="rect">
            <a:avLst/>
          </a:prstGeom>
        </p:spPr>
      </p:pic>
      <p:sp>
        <p:nvSpPr>
          <p:cNvPr id="26" name="Text 16"/>
          <p:cNvSpPr txBox="1"/>
          <p:nvPr/>
        </p:nvSpPr>
        <p:spPr>
          <a:xfrm>
            <a:off x="1280160" y="5184648"/>
            <a:ext cx="4251960" cy="658368"/>
          </a:xfrm>
          <a:prstGeom prst="rect">
            <a:avLst/>
          </a:prstGeom>
          <a:noFill/>
          <a:ln/>
        </p:spPr>
        <p:txBody>
          <a:bodyPr wrap="square" lIns="0" tIns="0" rIns="0" bIns="0" rtlCol="0" anchor="ctr"/>
          <a:lstStyle/>
          <a:p>
            <a:pPr algn="l" indent="0" marL="0">
              <a:buNone/>
            </a:pPr>
            <a:r>
              <a:rPr lang="en-US" sz="1350" b="1" dirty="0">
                <a:solidFill>
                  <a:srgbClr val="F4F8FC"/>
                </a:solidFill>
                <a:latin typeface="Calibri" pitchFamily="34" charset="0"/>
                <a:ea typeface="Calibri" pitchFamily="34" charset="-122"/>
                <a:cs typeface="Calibri" pitchFamily="34" charset="-120"/>
              </a:rPr>
              <a:t>Poor visibility</a:t>
            </a:r>
            <a:endParaRPr lang="en-US" sz="1350" dirty="0"/>
          </a:p>
        </p:txBody>
      </p:sp>
      <p:sp>
        <p:nvSpPr>
          <p:cNvPr id="27" name="Shape 17"/>
          <p:cNvSpPr/>
          <p:nvPr/>
        </p:nvSpPr>
        <p:spPr>
          <a:xfrm>
            <a:off x="6492240" y="2148840"/>
            <a:ext cx="5120640" cy="512064"/>
          </a:xfrm>
          <a:prstGeom prst="roundRect">
            <a:avLst>
              <a:gd name="adj" fmla="val 17857"/>
            </a:avLst>
          </a:prstGeom>
          <a:solidFill>
            <a:srgbClr val="0E6E66">
              <a:alpha val="30000"/>
            </a:srgbClr>
          </a:solidFill>
          <a:ln w="12700">
            <a:solidFill>
              <a:srgbClr val="4FE0D4"/>
            </a:solidFill>
            <a:prstDash val="solid"/>
          </a:ln>
          <a:effectLst>
            <a:outerShdw sx="100000" sy="100000" kx="0" ky="0" algn="bl" rotWithShape="0" blurRad="127000" dist="38100" dir="5400000">
              <a:srgbClr val="000000">
                <a:alpha val="45000"/>
              </a:srgbClr>
            </a:outerShdw>
          </a:effectLst>
        </p:spPr>
      </p:sp>
      <p:sp>
        <p:nvSpPr>
          <p:cNvPr id="28" name="Text 18"/>
          <p:cNvSpPr txBox="1"/>
          <p:nvPr/>
        </p:nvSpPr>
        <p:spPr>
          <a:xfrm>
            <a:off x="6492240" y="2148840"/>
            <a:ext cx="5120640" cy="512064"/>
          </a:xfrm>
          <a:prstGeom prst="rect">
            <a:avLst/>
          </a:prstGeom>
          <a:noFill/>
          <a:ln/>
        </p:spPr>
        <p:txBody>
          <a:bodyPr wrap="square" lIns="0" tIns="0" rIns="0" bIns="0" rtlCol="0" anchor="ctr"/>
          <a:lstStyle/>
          <a:p>
            <a:pPr algn="ctr" indent="0" marL="0">
              <a:buNone/>
            </a:pPr>
            <a:r>
              <a:rPr lang="en-US" sz="1500" b="1" spc="200" kern="0" dirty="0">
                <a:solidFill>
                  <a:srgbClr val="4FE0D4"/>
                </a:solidFill>
                <a:latin typeface="Cambria" pitchFamily="34" charset="0"/>
                <a:ea typeface="Cambria" pitchFamily="34" charset="-122"/>
                <a:cs typeface="Cambria" pitchFamily="34" charset="-120"/>
              </a:rPr>
              <a:t>AFTER</a:t>
            </a:r>
            <a:endParaRPr lang="en-US" sz="1500" dirty="0"/>
          </a:p>
        </p:txBody>
      </p:sp>
      <p:sp>
        <p:nvSpPr>
          <p:cNvPr id="29" name="Shape 19"/>
          <p:cNvSpPr/>
          <p:nvPr/>
        </p:nvSpPr>
        <p:spPr>
          <a:xfrm>
            <a:off x="6492240" y="2825496"/>
            <a:ext cx="5120640" cy="658368"/>
          </a:xfrm>
          <a:prstGeom prst="roundRect">
            <a:avLst>
              <a:gd name="adj" fmla="val 125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30" name="Shape 20"/>
          <p:cNvSpPr/>
          <p:nvPr/>
        </p:nvSpPr>
        <p:spPr>
          <a:xfrm>
            <a:off x="6615684" y="2921508"/>
            <a:ext cx="466344" cy="466344"/>
          </a:xfrm>
          <a:prstGeom prst="ellipse">
            <a:avLst/>
          </a:prstGeom>
          <a:solidFill>
            <a:srgbClr val="000000">
              <a:alpha val="25000"/>
            </a:srgbClr>
          </a:solidFill>
          <a:ln/>
        </p:spPr>
      </p:sp>
      <p:pic>
        <p:nvPicPr>
          <p:cNvPr id="31" name="Image 8" descr="preencoded.png">    </p:cNvPr>
          <p:cNvPicPr>
            <a:picLocks noChangeAspect="1"/>
          </p:cNvPicPr>
          <p:nvPr/>
        </p:nvPicPr>
        <p:blipFill>
          <a:blip r:embed="rId10"/>
          <a:stretch>
            <a:fillRect/>
          </a:stretch>
        </p:blipFill>
        <p:spPr>
          <a:xfrm>
            <a:off x="6638544" y="2944368"/>
            <a:ext cx="420624" cy="420624"/>
          </a:xfrm>
          <a:prstGeom prst="rect">
            <a:avLst/>
          </a:prstGeom>
        </p:spPr>
      </p:pic>
      <p:pic>
        <p:nvPicPr>
          <p:cNvPr id="32" name="Image 9" descr="preencoded.png">    </p:cNvPr>
          <p:cNvPicPr>
            <a:picLocks noChangeAspect="1"/>
          </p:cNvPicPr>
          <p:nvPr/>
        </p:nvPicPr>
        <p:blipFill>
          <a:blip r:embed="rId11"/>
          <a:stretch>
            <a:fillRect/>
          </a:stretch>
        </p:blipFill>
        <p:spPr>
          <a:xfrm>
            <a:off x="6733184" y="3039008"/>
            <a:ext cx="231343" cy="231343"/>
          </a:xfrm>
          <a:prstGeom prst="rect">
            <a:avLst/>
          </a:prstGeom>
        </p:spPr>
      </p:pic>
      <p:sp>
        <p:nvSpPr>
          <p:cNvPr id="33" name="Text 21"/>
          <p:cNvSpPr txBox="1"/>
          <p:nvPr/>
        </p:nvSpPr>
        <p:spPr>
          <a:xfrm>
            <a:off x="7223760" y="2825496"/>
            <a:ext cx="4251960" cy="658368"/>
          </a:xfrm>
          <a:prstGeom prst="rect">
            <a:avLst/>
          </a:prstGeom>
          <a:noFill/>
          <a:ln/>
        </p:spPr>
        <p:txBody>
          <a:bodyPr wrap="square" lIns="0" tIns="0" rIns="0" bIns="0" rtlCol="0" anchor="ctr"/>
          <a:lstStyle/>
          <a:p>
            <a:pPr algn="l" indent="0" marL="0">
              <a:buNone/>
            </a:pPr>
            <a:r>
              <a:rPr lang="en-US" sz="1350" b="1" dirty="0">
                <a:solidFill>
                  <a:srgbClr val="F4F8FC"/>
                </a:solidFill>
                <a:latin typeface="Calibri" pitchFamily="34" charset="0"/>
                <a:ea typeface="Calibri" pitchFamily="34" charset="-122"/>
                <a:cs typeface="Calibri" pitchFamily="34" charset="-120"/>
              </a:rPr>
              <a:t>Centralized database</a:t>
            </a:r>
            <a:endParaRPr lang="en-US" sz="1350" dirty="0"/>
          </a:p>
        </p:txBody>
      </p:sp>
      <p:sp>
        <p:nvSpPr>
          <p:cNvPr id="34" name="Shape 22"/>
          <p:cNvSpPr/>
          <p:nvPr/>
        </p:nvSpPr>
        <p:spPr>
          <a:xfrm>
            <a:off x="6492240" y="3611880"/>
            <a:ext cx="5120640" cy="658368"/>
          </a:xfrm>
          <a:prstGeom prst="roundRect">
            <a:avLst>
              <a:gd name="adj" fmla="val 125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35" name="Shape 23"/>
          <p:cNvSpPr/>
          <p:nvPr/>
        </p:nvSpPr>
        <p:spPr>
          <a:xfrm>
            <a:off x="6615684" y="3707892"/>
            <a:ext cx="466344" cy="466344"/>
          </a:xfrm>
          <a:prstGeom prst="ellipse">
            <a:avLst/>
          </a:prstGeom>
          <a:solidFill>
            <a:srgbClr val="000000">
              <a:alpha val="25000"/>
            </a:srgbClr>
          </a:solidFill>
          <a:ln/>
        </p:spPr>
      </p:sp>
      <p:pic>
        <p:nvPicPr>
          <p:cNvPr id="36" name="Image 10" descr="preencoded.png">    </p:cNvPr>
          <p:cNvPicPr>
            <a:picLocks noChangeAspect="1"/>
          </p:cNvPicPr>
          <p:nvPr/>
        </p:nvPicPr>
        <p:blipFill>
          <a:blip r:embed="rId12"/>
          <a:stretch>
            <a:fillRect/>
          </a:stretch>
        </p:blipFill>
        <p:spPr>
          <a:xfrm>
            <a:off x="6638544" y="3730752"/>
            <a:ext cx="420624" cy="420624"/>
          </a:xfrm>
          <a:prstGeom prst="rect">
            <a:avLst/>
          </a:prstGeom>
        </p:spPr>
      </p:pic>
      <p:pic>
        <p:nvPicPr>
          <p:cNvPr id="37" name="Image 11" descr="preencoded.png">    </p:cNvPr>
          <p:cNvPicPr>
            <a:picLocks noChangeAspect="1"/>
          </p:cNvPicPr>
          <p:nvPr/>
        </p:nvPicPr>
        <p:blipFill>
          <a:blip r:embed="rId13"/>
          <a:stretch>
            <a:fillRect/>
          </a:stretch>
        </p:blipFill>
        <p:spPr>
          <a:xfrm>
            <a:off x="6733184" y="3825392"/>
            <a:ext cx="231343" cy="231343"/>
          </a:xfrm>
          <a:prstGeom prst="rect">
            <a:avLst/>
          </a:prstGeom>
        </p:spPr>
      </p:pic>
      <p:sp>
        <p:nvSpPr>
          <p:cNvPr id="38" name="Text 24"/>
          <p:cNvSpPr txBox="1"/>
          <p:nvPr/>
        </p:nvSpPr>
        <p:spPr>
          <a:xfrm>
            <a:off x="7223760" y="3611880"/>
            <a:ext cx="4251960" cy="658368"/>
          </a:xfrm>
          <a:prstGeom prst="rect">
            <a:avLst/>
          </a:prstGeom>
          <a:noFill/>
          <a:ln/>
        </p:spPr>
        <p:txBody>
          <a:bodyPr wrap="square" lIns="0" tIns="0" rIns="0" bIns="0" rtlCol="0" anchor="ctr"/>
          <a:lstStyle/>
          <a:p>
            <a:pPr algn="l" indent="0" marL="0">
              <a:buNone/>
            </a:pPr>
            <a:r>
              <a:rPr lang="en-US" sz="1350" b="1" dirty="0">
                <a:solidFill>
                  <a:srgbClr val="F4F8FC"/>
                </a:solidFill>
                <a:latin typeface="Calibri" pitchFamily="34" charset="0"/>
                <a:ea typeface="Calibri" pitchFamily="34" charset="-122"/>
                <a:cs typeface="Calibri" pitchFamily="34" charset="-120"/>
              </a:rPr>
              <a:t>Connected entities</a:t>
            </a:r>
            <a:endParaRPr lang="en-US" sz="1350" dirty="0"/>
          </a:p>
        </p:txBody>
      </p:sp>
      <p:sp>
        <p:nvSpPr>
          <p:cNvPr id="39" name="Shape 25"/>
          <p:cNvSpPr/>
          <p:nvPr/>
        </p:nvSpPr>
        <p:spPr>
          <a:xfrm>
            <a:off x="6492240" y="4398264"/>
            <a:ext cx="5120640" cy="658368"/>
          </a:xfrm>
          <a:prstGeom prst="roundRect">
            <a:avLst>
              <a:gd name="adj" fmla="val 125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40" name="Shape 26"/>
          <p:cNvSpPr/>
          <p:nvPr/>
        </p:nvSpPr>
        <p:spPr>
          <a:xfrm>
            <a:off x="6615684" y="4494276"/>
            <a:ext cx="466344" cy="466344"/>
          </a:xfrm>
          <a:prstGeom prst="ellipse">
            <a:avLst/>
          </a:prstGeom>
          <a:solidFill>
            <a:srgbClr val="000000">
              <a:alpha val="25000"/>
            </a:srgbClr>
          </a:solidFill>
          <a:ln/>
        </p:spPr>
      </p:sp>
      <p:pic>
        <p:nvPicPr>
          <p:cNvPr id="41" name="Image 12" descr="preencoded.png">    </p:cNvPr>
          <p:cNvPicPr>
            <a:picLocks noChangeAspect="1"/>
          </p:cNvPicPr>
          <p:nvPr/>
        </p:nvPicPr>
        <p:blipFill>
          <a:blip r:embed="rId14"/>
          <a:stretch>
            <a:fillRect/>
          </a:stretch>
        </p:blipFill>
        <p:spPr>
          <a:xfrm>
            <a:off x="6638544" y="4517136"/>
            <a:ext cx="420624" cy="420624"/>
          </a:xfrm>
          <a:prstGeom prst="rect">
            <a:avLst/>
          </a:prstGeom>
        </p:spPr>
      </p:pic>
      <p:pic>
        <p:nvPicPr>
          <p:cNvPr id="42" name="Image 13" descr="preencoded.png">    </p:cNvPr>
          <p:cNvPicPr>
            <a:picLocks noChangeAspect="1"/>
          </p:cNvPicPr>
          <p:nvPr/>
        </p:nvPicPr>
        <p:blipFill>
          <a:blip r:embed="rId15"/>
          <a:stretch>
            <a:fillRect/>
          </a:stretch>
        </p:blipFill>
        <p:spPr>
          <a:xfrm>
            <a:off x="6733184" y="4611776"/>
            <a:ext cx="231343" cy="231343"/>
          </a:xfrm>
          <a:prstGeom prst="rect">
            <a:avLst/>
          </a:prstGeom>
        </p:spPr>
      </p:pic>
      <p:sp>
        <p:nvSpPr>
          <p:cNvPr id="43" name="Text 27"/>
          <p:cNvSpPr txBox="1"/>
          <p:nvPr/>
        </p:nvSpPr>
        <p:spPr>
          <a:xfrm>
            <a:off x="7223760" y="4398264"/>
            <a:ext cx="4251960" cy="658368"/>
          </a:xfrm>
          <a:prstGeom prst="rect">
            <a:avLst/>
          </a:prstGeom>
          <a:noFill/>
          <a:ln/>
        </p:spPr>
        <p:txBody>
          <a:bodyPr wrap="square" lIns="0" tIns="0" rIns="0" bIns="0" rtlCol="0" anchor="ctr"/>
          <a:lstStyle/>
          <a:p>
            <a:pPr algn="l" indent="0" marL="0">
              <a:buNone/>
            </a:pPr>
            <a:r>
              <a:rPr lang="en-US" sz="1350" b="1" dirty="0">
                <a:solidFill>
                  <a:srgbClr val="F4F8FC"/>
                </a:solidFill>
                <a:latin typeface="Calibri" pitchFamily="34" charset="0"/>
                <a:ea typeface="Calibri" pitchFamily="34" charset="-122"/>
                <a:cs typeface="Calibri" pitchFamily="34" charset="-120"/>
              </a:rPr>
              <a:t>Live UI</a:t>
            </a:r>
            <a:endParaRPr lang="en-US" sz="1350" dirty="0"/>
          </a:p>
        </p:txBody>
      </p:sp>
      <p:sp>
        <p:nvSpPr>
          <p:cNvPr id="44" name="Shape 28"/>
          <p:cNvSpPr/>
          <p:nvPr/>
        </p:nvSpPr>
        <p:spPr>
          <a:xfrm>
            <a:off x="6492240" y="5184648"/>
            <a:ext cx="5120640" cy="658368"/>
          </a:xfrm>
          <a:prstGeom prst="roundRect">
            <a:avLst>
              <a:gd name="adj" fmla="val 125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45" name="Shape 29"/>
          <p:cNvSpPr/>
          <p:nvPr/>
        </p:nvSpPr>
        <p:spPr>
          <a:xfrm>
            <a:off x="6615684" y="5280660"/>
            <a:ext cx="466344" cy="466344"/>
          </a:xfrm>
          <a:prstGeom prst="ellipse">
            <a:avLst/>
          </a:prstGeom>
          <a:solidFill>
            <a:srgbClr val="000000">
              <a:alpha val="25000"/>
            </a:srgbClr>
          </a:solidFill>
          <a:ln/>
        </p:spPr>
      </p:sp>
      <p:pic>
        <p:nvPicPr>
          <p:cNvPr id="46" name="Image 14" descr="preencoded.png">    </p:cNvPr>
          <p:cNvPicPr>
            <a:picLocks noChangeAspect="1"/>
          </p:cNvPicPr>
          <p:nvPr/>
        </p:nvPicPr>
        <p:blipFill>
          <a:blip r:embed="rId16"/>
          <a:stretch>
            <a:fillRect/>
          </a:stretch>
        </p:blipFill>
        <p:spPr>
          <a:xfrm>
            <a:off x="6638544" y="5303520"/>
            <a:ext cx="420624" cy="420624"/>
          </a:xfrm>
          <a:prstGeom prst="rect">
            <a:avLst/>
          </a:prstGeom>
        </p:spPr>
      </p:pic>
      <p:pic>
        <p:nvPicPr>
          <p:cNvPr id="47" name="Image 15" descr="preencoded.png">    </p:cNvPr>
          <p:cNvPicPr>
            <a:picLocks noChangeAspect="1"/>
          </p:cNvPicPr>
          <p:nvPr/>
        </p:nvPicPr>
        <p:blipFill>
          <a:blip r:embed="rId17"/>
          <a:stretch>
            <a:fillRect/>
          </a:stretch>
        </p:blipFill>
        <p:spPr>
          <a:xfrm>
            <a:off x="6733184" y="5398160"/>
            <a:ext cx="231343" cy="231343"/>
          </a:xfrm>
          <a:prstGeom prst="rect">
            <a:avLst/>
          </a:prstGeom>
        </p:spPr>
      </p:pic>
      <p:sp>
        <p:nvSpPr>
          <p:cNvPr id="48" name="Text 30"/>
          <p:cNvSpPr txBox="1"/>
          <p:nvPr/>
        </p:nvSpPr>
        <p:spPr>
          <a:xfrm>
            <a:off x="7223760" y="5184648"/>
            <a:ext cx="4251960" cy="658368"/>
          </a:xfrm>
          <a:prstGeom prst="rect">
            <a:avLst/>
          </a:prstGeom>
          <a:noFill/>
          <a:ln/>
        </p:spPr>
        <p:txBody>
          <a:bodyPr wrap="square" lIns="0" tIns="0" rIns="0" bIns="0" rtlCol="0" anchor="ctr"/>
          <a:lstStyle/>
          <a:p>
            <a:pPr algn="l" indent="0" marL="0">
              <a:buNone/>
            </a:pPr>
            <a:r>
              <a:rPr lang="en-US" sz="1350" b="1" dirty="0">
                <a:solidFill>
                  <a:srgbClr val="F4F8FC"/>
                </a:solidFill>
                <a:latin typeface="Calibri" pitchFamily="34" charset="0"/>
                <a:ea typeface="Calibri" pitchFamily="34" charset="-122"/>
                <a:cs typeface="Calibri" pitchFamily="34" charset="-120"/>
              </a:rPr>
              <a:t>Instant updates</a:t>
            </a:r>
            <a:endParaRPr lang="en-US" sz="1350" dirty="0"/>
          </a:p>
        </p:txBody>
      </p:sp>
      <p:sp>
        <p:nvSpPr>
          <p:cNvPr id="49" name="Shape 31"/>
          <p:cNvSpPr/>
          <p:nvPr/>
        </p:nvSpPr>
        <p:spPr>
          <a:xfrm>
            <a:off x="5715000" y="3520440"/>
            <a:ext cx="685800" cy="0"/>
          </a:xfrm>
          <a:prstGeom prst="line">
            <a:avLst/>
          </a:prstGeom>
          <a:noFill/>
          <a:ln w="31750">
            <a:solidFill>
              <a:srgbClr val="4C9BFF"/>
            </a:solidFill>
            <a:prstDash val="solid"/>
            <a:tailEnd type="triangle"/>
          </a:ln>
        </p:spPr>
      </p:sp>
      <p:sp>
        <p:nvSpPr>
          <p:cNvPr id="50" name="Text 32"/>
          <p:cNvSpPr txBox="1"/>
          <p:nvPr/>
        </p:nvSpPr>
        <p:spPr>
          <a:xfrm>
            <a:off x="548640" y="5989320"/>
            <a:ext cx="11064240" cy="457200"/>
          </a:xfrm>
          <a:prstGeom prst="rect">
            <a:avLst/>
          </a:prstGeom>
          <a:noFill/>
          <a:ln/>
        </p:spPr>
        <p:txBody>
          <a:bodyPr wrap="square" lIns="0" tIns="0" rIns="0" bIns="0" rtlCol="0" anchor="ctr"/>
          <a:lstStyle/>
          <a:p>
            <a:pPr indent="0" marL="0">
              <a:lnSpc>
                <a:spcPct val="115000"/>
              </a:lnSpc>
              <a:buNone/>
            </a:pPr>
            <a:r>
              <a:rPr lang="en-US" sz="1250" b="1" dirty="0">
                <a:solidFill>
                  <a:srgbClr val="4C9BFF"/>
                </a:solidFill>
                <a:latin typeface="Calibri" pitchFamily="34" charset="0"/>
                <a:ea typeface="Calibri" pitchFamily="34" charset="-122"/>
                <a:cs typeface="Calibri" pitchFamily="34" charset="-120"/>
              </a:rPr>
              <a:t>Objective:  </a:t>
            </a:r>
            <a:pPr indent="0" marL="0">
              <a:lnSpc>
                <a:spcPct val="115000"/>
              </a:lnSpc>
              <a:buNone/>
            </a:pPr>
            <a:r>
              <a:rPr lang="en-US" sz="1250" dirty="0">
                <a:solidFill>
                  <a:srgbClr val="93A5C2"/>
                </a:solidFill>
                <a:latin typeface="Calibri" pitchFamily="34" charset="0"/>
                <a:ea typeface="Calibri" pitchFamily="34" charset="-122"/>
                <a:cs typeface="Calibri" pitchFamily="34" charset="-120"/>
              </a:rPr>
              <a:t>Build a centralized relational database and web interface that allows transport information to be viewed and managed efficiently.</a:t>
            </a:r>
            <a:endParaRPr lang="en-US" sz="1250" dirty="0"/>
          </a:p>
        </p:txBody>
      </p:sp>
      <p:sp>
        <p:nvSpPr>
          <p:cNvPr id="51" name="Text 33"/>
          <p:cNvSpPr txBox="1"/>
          <p:nvPr/>
        </p:nvSpPr>
        <p:spPr>
          <a:xfrm>
            <a:off x="548640" y="6528816"/>
            <a:ext cx="8229600" cy="237744"/>
          </a:xfrm>
          <a:prstGeom prst="rect">
            <a:avLst/>
          </a:prstGeom>
          <a:noFill/>
          <a:ln/>
        </p:spPr>
        <p:txBody>
          <a:bodyPr wrap="square" lIns="0" tIns="0" rIns="0" bIns="0" rtlCol="0" anchor="ctr"/>
          <a:lstStyle/>
          <a:p>
            <a:pPr algn="l" indent="0" marL="0">
              <a:buNone/>
            </a:pPr>
            <a:r>
              <a:rPr lang="en-US" sz="800" dirty="0">
                <a:solidFill>
                  <a:srgbClr val="56688A"/>
                </a:solidFill>
                <a:latin typeface="Calibri" pitchFamily="34" charset="0"/>
                <a:ea typeface="Calibri" pitchFamily="34" charset="-122"/>
                <a:cs typeface="Calibri" pitchFamily="34" charset="-120"/>
              </a:rPr>
              <a:t>School Transport Route &amp; Student Pickup Management System — Presentation III</a:t>
            </a:r>
            <a:endParaRPr lang="en-US" sz="800" dirty="0"/>
          </a:p>
        </p:txBody>
      </p:sp>
      <p:sp>
        <p:nvSpPr>
          <p:cNvPr id="52" name="Text 34"/>
          <p:cNvSpPr txBox="1"/>
          <p:nvPr/>
        </p:nvSpPr>
        <p:spPr>
          <a:xfrm>
            <a:off x="11185855" y="6528816"/>
            <a:ext cx="457200" cy="237744"/>
          </a:xfrm>
          <a:prstGeom prst="rect">
            <a:avLst/>
          </a:prstGeom>
          <a:noFill/>
          <a:ln/>
        </p:spPr>
        <p:txBody>
          <a:bodyPr wrap="square" lIns="0" tIns="0" rIns="0" bIns="0" rtlCol="0" anchor="ctr"/>
          <a:lstStyle/>
          <a:p>
            <a:pPr algn="r" indent="0" marL="0">
              <a:buNone/>
            </a:pPr>
            <a:r>
              <a:rPr lang="en-US" sz="800" dirty="0">
                <a:solidFill>
                  <a:srgbClr val="56688A"/>
                </a:solidFill>
                <a:latin typeface="Calibri" pitchFamily="34" charset="0"/>
                <a:ea typeface="Calibri" pitchFamily="34" charset="-122"/>
                <a:cs typeface="Calibri" pitchFamily="34" charset="-120"/>
              </a:rPr>
              <a:t>2 / 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algn="l" indent="0" marL="0">
              <a:buNone/>
            </a:pPr>
            <a:r>
              <a:rPr lang="en-US" sz="1100" b="1" spc="220" kern="0" dirty="0">
                <a:solidFill>
                  <a:srgbClr val="4C9BFF"/>
                </a:solidFill>
                <a:latin typeface="Calibri" pitchFamily="34" charset="0"/>
                <a:ea typeface="Calibri" pitchFamily="34" charset="-122"/>
                <a:cs typeface="Calibri" pitchFamily="34" charset="-120"/>
              </a:rPr>
              <a:t>SYSTEM ARCHITECTURE</a:t>
            </a:r>
            <a:endParaRPr lang="en-US" sz="1100" dirty="0"/>
          </a:p>
        </p:txBody>
      </p:sp>
      <p:sp>
        <p:nvSpPr>
          <p:cNvPr id="3" name="Text 1"/>
          <p:cNvSpPr txBox="1"/>
          <p:nvPr/>
        </p:nvSpPr>
        <p:spPr>
          <a:xfrm>
            <a:off x="548640" y="658368"/>
            <a:ext cx="10515600" cy="594360"/>
          </a:xfrm>
          <a:prstGeom prst="rect">
            <a:avLst/>
          </a:prstGeom>
          <a:noFill/>
          <a:ln/>
        </p:spPr>
        <p:txBody>
          <a:bodyPr wrap="square" lIns="0" tIns="0" rIns="0" bIns="0" rtlCol="0" anchor="ctr"/>
          <a:lstStyle/>
          <a:p>
            <a:pPr algn="l" indent="0" marL="0">
              <a:buNone/>
            </a:pPr>
            <a:r>
              <a:rPr lang="en-US" sz="2700" b="1" dirty="0">
                <a:solidFill>
                  <a:srgbClr val="F4F8FC"/>
                </a:solidFill>
                <a:latin typeface="Cambria" pitchFamily="34" charset="0"/>
                <a:ea typeface="Cambria" pitchFamily="34" charset="-122"/>
                <a:cs typeface="Cambria" pitchFamily="34" charset="-120"/>
              </a:rPr>
              <a:t>How the System Works</a:t>
            </a:r>
            <a:endParaRPr lang="en-US" sz="2700" dirty="0"/>
          </a:p>
        </p:txBody>
      </p:sp>
      <p:sp>
        <p:nvSpPr>
          <p:cNvPr id="4" name="Shape 2"/>
          <p:cNvSpPr/>
          <p:nvPr/>
        </p:nvSpPr>
        <p:spPr>
          <a:xfrm>
            <a:off x="9448495" y="457200"/>
            <a:ext cx="2194560" cy="310896"/>
          </a:xfrm>
          <a:prstGeom prst="roundRect">
            <a:avLst>
              <a:gd name="adj" fmla="val 50000"/>
            </a:avLst>
          </a:prstGeom>
          <a:solidFill>
            <a:srgbClr val="4FE0D4">
              <a:alpha val="18000"/>
            </a:srgbClr>
          </a:solidFill>
          <a:ln w="12700">
            <a:solidFill>
              <a:srgbClr val="4FE0D4"/>
            </a:solidFill>
            <a:prstDash val="solid"/>
          </a:ln>
        </p:spPr>
      </p:sp>
      <p:sp>
        <p:nvSpPr>
          <p:cNvPr id="5" name="Text 3"/>
          <p:cNvSpPr txBox="1"/>
          <p:nvPr/>
        </p:nvSpPr>
        <p:spPr>
          <a:xfrm>
            <a:off x="9448495" y="457200"/>
            <a:ext cx="2194560" cy="310896"/>
          </a:xfrm>
          <a:prstGeom prst="rect">
            <a:avLst/>
          </a:prstGeom>
          <a:noFill/>
          <a:ln/>
        </p:spPr>
        <p:txBody>
          <a:bodyPr wrap="square" lIns="0" tIns="0" rIns="0" bIns="0" rtlCol="0" anchor="ctr"/>
          <a:lstStyle/>
          <a:p>
            <a:pPr algn="ctr" indent="0" marL="0">
              <a:buNone/>
            </a:pPr>
            <a:r>
              <a:rPr lang="en-US" sz="950" b="1" spc="100" kern="0" dirty="0">
                <a:solidFill>
                  <a:srgbClr val="4FE0D4"/>
                </a:solidFill>
                <a:latin typeface="Calibri" pitchFamily="34" charset="0"/>
                <a:ea typeface="Calibri" pitchFamily="34" charset="-122"/>
                <a:cs typeface="Calibri" pitchFamily="34" charset="-120"/>
              </a:rPr>
              <a:t>LIVE MYSQL CONNECTION</a:t>
            </a:r>
            <a:endParaRPr lang="en-US" sz="950" dirty="0"/>
          </a:p>
        </p:txBody>
      </p:sp>
      <p:sp>
        <p:nvSpPr>
          <p:cNvPr id="6" name="Shape 4"/>
          <p:cNvSpPr/>
          <p:nvPr/>
        </p:nvSpPr>
        <p:spPr>
          <a:xfrm>
            <a:off x="685800" y="1554480"/>
            <a:ext cx="1828800" cy="1234440"/>
          </a:xfrm>
          <a:prstGeom prst="roundRect">
            <a:avLst>
              <a:gd name="adj" fmla="val 8889"/>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7" name="Shape 5"/>
          <p:cNvSpPr/>
          <p:nvPr/>
        </p:nvSpPr>
        <p:spPr>
          <a:xfrm>
            <a:off x="1284732" y="1696212"/>
            <a:ext cx="630936" cy="630936"/>
          </a:xfrm>
          <a:prstGeom prst="ellipse">
            <a:avLst/>
          </a:prstGeom>
          <a:solidFill>
            <a:srgbClr val="000000">
              <a:alpha val="25000"/>
            </a:srgbClr>
          </a:solidFill>
          <a:ln/>
        </p:spPr>
      </p:sp>
      <p:pic>
        <p:nvPicPr>
          <p:cNvPr id="8" name="Image 0" descr="preencoded.png">    </p:cNvPr>
          <p:cNvPicPr>
            <a:picLocks noChangeAspect="1"/>
          </p:cNvPicPr>
          <p:nvPr/>
        </p:nvPicPr>
        <p:blipFill>
          <a:blip r:embed="rId2"/>
          <a:stretch>
            <a:fillRect/>
          </a:stretch>
        </p:blipFill>
        <p:spPr>
          <a:xfrm>
            <a:off x="1307592" y="1719072"/>
            <a:ext cx="585216" cy="585216"/>
          </a:xfrm>
          <a:prstGeom prst="rect">
            <a:avLst/>
          </a:prstGeom>
        </p:spPr>
      </p:pic>
      <p:pic>
        <p:nvPicPr>
          <p:cNvPr id="9" name="Image 1" descr="preencoded.png">    </p:cNvPr>
          <p:cNvPicPr>
            <a:picLocks noChangeAspect="1"/>
          </p:cNvPicPr>
          <p:nvPr/>
        </p:nvPicPr>
        <p:blipFill>
          <a:blip r:embed="rId3"/>
          <a:stretch>
            <a:fillRect/>
          </a:stretch>
        </p:blipFill>
        <p:spPr>
          <a:xfrm>
            <a:off x="1453896" y="1865376"/>
            <a:ext cx="292608" cy="292608"/>
          </a:xfrm>
          <a:prstGeom prst="rect">
            <a:avLst/>
          </a:prstGeom>
        </p:spPr>
      </p:pic>
      <p:sp>
        <p:nvSpPr>
          <p:cNvPr id="10" name="Text 6"/>
          <p:cNvSpPr txBox="1"/>
          <p:nvPr/>
        </p:nvSpPr>
        <p:spPr>
          <a:xfrm>
            <a:off x="731520" y="2395728"/>
            <a:ext cx="1737360" cy="365760"/>
          </a:xfrm>
          <a:prstGeom prst="rect">
            <a:avLst/>
          </a:prstGeom>
          <a:noFill/>
          <a:ln/>
        </p:spPr>
        <p:txBody>
          <a:bodyPr wrap="square" lIns="0" tIns="0" rIns="0" bIns="0" rtlCol="0" anchor="t"/>
          <a:lstStyle/>
          <a:p>
            <a:pPr algn="ctr" indent="0" marL="0">
              <a:lnSpc>
                <a:spcPct val="105000"/>
              </a:lnSpc>
              <a:buNone/>
            </a:pPr>
            <a:r>
              <a:rPr lang="en-US" sz="1000" b="1" dirty="0">
                <a:solidFill>
                  <a:srgbClr val="F4F8FC"/>
                </a:solidFill>
                <a:latin typeface="Calibri" pitchFamily="34" charset="0"/>
                <a:ea typeface="Calibri" pitchFamily="34" charset="-122"/>
                <a:cs typeface="Calibri" pitchFamily="34" charset="-120"/>
              </a:rPr>
              <a:t>USER</a:t>
            </a:r>
            <a:endParaRPr lang="en-US" sz="1000" dirty="0"/>
          </a:p>
        </p:txBody>
      </p:sp>
      <p:sp>
        <p:nvSpPr>
          <p:cNvPr id="11" name="Shape 7"/>
          <p:cNvSpPr/>
          <p:nvPr/>
        </p:nvSpPr>
        <p:spPr>
          <a:xfrm>
            <a:off x="2514600" y="2171700"/>
            <a:ext cx="419024" cy="0"/>
          </a:xfrm>
          <a:prstGeom prst="line">
            <a:avLst/>
          </a:prstGeom>
          <a:noFill/>
          <a:ln w="25400">
            <a:solidFill>
              <a:srgbClr val="4FE0D4"/>
            </a:solidFill>
            <a:prstDash val="solid"/>
            <a:tailEnd type="triangle"/>
          </a:ln>
        </p:spPr>
      </p:sp>
      <p:sp>
        <p:nvSpPr>
          <p:cNvPr id="12" name="Shape 8"/>
          <p:cNvSpPr/>
          <p:nvPr/>
        </p:nvSpPr>
        <p:spPr>
          <a:xfrm>
            <a:off x="2933624" y="1554480"/>
            <a:ext cx="1828800" cy="1234440"/>
          </a:xfrm>
          <a:prstGeom prst="roundRect">
            <a:avLst>
              <a:gd name="adj" fmla="val 8889"/>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3" name="Shape 9"/>
          <p:cNvSpPr/>
          <p:nvPr/>
        </p:nvSpPr>
        <p:spPr>
          <a:xfrm>
            <a:off x="3532556" y="1696212"/>
            <a:ext cx="630936" cy="630936"/>
          </a:xfrm>
          <a:prstGeom prst="ellipse">
            <a:avLst/>
          </a:prstGeom>
          <a:solidFill>
            <a:srgbClr val="000000">
              <a:alpha val="25000"/>
            </a:srgbClr>
          </a:solidFill>
          <a:ln/>
        </p:spPr>
      </p:sp>
      <p:pic>
        <p:nvPicPr>
          <p:cNvPr id="14" name="Image 2" descr="preencoded.png">    </p:cNvPr>
          <p:cNvPicPr>
            <a:picLocks noChangeAspect="1"/>
          </p:cNvPicPr>
          <p:nvPr/>
        </p:nvPicPr>
        <p:blipFill>
          <a:blip r:embed="rId4"/>
          <a:stretch>
            <a:fillRect/>
          </a:stretch>
        </p:blipFill>
        <p:spPr>
          <a:xfrm>
            <a:off x="3555416" y="1719072"/>
            <a:ext cx="585216" cy="585216"/>
          </a:xfrm>
          <a:prstGeom prst="rect">
            <a:avLst/>
          </a:prstGeom>
        </p:spPr>
      </p:pic>
      <p:pic>
        <p:nvPicPr>
          <p:cNvPr id="15" name="Image 3" descr="preencoded.png">    </p:cNvPr>
          <p:cNvPicPr>
            <a:picLocks noChangeAspect="1"/>
          </p:cNvPicPr>
          <p:nvPr/>
        </p:nvPicPr>
        <p:blipFill>
          <a:blip r:embed="rId5"/>
          <a:stretch>
            <a:fillRect/>
          </a:stretch>
        </p:blipFill>
        <p:spPr>
          <a:xfrm>
            <a:off x="3701720" y="1865376"/>
            <a:ext cx="292608" cy="292608"/>
          </a:xfrm>
          <a:prstGeom prst="rect">
            <a:avLst/>
          </a:prstGeom>
        </p:spPr>
      </p:pic>
      <p:sp>
        <p:nvSpPr>
          <p:cNvPr id="16" name="Text 10"/>
          <p:cNvSpPr txBox="1"/>
          <p:nvPr/>
        </p:nvSpPr>
        <p:spPr>
          <a:xfrm>
            <a:off x="2979344" y="2395728"/>
            <a:ext cx="1737360" cy="365760"/>
          </a:xfrm>
          <a:prstGeom prst="rect">
            <a:avLst/>
          </a:prstGeom>
          <a:noFill/>
          <a:ln/>
        </p:spPr>
        <p:txBody>
          <a:bodyPr wrap="square" lIns="0" tIns="0" rIns="0" bIns="0" rtlCol="0" anchor="t"/>
          <a:lstStyle/>
          <a:p>
            <a:pPr algn="ctr" indent="0" marL="0">
              <a:lnSpc>
                <a:spcPct val="105000"/>
              </a:lnSpc>
              <a:buNone/>
            </a:pPr>
            <a:r>
              <a:rPr lang="en-US" sz="1000" b="1" dirty="0">
                <a:solidFill>
                  <a:srgbClr val="F4F8FC"/>
                </a:solidFill>
                <a:latin typeface="Calibri" pitchFamily="34" charset="0"/>
                <a:ea typeface="Calibri" pitchFamily="34" charset="-122"/>
                <a:cs typeface="Calibri" pitchFamily="34" charset="-120"/>
              </a:rPr>
              <a:t>REACT + VITE</a:t>
            </a:r>
            <a:endParaRPr lang="en-US" sz="1000" dirty="0"/>
          </a:p>
          <a:p>
            <a:pPr algn="ctr" indent="0" marL="0">
              <a:lnSpc>
                <a:spcPct val="105000"/>
              </a:lnSpc>
              <a:buNone/>
            </a:pPr>
            <a:r>
              <a:rPr lang="en-US" sz="1000" b="1" dirty="0">
                <a:solidFill>
                  <a:srgbClr val="F4F8FC"/>
                </a:solidFill>
                <a:latin typeface="Calibri" pitchFamily="34" charset="0"/>
                <a:ea typeface="Calibri" pitchFamily="34" charset="-122"/>
                <a:cs typeface="Calibri" pitchFamily="34" charset="-120"/>
              </a:rPr>
              <a:t>FRONTEND</a:t>
            </a:r>
            <a:endParaRPr lang="en-US" sz="1000" dirty="0"/>
          </a:p>
        </p:txBody>
      </p:sp>
      <p:sp>
        <p:nvSpPr>
          <p:cNvPr id="17" name="Shape 11"/>
          <p:cNvSpPr/>
          <p:nvPr/>
        </p:nvSpPr>
        <p:spPr>
          <a:xfrm>
            <a:off x="4762424" y="2171700"/>
            <a:ext cx="419024" cy="0"/>
          </a:xfrm>
          <a:prstGeom prst="line">
            <a:avLst/>
          </a:prstGeom>
          <a:noFill/>
          <a:ln w="25400">
            <a:solidFill>
              <a:srgbClr val="4FE0D4"/>
            </a:solidFill>
            <a:prstDash val="solid"/>
            <a:tailEnd type="triangle"/>
          </a:ln>
        </p:spPr>
      </p:sp>
      <p:sp>
        <p:nvSpPr>
          <p:cNvPr id="18" name="Shape 12"/>
          <p:cNvSpPr/>
          <p:nvPr/>
        </p:nvSpPr>
        <p:spPr>
          <a:xfrm>
            <a:off x="5181448" y="1554480"/>
            <a:ext cx="1828800" cy="1234440"/>
          </a:xfrm>
          <a:prstGeom prst="roundRect">
            <a:avLst>
              <a:gd name="adj" fmla="val 8889"/>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9" name="Shape 13"/>
          <p:cNvSpPr/>
          <p:nvPr/>
        </p:nvSpPr>
        <p:spPr>
          <a:xfrm>
            <a:off x="5780380" y="1696212"/>
            <a:ext cx="630936" cy="630936"/>
          </a:xfrm>
          <a:prstGeom prst="ellipse">
            <a:avLst/>
          </a:prstGeom>
          <a:solidFill>
            <a:srgbClr val="000000">
              <a:alpha val="25000"/>
            </a:srgbClr>
          </a:solidFill>
          <a:ln/>
        </p:spPr>
      </p:sp>
      <p:pic>
        <p:nvPicPr>
          <p:cNvPr id="20" name="Image 4" descr="preencoded.png">    </p:cNvPr>
          <p:cNvPicPr>
            <a:picLocks noChangeAspect="1"/>
          </p:cNvPicPr>
          <p:nvPr/>
        </p:nvPicPr>
        <p:blipFill>
          <a:blip r:embed="rId6"/>
          <a:stretch>
            <a:fillRect/>
          </a:stretch>
        </p:blipFill>
        <p:spPr>
          <a:xfrm>
            <a:off x="5803240" y="1719072"/>
            <a:ext cx="585216" cy="585216"/>
          </a:xfrm>
          <a:prstGeom prst="rect">
            <a:avLst/>
          </a:prstGeom>
        </p:spPr>
      </p:pic>
      <p:pic>
        <p:nvPicPr>
          <p:cNvPr id="21" name="Image 5" descr="preencoded.png">    </p:cNvPr>
          <p:cNvPicPr>
            <a:picLocks noChangeAspect="1"/>
          </p:cNvPicPr>
          <p:nvPr/>
        </p:nvPicPr>
        <p:blipFill>
          <a:blip r:embed="rId7"/>
          <a:stretch>
            <a:fillRect/>
          </a:stretch>
        </p:blipFill>
        <p:spPr>
          <a:xfrm>
            <a:off x="5949544" y="1865376"/>
            <a:ext cx="292608" cy="292608"/>
          </a:xfrm>
          <a:prstGeom prst="rect">
            <a:avLst/>
          </a:prstGeom>
        </p:spPr>
      </p:pic>
      <p:sp>
        <p:nvSpPr>
          <p:cNvPr id="22" name="Text 14"/>
          <p:cNvSpPr txBox="1"/>
          <p:nvPr/>
        </p:nvSpPr>
        <p:spPr>
          <a:xfrm>
            <a:off x="5227168" y="2395728"/>
            <a:ext cx="1737360" cy="365760"/>
          </a:xfrm>
          <a:prstGeom prst="rect">
            <a:avLst/>
          </a:prstGeom>
          <a:noFill/>
          <a:ln/>
        </p:spPr>
        <p:txBody>
          <a:bodyPr wrap="square" lIns="0" tIns="0" rIns="0" bIns="0" rtlCol="0" anchor="t"/>
          <a:lstStyle/>
          <a:p>
            <a:pPr algn="ctr" indent="0" marL="0">
              <a:lnSpc>
                <a:spcPct val="105000"/>
              </a:lnSpc>
              <a:buNone/>
            </a:pPr>
            <a:r>
              <a:rPr lang="en-US" sz="1000" b="1" dirty="0">
                <a:solidFill>
                  <a:srgbClr val="F4F8FC"/>
                </a:solidFill>
                <a:latin typeface="Calibri" pitchFamily="34" charset="0"/>
                <a:ea typeface="Calibri" pitchFamily="34" charset="-122"/>
                <a:cs typeface="Calibri" pitchFamily="34" charset="-120"/>
              </a:rPr>
              <a:t>NODE.JS + EXPRESS</a:t>
            </a:r>
            <a:endParaRPr lang="en-US" sz="1000" dirty="0"/>
          </a:p>
          <a:p>
            <a:pPr algn="ctr" indent="0" marL="0">
              <a:lnSpc>
                <a:spcPct val="105000"/>
              </a:lnSpc>
              <a:buNone/>
            </a:pPr>
            <a:r>
              <a:rPr lang="en-US" sz="1000" b="1" dirty="0">
                <a:solidFill>
                  <a:srgbClr val="F4F8FC"/>
                </a:solidFill>
                <a:latin typeface="Calibri" pitchFamily="34" charset="0"/>
                <a:ea typeface="Calibri" pitchFamily="34" charset="-122"/>
                <a:cs typeface="Calibri" pitchFamily="34" charset="-120"/>
              </a:rPr>
              <a:t>API</a:t>
            </a:r>
            <a:endParaRPr lang="en-US" sz="1000" dirty="0"/>
          </a:p>
        </p:txBody>
      </p:sp>
      <p:sp>
        <p:nvSpPr>
          <p:cNvPr id="23" name="Shape 15"/>
          <p:cNvSpPr/>
          <p:nvPr/>
        </p:nvSpPr>
        <p:spPr>
          <a:xfrm>
            <a:off x="7010248" y="2171700"/>
            <a:ext cx="419024" cy="0"/>
          </a:xfrm>
          <a:prstGeom prst="line">
            <a:avLst/>
          </a:prstGeom>
          <a:noFill/>
          <a:ln w="25400">
            <a:solidFill>
              <a:srgbClr val="4FE0D4"/>
            </a:solidFill>
            <a:prstDash val="solid"/>
            <a:tailEnd type="triangle"/>
          </a:ln>
        </p:spPr>
      </p:sp>
      <p:sp>
        <p:nvSpPr>
          <p:cNvPr id="24" name="Shape 16"/>
          <p:cNvSpPr/>
          <p:nvPr/>
        </p:nvSpPr>
        <p:spPr>
          <a:xfrm>
            <a:off x="7429271" y="1554480"/>
            <a:ext cx="1828800" cy="1234440"/>
          </a:xfrm>
          <a:prstGeom prst="roundRect">
            <a:avLst>
              <a:gd name="adj" fmla="val 8889"/>
            </a:avLst>
          </a:prstGeom>
          <a:solidFill>
            <a:srgbClr val="15396E">
              <a:alpha val="75000"/>
            </a:srgbClr>
          </a:solidFill>
          <a:ln w="12700">
            <a:solidFill>
              <a:srgbClr val="4C9BFF"/>
            </a:solidFill>
            <a:prstDash val="solid"/>
          </a:ln>
          <a:effectLst>
            <a:outerShdw sx="100000" sy="100000" kx="0" ky="0" algn="bl" rotWithShape="0" blurRad="127000" dist="38100" dir="5400000">
              <a:srgbClr val="000000">
                <a:alpha val="45000"/>
              </a:srgbClr>
            </a:outerShdw>
          </a:effectLst>
        </p:spPr>
      </p:sp>
      <p:sp>
        <p:nvSpPr>
          <p:cNvPr id="25" name="Shape 17"/>
          <p:cNvSpPr/>
          <p:nvPr/>
        </p:nvSpPr>
        <p:spPr>
          <a:xfrm>
            <a:off x="8028203" y="1696212"/>
            <a:ext cx="630936" cy="630936"/>
          </a:xfrm>
          <a:prstGeom prst="ellipse">
            <a:avLst/>
          </a:prstGeom>
          <a:solidFill>
            <a:srgbClr val="000000">
              <a:alpha val="25000"/>
            </a:srgbClr>
          </a:solidFill>
          <a:ln/>
        </p:spPr>
      </p:sp>
      <p:pic>
        <p:nvPicPr>
          <p:cNvPr id="26" name="Image 6" descr="preencoded.png">    </p:cNvPr>
          <p:cNvPicPr>
            <a:picLocks noChangeAspect="1"/>
          </p:cNvPicPr>
          <p:nvPr/>
        </p:nvPicPr>
        <p:blipFill>
          <a:blip r:embed="rId8"/>
          <a:stretch>
            <a:fillRect/>
          </a:stretch>
        </p:blipFill>
        <p:spPr>
          <a:xfrm>
            <a:off x="8051063" y="1719072"/>
            <a:ext cx="585216" cy="585216"/>
          </a:xfrm>
          <a:prstGeom prst="rect">
            <a:avLst/>
          </a:prstGeom>
        </p:spPr>
      </p:pic>
      <p:pic>
        <p:nvPicPr>
          <p:cNvPr id="27" name="Image 7" descr="preencoded.png">    </p:cNvPr>
          <p:cNvPicPr>
            <a:picLocks noChangeAspect="1"/>
          </p:cNvPicPr>
          <p:nvPr/>
        </p:nvPicPr>
        <p:blipFill>
          <a:blip r:embed="rId9"/>
          <a:stretch>
            <a:fillRect/>
          </a:stretch>
        </p:blipFill>
        <p:spPr>
          <a:xfrm>
            <a:off x="8197367" y="1865376"/>
            <a:ext cx="292608" cy="292608"/>
          </a:xfrm>
          <a:prstGeom prst="rect">
            <a:avLst/>
          </a:prstGeom>
        </p:spPr>
      </p:pic>
      <p:sp>
        <p:nvSpPr>
          <p:cNvPr id="28" name="Text 18"/>
          <p:cNvSpPr txBox="1"/>
          <p:nvPr/>
        </p:nvSpPr>
        <p:spPr>
          <a:xfrm>
            <a:off x="7474991" y="2395728"/>
            <a:ext cx="1737360" cy="365760"/>
          </a:xfrm>
          <a:prstGeom prst="rect">
            <a:avLst/>
          </a:prstGeom>
          <a:noFill/>
          <a:ln/>
        </p:spPr>
        <p:txBody>
          <a:bodyPr wrap="square" lIns="0" tIns="0" rIns="0" bIns="0" rtlCol="0" anchor="t"/>
          <a:lstStyle/>
          <a:p>
            <a:pPr algn="ctr" indent="0" marL="0">
              <a:lnSpc>
                <a:spcPct val="105000"/>
              </a:lnSpc>
              <a:buNone/>
            </a:pPr>
            <a:r>
              <a:rPr lang="en-US" sz="1000" b="1" dirty="0">
                <a:solidFill>
                  <a:srgbClr val="F4F8FC"/>
                </a:solidFill>
                <a:latin typeface="Calibri" pitchFamily="34" charset="0"/>
                <a:ea typeface="Calibri" pitchFamily="34" charset="-122"/>
                <a:cs typeface="Calibri" pitchFamily="34" charset="-120"/>
              </a:rPr>
              <a:t>MYSQL</a:t>
            </a:r>
            <a:endParaRPr lang="en-US" sz="1000" dirty="0"/>
          </a:p>
        </p:txBody>
      </p:sp>
      <p:sp>
        <p:nvSpPr>
          <p:cNvPr id="29" name="Shape 19"/>
          <p:cNvSpPr/>
          <p:nvPr/>
        </p:nvSpPr>
        <p:spPr>
          <a:xfrm>
            <a:off x="9258071" y="2171700"/>
            <a:ext cx="419024" cy="0"/>
          </a:xfrm>
          <a:prstGeom prst="line">
            <a:avLst/>
          </a:prstGeom>
          <a:noFill/>
          <a:ln w="25400">
            <a:solidFill>
              <a:srgbClr val="4FE0D4"/>
            </a:solidFill>
            <a:prstDash val="solid"/>
            <a:tailEnd type="triangle"/>
          </a:ln>
        </p:spPr>
      </p:sp>
      <p:sp>
        <p:nvSpPr>
          <p:cNvPr id="30" name="Shape 20"/>
          <p:cNvSpPr/>
          <p:nvPr/>
        </p:nvSpPr>
        <p:spPr>
          <a:xfrm>
            <a:off x="9677095" y="1554480"/>
            <a:ext cx="1828800" cy="1234440"/>
          </a:xfrm>
          <a:prstGeom prst="roundRect">
            <a:avLst>
              <a:gd name="adj" fmla="val 8889"/>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31" name="Shape 21"/>
          <p:cNvSpPr/>
          <p:nvPr/>
        </p:nvSpPr>
        <p:spPr>
          <a:xfrm>
            <a:off x="10276027" y="1696212"/>
            <a:ext cx="630936" cy="630936"/>
          </a:xfrm>
          <a:prstGeom prst="ellipse">
            <a:avLst/>
          </a:prstGeom>
          <a:solidFill>
            <a:srgbClr val="000000">
              <a:alpha val="25000"/>
            </a:srgbClr>
          </a:solidFill>
          <a:ln/>
        </p:spPr>
      </p:sp>
      <p:pic>
        <p:nvPicPr>
          <p:cNvPr id="32" name="Image 8" descr="preencoded.png">    </p:cNvPr>
          <p:cNvPicPr>
            <a:picLocks noChangeAspect="1"/>
          </p:cNvPicPr>
          <p:nvPr/>
        </p:nvPicPr>
        <p:blipFill>
          <a:blip r:embed="rId10"/>
          <a:stretch>
            <a:fillRect/>
          </a:stretch>
        </p:blipFill>
        <p:spPr>
          <a:xfrm>
            <a:off x="10298887" y="1719072"/>
            <a:ext cx="585216" cy="585216"/>
          </a:xfrm>
          <a:prstGeom prst="rect">
            <a:avLst/>
          </a:prstGeom>
        </p:spPr>
      </p:pic>
      <p:pic>
        <p:nvPicPr>
          <p:cNvPr id="33" name="Image 9" descr="preencoded.png">    </p:cNvPr>
          <p:cNvPicPr>
            <a:picLocks noChangeAspect="1"/>
          </p:cNvPicPr>
          <p:nvPr/>
        </p:nvPicPr>
        <p:blipFill>
          <a:blip r:embed="rId11"/>
          <a:stretch>
            <a:fillRect/>
          </a:stretch>
        </p:blipFill>
        <p:spPr>
          <a:xfrm>
            <a:off x="10445191" y="1865376"/>
            <a:ext cx="292608" cy="292608"/>
          </a:xfrm>
          <a:prstGeom prst="rect">
            <a:avLst/>
          </a:prstGeom>
        </p:spPr>
      </p:pic>
      <p:sp>
        <p:nvSpPr>
          <p:cNvPr id="34" name="Text 22"/>
          <p:cNvSpPr txBox="1"/>
          <p:nvPr/>
        </p:nvSpPr>
        <p:spPr>
          <a:xfrm>
            <a:off x="9722815" y="2395728"/>
            <a:ext cx="1737360" cy="365760"/>
          </a:xfrm>
          <a:prstGeom prst="rect">
            <a:avLst/>
          </a:prstGeom>
          <a:noFill/>
          <a:ln/>
        </p:spPr>
        <p:txBody>
          <a:bodyPr wrap="square" lIns="0" tIns="0" rIns="0" bIns="0" rtlCol="0" anchor="t"/>
          <a:lstStyle/>
          <a:p>
            <a:pPr algn="ctr" indent="0" marL="0">
              <a:lnSpc>
                <a:spcPct val="105000"/>
              </a:lnSpc>
              <a:buNone/>
            </a:pPr>
            <a:r>
              <a:rPr lang="en-US" sz="1000" b="1" dirty="0">
                <a:solidFill>
                  <a:srgbClr val="F4F8FC"/>
                </a:solidFill>
                <a:latin typeface="Calibri" pitchFamily="34" charset="0"/>
                <a:ea typeface="Calibri" pitchFamily="34" charset="-122"/>
                <a:cs typeface="Calibri" pitchFamily="34" charset="-120"/>
              </a:rPr>
              <a:t>9 RELATIONAL</a:t>
            </a:r>
            <a:endParaRPr lang="en-US" sz="1000" dirty="0"/>
          </a:p>
          <a:p>
            <a:pPr algn="ctr" indent="0" marL="0">
              <a:lnSpc>
                <a:spcPct val="105000"/>
              </a:lnSpc>
              <a:buNone/>
            </a:pPr>
            <a:r>
              <a:rPr lang="en-US" sz="1000" b="1" dirty="0">
                <a:solidFill>
                  <a:srgbClr val="F4F8FC"/>
                </a:solidFill>
                <a:latin typeface="Calibri" pitchFamily="34" charset="0"/>
                <a:ea typeface="Calibri" pitchFamily="34" charset="-122"/>
                <a:cs typeface="Calibri" pitchFamily="34" charset="-120"/>
              </a:rPr>
              <a:t>TABLES</a:t>
            </a:r>
            <a:endParaRPr lang="en-US" sz="1000" dirty="0"/>
          </a:p>
        </p:txBody>
      </p:sp>
      <p:sp>
        <p:nvSpPr>
          <p:cNvPr id="35" name="Text 23"/>
          <p:cNvSpPr txBox="1"/>
          <p:nvPr/>
        </p:nvSpPr>
        <p:spPr>
          <a:xfrm>
            <a:off x="685800" y="3246120"/>
            <a:ext cx="3429000" cy="237744"/>
          </a:xfrm>
          <a:prstGeom prst="rect">
            <a:avLst/>
          </a:prstGeom>
          <a:noFill/>
          <a:ln/>
        </p:spPr>
        <p:txBody>
          <a:bodyPr wrap="square" lIns="0" tIns="0" rIns="0" bIns="0" rtlCol="0" anchor="ctr"/>
          <a:lstStyle/>
          <a:p>
            <a:pPr indent="0" marL="0">
              <a:buNone/>
            </a:pPr>
            <a:r>
              <a:rPr lang="en-US" sz="950" b="1" spc="100" kern="0" dirty="0">
                <a:solidFill>
                  <a:srgbClr val="56688A"/>
                </a:solidFill>
                <a:latin typeface="Calibri" pitchFamily="34" charset="0"/>
                <a:ea typeface="Calibri" pitchFamily="34" charset="-122"/>
                <a:cs typeface="Calibri" pitchFamily="34" charset="-120"/>
              </a:rPr>
              <a:t>FRONTEND PAGES</a:t>
            </a:r>
            <a:endParaRPr lang="en-US" sz="950" dirty="0"/>
          </a:p>
        </p:txBody>
      </p:sp>
      <p:sp>
        <p:nvSpPr>
          <p:cNvPr id="36" name="Shape 24"/>
          <p:cNvSpPr/>
          <p:nvPr/>
        </p:nvSpPr>
        <p:spPr>
          <a:xfrm>
            <a:off x="685800" y="3538728"/>
            <a:ext cx="1668780" cy="292608"/>
          </a:xfrm>
          <a:prstGeom prst="roundRect">
            <a:avLst>
              <a:gd name="adj" fmla="val 21875"/>
            </a:avLst>
          </a:prstGeom>
          <a:solidFill>
            <a:srgbClr val="0E1A2E">
              <a:alpha val="90000"/>
            </a:srgbClr>
          </a:solidFill>
          <a:ln w="9525">
            <a:solidFill>
              <a:srgbClr val="21324D"/>
            </a:solidFill>
            <a:prstDash val="solid"/>
          </a:ln>
        </p:spPr>
      </p:sp>
      <p:sp>
        <p:nvSpPr>
          <p:cNvPr id="37" name="Text 25"/>
          <p:cNvSpPr txBox="1"/>
          <p:nvPr/>
        </p:nvSpPr>
        <p:spPr>
          <a:xfrm>
            <a:off x="685800" y="3538728"/>
            <a:ext cx="1668780" cy="292608"/>
          </a:xfrm>
          <a:prstGeom prst="rect">
            <a:avLst/>
          </a:prstGeom>
          <a:noFill/>
          <a:ln/>
        </p:spPr>
        <p:txBody>
          <a:bodyPr wrap="square" lIns="0" tIns="0" rIns="0" bIns="0" rtlCol="0" anchor="ctr"/>
          <a:lstStyle/>
          <a:p>
            <a:pPr algn="ctr" indent="0" marL="0">
              <a:buNone/>
            </a:pPr>
            <a:r>
              <a:rPr lang="en-US" sz="850" dirty="0">
                <a:solidFill>
                  <a:srgbClr val="93A5C2"/>
                </a:solidFill>
                <a:latin typeface="Calibri" pitchFamily="34" charset="0"/>
                <a:ea typeface="Calibri" pitchFamily="34" charset="-122"/>
                <a:cs typeface="Calibri" pitchFamily="34" charset="-120"/>
              </a:rPr>
              <a:t>Dashboard</a:t>
            </a:r>
            <a:endParaRPr lang="en-US" sz="850" dirty="0"/>
          </a:p>
        </p:txBody>
      </p:sp>
      <p:sp>
        <p:nvSpPr>
          <p:cNvPr id="38" name="Shape 26"/>
          <p:cNvSpPr/>
          <p:nvPr/>
        </p:nvSpPr>
        <p:spPr>
          <a:xfrm>
            <a:off x="2446020" y="3538728"/>
            <a:ext cx="1668780" cy="292608"/>
          </a:xfrm>
          <a:prstGeom prst="roundRect">
            <a:avLst>
              <a:gd name="adj" fmla="val 21875"/>
            </a:avLst>
          </a:prstGeom>
          <a:solidFill>
            <a:srgbClr val="0E1A2E">
              <a:alpha val="90000"/>
            </a:srgbClr>
          </a:solidFill>
          <a:ln w="9525">
            <a:solidFill>
              <a:srgbClr val="21324D"/>
            </a:solidFill>
            <a:prstDash val="solid"/>
          </a:ln>
        </p:spPr>
      </p:sp>
      <p:sp>
        <p:nvSpPr>
          <p:cNvPr id="39" name="Text 27"/>
          <p:cNvSpPr txBox="1"/>
          <p:nvPr/>
        </p:nvSpPr>
        <p:spPr>
          <a:xfrm>
            <a:off x="2446020" y="3538728"/>
            <a:ext cx="1668780" cy="292608"/>
          </a:xfrm>
          <a:prstGeom prst="rect">
            <a:avLst/>
          </a:prstGeom>
          <a:noFill/>
          <a:ln/>
        </p:spPr>
        <p:txBody>
          <a:bodyPr wrap="square" lIns="0" tIns="0" rIns="0" bIns="0" rtlCol="0" anchor="ctr"/>
          <a:lstStyle/>
          <a:p>
            <a:pPr algn="ctr" indent="0" marL="0">
              <a:buNone/>
            </a:pPr>
            <a:r>
              <a:rPr lang="en-US" sz="850" dirty="0">
                <a:solidFill>
                  <a:srgbClr val="93A5C2"/>
                </a:solidFill>
                <a:latin typeface="Calibri" pitchFamily="34" charset="0"/>
                <a:ea typeface="Calibri" pitchFamily="34" charset="-122"/>
                <a:cs typeface="Calibri" pitchFamily="34" charset="-120"/>
              </a:rPr>
              <a:t>Students</a:t>
            </a:r>
            <a:endParaRPr lang="en-US" sz="850" dirty="0"/>
          </a:p>
        </p:txBody>
      </p:sp>
      <p:sp>
        <p:nvSpPr>
          <p:cNvPr id="40" name="Shape 28"/>
          <p:cNvSpPr/>
          <p:nvPr/>
        </p:nvSpPr>
        <p:spPr>
          <a:xfrm>
            <a:off x="685800" y="3904488"/>
            <a:ext cx="1668780" cy="292608"/>
          </a:xfrm>
          <a:prstGeom prst="roundRect">
            <a:avLst>
              <a:gd name="adj" fmla="val 21875"/>
            </a:avLst>
          </a:prstGeom>
          <a:solidFill>
            <a:srgbClr val="0E1A2E">
              <a:alpha val="90000"/>
            </a:srgbClr>
          </a:solidFill>
          <a:ln w="9525">
            <a:solidFill>
              <a:srgbClr val="21324D"/>
            </a:solidFill>
            <a:prstDash val="solid"/>
          </a:ln>
        </p:spPr>
      </p:sp>
      <p:sp>
        <p:nvSpPr>
          <p:cNvPr id="41" name="Text 29"/>
          <p:cNvSpPr txBox="1"/>
          <p:nvPr/>
        </p:nvSpPr>
        <p:spPr>
          <a:xfrm>
            <a:off x="685800" y="3904488"/>
            <a:ext cx="1668780" cy="292608"/>
          </a:xfrm>
          <a:prstGeom prst="rect">
            <a:avLst/>
          </a:prstGeom>
          <a:noFill/>
          <a:ln/>
        </p:spPr>
        <p:txBody>
          <a:bodyPr wrap="square" lIns="0" tIns="0" rIns="0" bIns="0" rtlCol="0" anchor="ctr"/>
          <a:lstStyle/>
          <a:p>
            <a:pPr algn="ctr" indent="0" marL="0">
              <a:buNone/>
            </a:pPr>
            <a:r>
              <a:rPr lang="en-US" sz="850" dirty="0">
                <a:solidFill>
                  <a:srgbClr val="93A5C2"/>
                </a:solidFill>
                <a:latin typeface="Calibri" pitchFamily="34" charset="0"/>
                <a:ea typeface="Calibri" pitchFamily="34" charset="-122"/>
                <a:cs typeface="Calibri" pitchFamily="34" charset="-120"/>
              </a:rPr>
              <a:t>Transport</a:t>
            </a:r>
            <a:endParaRPr lang="en-US" sz="850" dirty="0"/>
          </a:p>
        </p:txBody>
      </p:sp>
      <p:sp>
        <p:nvSpPr>
          <p:cNvPr id="42" name="Shape 30"/>
          <p:cNvSpPr/>
          <p:nvPr/>
        </p:nvSpPr>
        <p:spPr>
          <a:xfrm>
            <a:off x="2446020" y="3904488"/>
            <a:ext cx="1668780" cy="292608"/>
          </a:xfrm>
          <a:prstGeom prst="roundRect">
            <a:avLst>
              <a:gd name="adj" fmla="val 21875"/>
            </a:avLst>
          </a:prstGeom>
          <a:solidFill>
            <a:srgbClr val="0E1A2E">
              <a:alpha val="90000"/>
            </a:srgbClr>
          </a:solidFill>
          <a:ln w="9525">
            <a:solidFill>
              <a:srgbClr val="21324D"/>
            </a:solidFill>
            <a:prstDash val="solid"/>
          </a:ln>
        </p:spPr>
      </p:sp>
      <p:sp>
        <p:nvSpPr>
          <p:cNvPr id="43" name="Text 31"/>
          <p:cNvSpPr txBox="1"/>
          <p:nvPr/>
        </p:nvSpPr>
        <p:spPr>
          <a:xfrm>
            <a:off x="2446020" y="3904488"/>
            <a:ext cx="1668780" cy="292608"/>
          </a:xfrm>
          <a:prstGeom prst="rect">
            <a:avLst/>
          </a:prstGeom>
          <a:noFill/>
          <a:ln/>
        </p:spPr>
        <p:txBody>
          <a:bodyPr wrap="square" lIns="0" tIns="0" rIns="0" bIns="0" rtlCol="0" anchor="ctr"/>
          <a:lstStyle/>
          <a:p>
            <a:pPr algn="ctr" indent="0" marL="0">
              <a:buNone/>
            </a:pPr>
            <a:r>
              <a:rPr lang="en-US" sz="850" dirty="0">
                <a:solidFill>
                  <a:srgbClr val="93A5C2"/>
                </a:solidFill>
                <a:latin typeface="Calibri" pitchFamily="34" charset="0"/>
                <a:ea typeface="Calibri" pitchFamily="34" charset="-122"/>
                <a:cs typeface="Calibri" pitchFamily="34" charset="-120"/>
              </a:rPr>
              <a:t>Routes</a:t>
            </a:r>
            <a:endParaRPr lang="en-US" sz="850" dirty="0"/>
          </a:p>
        </p:txBody>
      </p:sp>
      <p:sp>
        <p:nvSpPr>
          <p:cNvPr id="44" name="Shape 32"/>
          <p:cNvSpPr/>
          <p:nvPr/>
        </p:nvSpPr>
        <p:spPr>
          <a:xfrm>
            <a:off x="685800" y="4270248"/>
            <a:ext cx="1668780" cy="292608"/>
          </a:xfrm>
          <a:prstGeom prst="roundRect">
            <a:avLst>
              <a:gd name="adj" fmla="val 21875"/>
            </a:avLst>
          </a:prstGeom>
          <a:solidFill>
            <a:srgbClr val="0E1A2E">
              <a:alpha val="90000"/>
            </a:srgbClr>
          </a:solidFill>
          <a:ln w="9525">
            <a:solidFill>
              <a:srgbClr val="21324D"/>
            </a:solidFill>
            <a:prstDash val="solid"/>
          </a:ln>
        </p:spPr>
      </p:sp>
      <p:sp>
        <p:nvSpPr>
          <p:cNvPr id="45" name="Text 33"/>
          <p:cNvSpPr txBox="1"/>
          <p:nvPr/>
        </p:nvSpPr>
        <p:spPr>
          <a:xfrm>
            <a:off x="685800" y="4270248"/>
            <a:ext cx="1668780" cy="292608"/>
          </a:xfrm>
          <a:prstGeom prst="rect">
            <a:avLst/>
          </a:prstGeom>
          <a:noFill/>
          <a:ln/>
        </p:spPr>
        <p:txBody>
          <a:bodyPr wrap="square" lIns="0" tIns="0" rIns="0" bIns="0" rtlCol="0" anchor="ctr"/>
          <a:lstStyle/>
          <a:p>
            <a:pPr algn="ctr" indent="0" marL="0">
              <a:buNone/>
            </a:pPr>
            <a:r>
              <a:rPr lang="en-US" sz="850" dirty="0">
                <a:solidFill>
                  <a:srgbClr val="93A5C2"/>
                </a:solidFill>
                <a:latin typeface="Calibri" pitchFamily="34" charset="0"/>
                <a:ea typeface="Calibri" pitchFamily="34" charset="-122"/>
                <a:cs typeface="Calibri" pitchFamily="34" charset="-120"/>
              </a:rPr>
              <a:t>Buses</a:t>
            </a:r>
            <a:endParaRPr lang="en-US" sz="850" dirty="0"/>
          </a:p>
        </p:txBody>
      </p:sp>
      <p:sp>
        <p:nvSpPr>
          <p:cNvPr id="46" name="Shape 34"/>
          <p:cNvSpPr/>
          <p:nvPr/>
        </p:nvSpPr>
        <p:spPr>
          <a:xfrm>
            <a:off x="2446020" y="4270248"/>
            <a:ext cx="1668780" cy="292608"/>
          </a:xfrm>
          <a:prstGeom prst="roundRect">
            <a:avLst>
              <a:gd name="adj" fmla="val 21875"/>
            </a:avLst>
          </a:prstGeom>
          <a:solidFill>
            <a:srgbClr val="0E1A2E">
              <a:alpha val="90000"/>
            </a:srgbClr>
          </a:solidFill>
          <a:ln w="9525">
            <a:solidFill>
              <a:srgbClr val="21324D"/>
            </a:solidFill>
            <a:prstDash val="solid"/>
          </a:ln>
        </p:spPr>
      </p:sp>
      <p:sp>
        <p:nvSpPr>
          <p:cNvPr id="47" name="Text 35"/>
          <p:cNvSpPr txBox="1"/>
          <p:nvPr/>
        </p:nvSpPr>
        <p:spPr>
          <a:xfrm>
            <a:off x="2446020" y="4270248"/>
            <a:ext cx="1668780" cy="292608"/>
          </a:xfrm>
          <a:prstGeom prst="rect">
            <a:avLst/>
          </a:prstGeom>
          <a:noFill/>
          <a:ln/>
        </p:spPr>
        <p:txBody>
          <a:bodyPr wrap="square" lIns="0" tIns="0" rIns="0" bIns="0" rtlCol="0" anchor="ctr"/>
          <a:lstStyle/>
          <a:p>
            <a:pPr algn="ctr" indent="0" marL="0">
              <a:buNone/>
            </a:pPr>
            <a:r>
              <a:rPr lang="en-US" sz="850" dirty="0">
                <a:solidFill>
                  <a:srgbClr val="93A5C2"/>
                </a:solidFill>
                <a:latin typeface="Calibri" pitchFamily="34" charset="0"/>
                <a:ea typeface="Calibri" pitchFamily="34" charset="-122"/>
                <a:cs typeface="Calibri" pitchFamily="34" charset="-120"/>
              </a:rPr>
              <a:t>Pickup/Drop</a:t>
            </a:r>
            <a:endParaRPr lang="en-US" sz="850" dirty="0"/>
          </a:p>
        </p:txBody>
      </p:sp>
      <p:sp>
        <p:nvSpPr>
          <p:cNvPr id="48" name="Shape 36"/>
          <p:cNvSpPr/>
          <p:nvPr/>
        </p:nvSpPr>
        <p:spPr>
          <a:xfrm>
            <a:off x="685800" y="4636008"/>
            <a:ext cx="1668780" cy="292608"/>
          </a:xfrm>
          <a:prstGeom prst="roundRect">
            <a:avLst>
              <a:gd name="adj" fmla="val 21875"/>
            </a:avLst>
          </a:prstGeom>
          <a:solidFill>
            <a:srgbClr val="0E1A2E">
              <a:alpha val="90000"/>
            </a:srgbClr>
          </a:solidFill>
          <a:ln w="9525">
            <a:solidFill>
              <a:srgbClr val="21324D"/>
            </a:solidFill>
            <a:prstDash val="solid"/>
          </a:ln>
        </p:spPr>
      </p:sp>
      <p:sp>
        <p:nvSpPr>
          <p:cNvPr id="49" name="Text 37"/>
          <p:cNvSpPr txBox="1"/>
          <p:nvPr/>
        </p:nvSpPr>
        <p:spPr>
          <a:xfrm>
            <a:off x="685800" y="4636008"/>
            <a:ext cx="1668780" cy="292608"/>
          </a:xfrm>
          <a:prstGeom prst="rect">
            <a:avLst/>
          </a:prstGeom>
          <a:noFill/>
          <a:ln/>
        </p:spPr>
        <p:txBody>
          <a:bodyPr wrap="square" lIns="0" tIns="0" rIns="0" bIns="0" rtlCol="0" anchor="ctr"/>
          <a:lstStyle/>
          <a:p>
            <a:pPr algn="ctr" indent="0" marL="0">
              <a:buNone/>
            </a:pPr>
            <a:r>
              <a:rPr lang="en-US" sz="850" dirty="0">
                <a:solidFill>
                  <a:srgbClr val="93A5C2"/>
                </a:solidFill>
                <a:latin typeface="Calibri" pitchFamily="34" charset="0"/>
                <a:ea typeface="Calibri" pitchFamily="34" charset="-122"/>
                <a:cs typeface="Calibri" pitchFamily="34" charset="-120"/>
              </a:rPr>
              <a:t>Pickup Records</a:t>
            </a:r>
            <a:endParaRPr lang="en-US" sz="850" dirty="0"/>
          </a:p>
        </p:txBody>
      </p:sp>
      <p:sp>
        <p:nvSpPr>
          <p:cNvPr id="50" name="Shape 38"/>
          <p:cNvSpPr/>
          <p:nvPr/>
        </p:nvSpPr>
        <p:spPr>
          <a:xfrm>
            <a:off x="2446020" y="4636008"/>
            <a:ext cx="1668780" cy="292608"/>
          </a:xfrm>
          <a:prstGeom prst="roundRect">
            <a:avLst>
              <a:gd name="adj" fmla="val 21875"/>
            </a:avLst>
          </a:prstGeom>
          <a:solidFill>
            <a:srgbClr val="0E1A2E">
              <a:alpha val="90000"/>
            </a:srgbClr>
          </a:solidFill>
          <a:ln w="9525">
            <a:solidFill>
              <a:srgbClr val="21324D"/>
            </a:solidFill>
            <a:prstDash val="solid"/>
          </a:ln>
        </p:spPr>
      </p:sp>
      <p:sp>
        <p:nvSpPr>
          <p:cNvPr id="51" name="Text 39"/>
          <p:cNvSpPr txBox="1"/>
          <p:nvPr/>
        </p:nvSpPr>
        <p:spPr>
          <a:xfrm>
            <a:off x="2446020" y="4636008"/>
            <a:ext cx="1668780" cy="292608"/>
          </a:xfrm>
          <a:prstGeom prst="rect">
            <a:avLst/>
          </a:prstGeom>
          <a:noFill/>
          <a:ln/>
        </p:spPr>
        <p:txBody>
          <a:bodyPr wrap="square" lIns="0" tIns="0" rIns="0" bIns="0" rtlCol="0" anchor="ctr"/>
          <a:lstStyle/>
          <a:p>
            <a:pPr algn="ctr" indent="0" marL="0">
              <a:buNone/>
            </a:pPr>
            <a:r>
              <a:rPr lang="en-US" sz="850" dirty="0">
                <a:solidFill>
                  <a:srgbClr val="93A5C2"/>
                </a:solidFill>
                <a:latin typeface="Calibri" pitchFamily="34" charset="0"/>
                <a:ea typeface="Calibri" pitchFamily="34" charset="-122"/>
                <a:cs typeface="Calibri" pitchFamily="34" charset="-120"/>
              </a:rPr>
              <a:t>Fees</a:t>
            </a:r>
            <a:endParaRPr lang="en-US" sz="850" dirty="0"/>
          </a:p>
        </p:txBody>
      </p:sp>
      <p:sp>
        <p:nvSpPr>
          <p:cNvPr id="52" name="Text 40"/>
          <p:cNvSpPr txBox="1"/>
          <p:nvPr/>
        </p:nvSpPr>
        <p:spPr>
          <a:xfrm>
            <a:off x="4343400" y="3246120"/>
            <a:ext cx="3429000" cy="237744"/>
          </a:xfrm>
          <a:prstGeom prst="rect">
            <a:avLst/>
          </a:prstGeom>
          <a:noFill/>
          <a:ln/>
        </p:spPr>
        <p:txBody>
          <a:bodyPr wrap="square" lIns="0" tIns="0" rIns="0" bIns="0" rtlCol="0" anchor="ctr"/>
          <a:lstStyle/>
          <a:p>
            <a:pPr indent="0" marL="0">
              <a:buNone/>
            </a:pPr>
            <a:r>
              <a:rPr lang="en-US" sz="950" b="1" spc="100" kern="0" dirty="0">
                <a:solidFill>
                  <a:srgbClr val="56688A"/>
                </a:solidFill>
                <a:latin typeface="Calibri" pitchFamily="34" charset="0"/>
                <a:ea typeface="Calibri" pitchFamily="34" charset="-122"/>
                <a:cs typeface="Calibri" pitchFamily="34" charset="-120"/>
              </a:rPr>
              <a:t>BACKEND CAPABILITIES</a:t>
            </a:r>
            <a:endParaRPr lang="en-US" sz="950" dirty="0"/>
          </a:p>
        </p:txBody>
      </p:sp>
      <p:sp>
        <p:nvSpPr>
          <p:cNvPr id="53" name="Shape 41"/>
          <p:cNvSpPr/>
          <p:nvPr/>
        </p:nvSpPr>
        <p:spPr>
          <a:xfrm>
            <a:off x="4343400" y="3538728"/>
            <a:ext cx="3429000" cy="292608"/>
          </a:xfrm>
          <a:prstGeom prst="roundRect">
            <a:avLst>
              <a:gd name="adj" fmla="val 21875"/>
            </a:avLst>
          </a:prstGeom>
          <a:solidFill>
            <a:srgbClr val="0E1A2E">
              <a:alpha val="90000"/>
            </a:srgbClr>
          </a:solidFill>
          <a:ln w="9525">
            <a:solidFill>
              <a:srgbClr val="21324D"/>
            </a:solidFill>
            <a:prstDash val="solid"/>
          </a:ln>
        </p:spPr>
      </p:sp>
      <p:sp>
        <p:nvSpPr>
          <p:cNvPr id="54" name="Text 42"/>
          <p:cNvSpPr txBox="1"/>
          <p:nvPr/>
        </p:nvSpPr>
        <p:spPr>
          <a:xfrm>
            <a:off x="4453128" y="3538728"/>
            <a:ext cx="3246120" cy="292608"/>
          </a:xfrm>
          <a:prstGeom prst="rect">
            <a:avLst/>
          </a:prstGeom>
          <a:noFill/>
          <a:ln/>
        </p:spPr>
        <p:txBody>
          <a:bodyPr wrap="square" lIns="0" tIns="0" rIns="0" bIns="0" rtlCol="0" anchor="ctr"/>
          <a:lstStyle/>
          <a:p>
            <a:pPr algn="l" indent="0" marL="0">
              <a:buNone/>
            </a:pPr>
            <a:r>
              <a:rPr lang="en-US" sz="950" dirty="0">
                <a:solidFill>
                  <a:srgbClr val="93A5C2"/>
                </a:solidFill>
                <a:latin typeface="Calibri" pitchFamily="34" charset="0"/>
                <a:ea typeface="Calibri" pitchFamily="34" charset="-122"/>
                <a:cs typeface="Calibri" pitchFamily="34" charset="-120"/>
              </a:rPr>
              <a:t>REST API</a:t>
            </a:r>
            <a:endParaRPr lang="en-US" sz="950" dirty="0"/>
          </a:p>
        </p:txBody>
      </p:sp>
      <p:sp>
        <p:nvSpPr>
          <p:cNvPr id="55" name="Shape 43"/>
          <p:cNvSpPr/>
          <p:nvPr/>
        </p:nvSpPr>
        <p:spPr>
          <a:xfrm>
            <a:off x="4343400" y="3904488"/>
            <a:ext cx="3429000" cy="292608"/>
          </a:xfrm>
          <a:prstGeom prst="roundRect">
            <a:avLst>
              <a:gd name="adj" fmla="val 21875"/>
            </a:avLst>
          </a:prstGeom>
          <a:solidFill>
            <a:srgbClr val="0E1A2E">
              <a:alpha val="90000"/>
            </a:srgbClr>
          </a:solidFill>
          <a:ln w="9525">
            <a:solidFill>
              <a:srgbClr val="21324D"/>
            </a:solidFill>
            <a:prstDash val="solid"/>
          </a:ln>
        </p:spPr>
      </p:sp>
      <p:sp>
        <p:nvSpPr>
          <p:cNvPr id="56" name="Text 44"/>
          <p:cNvSpPr txBox="1"/>
          <p:nvPr/>
        </p:nvSpPr>
        <p:spPr>
          <a:xfrm>
            <a:off x="4453128" y="3904488"/>
            <a:ext cx="3246120" cy="292608"/>
          </a:xfrm>
          <a:prstGeom prst="rect">
            <a:avLst/>
          </a:prstGeom>
          <a:noFill/>
          <a:ln/>
        </p:spPr>
        <p:txBody>
          <a:bodyPr wrap="square" lIns="0" tIns="0" rIns="0" bIns="0" rtlCol="0" anchor="ctr"/>
          <a:lstStyle/>
          <a:p>
            <a:pPr algn="l" indent="0" marL="0">
              <a:buNone/>
            </a:pPr>
            <a:r>
              <a:rPr lang="en-US" sz="950" dirty="0">
                <a:solidFill>
                  <a:srgbClr val="93A5C2"/>
                </a:solidFill>
                <a:latin typeface="Calibri" pitchFamily="34" charset="0"/>
                <a:ea typeface="Calibri" pitchFamily="34" charset="-122"/>
                <a:cs typeface="Calibri" pitchFamily="34" charset="-120"/>
              </a:rPr>
              <a:t>Validation</a:t>
            </a:r>
            <a:endParaRPr lang="en-US" sz="950" dirty="0"/>
          </a:p>
        </p:txBody>
      </p:sp>
      <p:sp>
        <p:nvSpPr>
          <p:cNvPr id="57" name="Shape 45"/>
          <p:cNvSpPr/>
          <p:nvPr/>
        </p:nvSpPr>
        <p:spPr>
          <a:xfrm>
            <a:off x="4343400" y="4270248"/>
            <a:ext cx="3429000" cy="292608"/>
          </a:xfrm>
          <a:prstGeom prst="roundRect">
            <a:avLst>
              <a:gd name="adj" fmla="val 21875"/>
            </a:avLst>
          </a:prstGeom>
          <a:solidFill>
            <a:srgbClr val="0E1A2E">
              <a:alpha val="90000"/>
            </a:srgbClr>
          </a:solidFill>
          <a:ln w="9525">
            <a:solidFill>
              <a:srgbClr val="21324D"/>
            </a:solidFill>
            <a:prstDash val="solid"/>
          </a:ln>
        </p:spPr>
      </p:sp>
      <p:sp>
        <p:nvSpPr>
          <p:cNvPr id="58" name="Text 46"/>
          <p:cNvSpPr txBox="1"/>
          <p:nvPr/>
        </p:nvSpPr>
        <p:spPr>
          <a:xfrm>
            <a:off x="4453128" y="4270248"/>
            <a:ext cx="3246120" cy="292608"/>
          </a:xfrm>
          <a:prstGeom prst="rect">
            <a:avLst/>
          </a:prstGeom>
          <a:noFill/>
          <a:ln/>
        </p:spPr>
        <p:txBody>
          <a:bodyPr wrap="square" lIns="0" tIns="0" rIns="0" bIns="0" rtlCol="0" anchor="ctr"/>
          <a:lstStyle/>
          <a:p>
            <a:pPr algn="l" indent="0" marL="0">
              <a:buNone/>
            </a:pPr>
            <a:r>
              <a:rPr lang="en-US" sz="950" dirty="0">
                <a:solidFill>
                  <a:srgbClr val="93A5C2"/>
                </a:solidFill>
                <a:latin typeface="Calibri" pitchFamily="34" charset="0"/>
                <a:ea typeface="Calibri" pitchFamily="34" charset="-122"/>
                <a:cs typeface="Calibri" pitchFamily="34" charset="-120"/>
              </a:rPr>
              <a:t>MySQL Pool</a:t>
            </a:r>
            <a:endParaRPr lang="en-US" sz="950" dirty="0"/>
          </a:p>
        </p:txBody>
      </p:sp>
      <p:sp>
        <p:nvSpPr>
          <p:cNvPr id="59" name="Shape 47"/>
          <p:cNvSpPr/>
          <p:nvPr/>
        </p:nvSpPr>
        <p:spPr>
          <a:xfrm>
            <a:off x="4343400" y="4636008"/>
            <a:ext cx="3429000" cy="292608"/>
          </a:xfrm>
          <a:prstGeom prst="roundRect">
            <a:avLst>
              <a:gd name="adj" fmla="val 21875"/>
            </a:avLst>
          </a:prstGeom>
          <a:solidFill>
            <a:srgbClr val="0E1A2E">
              <a:alpha val="90000"/>
            </a:srgbClr>
          </a:solidFill>
          <a:ln w="9525">
            <a:solidFill>
              <a:srgbClr val="21324D"/>
            </a:solidFill>
            <a:prstDash val="solid"/>
          </a:ln>
        </p:spPr>
      </p:sp>
      <p:sp>
        <p:nvSpPr>
          <p:cNvPr id="60" name="Text 48"/>
          <p:cNvSpPr txBox="1"/>
          <p:nvPr/>
        </p:nvSpPr>
        <p:spPr>
          <a:xfrm>
            <a:off x="4453128" y="4636008"/>
            <a:ext cx="3246120" cy="292608"/>
          </a:xfrm>
          <a:prstGeom prst="rect">
            <a:avLst/>
          </a:prstGeom>
          <a:noFill/>
          <a:ln/>
        </p:spPr>
        <p:txBody>
          <a:bodyPr wrap="square" lIns="0" tIns="0" rIns="0" bIns="0" rtlCol="0" anchor="ctr"/>
          <a:lstStyle/>
          <a:p>
            <a:pPr algn="l" indent="0" marL="0">
              <a:buNone/>
            </a:pPr>
            <a:r>
              <a:rPr lang="en-US" sz="950" dirty="0">
                <a:solidFill>
                  <a:srgbClr val="93A5C2"/>
                </a:solidFill>
                <a:latin typeface="Calibri" pitchFamily="34" charset="0"/>
                <a:ea typeface="Calibri" pitchFamily="34" charset="-122"/>
                <a:cs typeface="Calibri" pitchFamily="34" charset="-120"/>
              </a:rPr>
              <a:t>CRUD Ops</a:t>
            </a:r>
            <a:endParaRPr lang="en-US" sz="950" dirty="0"/>
          </a:p>
        </p:txBody>
      </p:sp>
      <p:sp>
        <p:nvSpPr>
          <p:cNvPr id="61" name="Text 49"/>
          <p:cNvSpPr txBox="1"/>
          <p:nvPr/>
        </p:nvSpPr>
        <p:spPr>
          <a:xfrm>
            <a:off x="8001000" y="3246120"/>
            <a:ext cx="3429000" cy="237744"/>
          </a:xfrm>
          <a:prstGeom prst="rect">
            <a:avLst/>
          </a:prstGeom>
          <a:noFill/>
          <a:ln/>
        </p:spPr>
        <p:txBody>
          <a:bodyPr wrap="square" lIns="0" tIns="0" rIns="0" bIns="0" rtlCol="0" anchor="ctr"/>
          <a:lstStyle/>
          <a:p>
            <a:pPr indent="0" marL="0">
              <a:buNone/>
            </a:pPr>
            <a:r>
              <a:rPr lang="en-US" sz="950" b="1" spc="100" kern="0" dirty="0">
                <a:solidFill>
                  <a:srgbClr val="56688A"/>
                </a:solidFill>
                <a:latin typeface="Calibri" pitchFamily="34" charset="0"/>
                <a:ea typeface="Calibri" pitchFamily="34" charset="-122"/>
                <a:cs typeface="Calibri" pitchFamily="34" charset="-120"/>
              </a:rPr>
              <a:t>DATABASE</a:t>
            </a:r>
            <a:endParaRPr lang="en-US" sz="950" dirty="0"/>
          </a:p>
        </p:txBody>
      </p:sp>
      <p:sp>
        <p:nvSpPr>
          <p:cNvPr id="62" name="Shape 50"/>
          <p:cNvSpPr/>
          <p:nvPr/>
        </p:nvSpPr>
        <p:spPr>
          <a:xfrm>
            <a:off x="8001000" y="3538728"/>
            <a:ext cx="3429000" cy="365760"/>
          </a:xfrm>
          <a:prstGeom prst="roundRect">
            <a:avLst>
              <a:gd name="adj" fmla="val 20000"/>
            </a:avLst>
          </a:prstGeom>
          <a:solidFill>
            <a:srgbClr val="15396E">
              <a:alpha val="85000"/>
            </a:srgbClr>
          </a:solidFill>
          <a:ln w="12700">
            <a:solidFill>
              <a:srgbClr val="4C9BFF"/>
            </a:solidFill>
            <a:prstDash val="solid"/>
          </a:ln>
        </p:spPr>
      </p:sp>
      <p:sp>
        <p:nvSpPr>
          <p:cNvPr id="63" name="Text 51"/>
          <p:cNvSpPr txBox="1"/>
          <p:nvPr/>
        </p:nvSpPr>
        <p:spPr>
          <a:xfrm>
            <a:off x="8001000" y="3538728"/>
            <a:ext cx="3429000" cy="365760"/>
          </a:xfrm>
          <a:prstGeom prst="rect">
            <a:avLst/>
          </a:prstGeom>
          <a:noFill/>
          <a:ln/>
        </p:spPr>
        <p:txBody>
          <a:bodyPr wrap="square" lIns="0" tIns="0" rIns="0" bIns="0" rtlCol="0" anchor="ctr"/>
          <a:lstStyle/>
          <a:p>
            <a:pPr algn="ctr" indent="0" marL="0">
              <a:buNone/>
            </a:pPr>
            <a:r>
              <a:rPr lang="en-US" sz="1100" b="1" dirty="0">
                <a:solidFill>
                  <a:srgbClr val="4C9BFF"/>
                </a:solidFill>
                <a:latin typeface="Consolas" pitchFamily="34" charset="0"/>
                <a:ea typeface="Consolas" pitchFamily="34" charset="-122"/>
                <a:cs typeface="Consolas" pitchFamily="34" charset="-120"/>
              </a:rPr>
              <a:t>school_transport_db</a:t>
            </a:r>
            <a:endParaRPr lang="en-US" sz="1100" dirty="0"/>
          </a:p>
        </p:txBody>
      </p:sp>
      <p:sp>
        <p:nvSpPr>
          <p:cNvPr id="64" name="Text 52"/>
          <p:cNvSpPr txBox="1"/>
          <p:nvPr/>
        </p:nvSpPr>
        <p:spPr>
          <a:xfrm>
            <a:off x="8001000" y="3977640"/>
            <a:ext cx="3429000" cy="274320"/>
          </a:xfrm>
          <a:prstGeom prst="rect">
            <a:avLst/>
          </a:prstGeom>
          <a:noFill/>
          <a:ln/>
        </p:spPr>
        <p:txBody>
          <a:bodyPr wrap="square" lIns="0" tIns="0" rIns="0" bIns="0" rtlCol="0" anchor="ctr"/>
          <a:lstStyle/>
          <a:p>
            <a:pPr indent="0" marL="0">
              <a:buNone/>
            </a:pPr>
            <a:r>
              <a:rPr lang="en-US" sz="900" i="1" dirty="0">
                <a:solidFill>
                  <a:srgbClr val="56688A"/>
                </a:solidFill>
                <a:latin typeface="Calibri" pitchFamily="34" charset="0"/>
                <a:ea typeface="Calibri" pitchFamily="34" charset="-122"/>
                <a:cs typeface="Calibri" pitchFamily="34" charset="-120"/>
              </a:rPr>
              <a:t>9 tables · live connection pool</a:t>
            </a:r>
            <a:endParaRPr lang="en-US" sz="900" dirty="0"/>
          </a:p>
        </p:txBody>
      </p:sp>
      <p:sp>
        <p:nvSpPr>
          <p:cNvPr id="65" name="Text 53"/>
          <p:cNvSpPr txBox="1"/>
          <p:nvPr/>
        </p:nvSpPr>
        <p:spPr>
          <a:xfrm>
            <a:off x="548640" y="5212080"/>
            <a:ext cx="11064240" cy="457200"/>
          </a:xfrm>
          <a:prstGeom prst="rect">
            <a:avLst/>
          </a:prstGeom>
          <a:noFill/>
          <a:ln/>
        </p:spPr>
        <p:txBody>
          <a:bodyPr wrap="square" lIns="0" tIns="0" rIns="0" bIns="0" rtlCol="0" anchor="ctr"/>
          <a:lstStyle/>
          <a:p>
            <a:pPr algn="ctr" indent="0" marL="0">
              <a:buNone/>
            </a:pPr>
            <a:r>
              <a:rPr lang="en-US" sz="1250" i="1" dirty="0">
                <a:solidFill>
                  <a:srgbClr val="93A5C2"/>
                </a:solidFill>
                <a:latin typeface="Calibri" pitchFamily="34" charset="0"/>
                <a:ea typeface="Calibri" pitchFamily="34" charset="-122"/>
                <a:cs typeface="Calibri" pitchFamily="34" charset="-120"/>
              </a:rPr>
              <a:t>Every request flows React → Express → MySQL and back — no mock data, no static JSON, no simulated responses.</a:t>
            </a:r>
            <a:endParaRPr lang="en-US" sz="1250" dirty="0"/>
          </a:p>
        </p:txBody>
      </p:sp>
      <p:sp>
        <p:nvSpPr>
          <p:cNvPr id="66" name="Text 54"/>
          <p:cNvSpPr txBox="1"/>
          <p:nvPr/>
        </p:nvSpPr>
        <p:spPr>
          <a:xfrm>
            <a:off x="548640" y="6528816"/>
            <a:ext cx="8229600" cy="237744"/>
          </a:xfrm>
          <a:prstGeom prst="rect">
            <a:avLst/>
          </a:prstGeom>
          <a:noFill/>
          <a:ln/>
        </p:spPr>
        <p:txBody>
          <a:bodyPr wrap="square" lIns="0" tIns="0" rIns="0" bIns="0" rtlCol="0" anchor="ctr"/>
          <a:lstStyle/>
          <a:p>
            <a:pPr algn="l" indent="0" marL="0">
              <a:buNone/>
            </a:pPr>
            <a:r>
              <a:rPr lang="en-US" sz="800" dirty="0">
                <a:solidFill>
                  <a:srgbClr val="56688A"/>
                </a:solidFill>
                <a:latin typeface="Calibri" pitchFamily="34" charset="0"/>
                <a:ea typeface="Calibri" pitchFamily="34" charset="-122"/>
                <a:cs typeface="Calibri" pitchFamily="34" charset="-120"/>
              </a:rPr>
              <a:t>School Transport Route &amp; Student Pickup Management System — Presentation III</a:t>
            </a:r>
            <a:endParaRPr lang="en-US" sz="800" dirty="0"/>
          </a:p>
        </p:txBody>
      </p:sp>
      <p:sp>
        <p:nvSpPr>
          <p:cNvPr id="67" name="Text 55"/>
          <p:cNvSpPr txBox="1"/>
          <p:nvPr/>
        </p:nvSpPr>
        <p:spPr>
          <a:xfrm>
            <a:off x="11185855" y="6528816"/>
            <a:ext cx="457200" cy="237744"/>
          </a:xfrm>
          <a:prstGeom prst="rect">
            <a:avLst/>
          </a:prstGeom>
          <a:noFill/>
          <a:ln/>
        </p:spPr>
        <p:txBody>
          <a:bodyPr wrap="square" lIns="0" tIns="0" rIns="0" bIns="0" rtlCol="0" anchor="ctr"/>
          <a:lstStyle/>
          <a:p>
            <a:pPr algn="r" indent="0" marL="0">
              <a:buNone/>
            </a:pPr>
            <a:r>
              <a:rPr lang="en-US" sz="800" dirty="0">
                <a:solidFill>
                  <a:srgbClr val="56688A"/>
                </a:solidFill>
                <a:latin typeface="Calibri" pitchFamily="34" charset="0"/>
                <a:ea typeface="Calibri" pitchFamily="34" charset="-122"/>
                <a:cs typeface="Calibri" pitchFamily="34" charset="-120"/>
              </a:rPr>
              <a:t>3 / 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algn="l" indent="0" marL="0">
              <a:buNone/>
            </a:pPr>
            <a:r>
              <a:rPr lang="en-US" sz="1100" b="1" spc="220" kern="0" dirty="0">
                <a:solidFill>
                  <a:srgbClr val="4C9BFF"/>
                </a:solidFill>
                <a:latin typeface="Calibri" pitchFamily="34" charset="0"/>
                <a:ea typeface="Calibri" pitchFamily="34" charset="-122"/>
                <a:cs typeface="Calibri" pitchFamily="34" charset="-120"/>
              </a:rPr>
              <a:t>DATABASE DESIGN</a:t>
            </a:r>
            <a:endParaRPr lang="en-US" sz="1100" dirty="0"/>
          </a:p>
        </p:txBody>
      </p:sp>
      <p:sp>
        <p:nvSpPr>
          <p:cNvPr id="3" name="Text 1"/>
          <p:cNvSpPr txBox="1"/>
          <p:nvPr/>
        </p:nvSpPr>
        <p:spPr>
          <a:xfrm>
            <a:off x="548640" y="658368"/>
            <a:ext cx="10515600" cy="594360"/>
          </a:xfrm>
          <a:prstGeom prst="rect">
            <a:avLst/>
          </a:prstGeom>
          <a:noFill/>
          <a:ln/>
        </p:spPr>
        <p:txBody>
          <a:bodyPr wrap="square" lIns="0" tIns="0" rIns="0" bIns="0" rtlCol="0" anchor="ctr"/>
          <a:lstStyle/>
          <a:p>
            <a:pPr algn="l" indent="0" marL="0">
              <a:buNone/>
            </a:pPr>
            <a:r>
              <a:rPr lang="en-US" sz="2700" b="1" dirty="0">
                <a:solidFill>
                  <a:srgbClr val="F4F8FC"/>
                </a:solidFill>
                <a:latin typeface="Cambria" pitchFamily="34" charset="0"/>
                <a:ea typeface="Cambria" pitchFamily="34" charset="-122"/>
                <a:cs typeface="Cambria" pitchFamily="34" charset="-120"/>
              </a:rPr>
              <a:t>The Database Behind the Transport Network</a:t>
            </a:r>
            <a:endParaRPr lang="en-US" sz="2700" dirty="0"/>
          </a:p>
        </p:txBody>
      </p:sp>
      <p:sp>
        <p:nvSpPr>
          <p:cNvPr id="4" name="Shape 2"/>
          <p:cNvSpPr/>
          <p:nvPr/>
        </p:nvSpPr>
        <p:spPr>
          <a:xfrm>
            <a:off x="3835013" y="2235286"/>
            <a:ext cx="325507" cy="1513754"/>
          </a:xfrm>
          <a:prstGeom prst="line">
            <a:avLst/>
          </a:prstGeom>
          <a:noFill/>
          <a:ln w="25400">
            <a:solidFill>
              <a:srgbClr val="4C9BFF"/>
            </a:solidFill>
            <a:prstDash val="solid"/>
          </a:ln>
        </p:spPr>
      </p:sp>
      <p:sp>
        <p:nvSpPr>
          <p:cNvPr id="5" name="Shape 3"/>
          <p:cNvSpPr/>
          <p:nvPr/>
        </p:nvSpPr>
        <p:spPr>
          <a:xfrm flipV="1">
            <a:off x="4160520" y="2489916"/>
            <a:ext cx="1075181" cy="1259124"/>
          </a:xfrm>
          <a:prstGeom prst="line">
            <a:avLst/>
          </a:prstGeom>
          <a:noFill/>
          <a:ln w="25400">
            <a:solidFill>
              <a:srgbClr val="4C9BFF"/>
            </a:solidFill>
            <a:prstDash val="solid"/>
          </a:ln>
        </p:spPr>
      </p:sp>
      <p:sp>
        <p:nvSpPr>
          <p:cNvPr id="6" name="Shape 4"/>
          <p:cNvSpPr/>
          <p:nvPr/>
        </p:nvSpPr>
        <p:spPr>
          <a:xfrm flipV="1">
            <a:off x="4160520" y="3482124"/>
            <a:ext cx="1846042" cy="266916"/>
          </a:xfrm>
          <a:prstGeom prst="line">
            <a:avLst/>
          </a:prstGeom>
          <a:noFill/>
          <a:ln w="25400">
            <a:solidFill>
              <a:srgbClr val="4C9BFF"/>
            </a:solidFill>
            <a:prstDash val="solid"/>
          </a:ln>
        </p:spPr>
      </p:sp>
      <p:sp>
        <p:nvSpPr>
          <p:cNvPr id="7" name="Shape 5"/>
          <p:cNvSpPr/>
          <p:nvPr/>
        </p:nvSpPr>
        <p:spPr>
          <a:xfrm>
            <a:off x="4160520" y="3749040"/>
            <a:ext cx="1535517" cy="881648"/>
          </a:xfrm>
          <a:prstGeom prst="line">
            <a:avLst/>
          </a:prstGeom>
          <a:noFill/>
          <a:ln w="25400">
            <a:solidFill>
              <a:srgbClr val="4C9BFF"/>
            </a:solidFill>
            <a:prstDash val="solid"/>
          </a:ln>
        </p:spPr>
      </p:sp>
      <p:sp>
        <p:nvSpPr>
          <p:cNvPr id="8" name="Shape 6"/>
          <p:cNvSpPr/>
          <p:nvPr/>
        </p:nvSpPr>
        <p:spPr>
          <a:xfrm>
            <a:off x="4160520" y="3749040"/>
            <a:ext cx="325507" cy="1513754"/>
          </a:xfrm>
          <a:prstGeom prst="line">
            <a:avLst/>
          </a:prstGeom>
          <a:noFill/>
          <a:ln w="25400">
            <a:solidFill>
              <a:srgbClr val="4C9BFF"/>
            </a:solidFill>
            <a:prstDash val="solid"/>
          </a:ln>
        </p:spPr>
      </p:sp>
      <p:sp>
        <p:nvSpPr>
          <p:cNvPr id="9" name="Shape 7"/>
          <p:cNvSpPr/>
          <p:nvPr/>
        </p:nvSpPr>
        <p:spPr>
          <a:xfrm flipV="1">
            <a:off x="3085339" y="3749040"/>
            <a:ext cx="1075181" cy="1259124"/>
          </a:xfrm>
          <a:prstGeom prst="line">
            <a:avLst/>
          </a:prstGeom>
          <a:noFill/>
          <a:ln w="15875">
            <a:solidFill>
              <a:srgbClr val="56688A"/>
            </a:solidFill>
            <a:prstDash val="dash"/>
          </a:ln>
        </p:spPr>
      </p:sp>
      <p:sp>
        <p:nvSpPr>
          <p:cNvPr id="10" name="Shape 8"/>
          <p:cNvSpPr/>
          <p:nvPr/>
        </p:nvSpPr>
        <p:spPr>
          <a:xfrm flipV="1">
            <a:off x="2314478" y="3749040"/>
            <a:ext cx="1846042" cy="266916"/>
          </a:xfrm>
          <a:prstGeom prst="line">
            <a:avLst/>
          </a:prstGeom>
          <a:noFill/>
          <a:ln w="15875">
            <a:solidFill>
              <a:srgbClr val="56688A"/>
            </a:solidFill>
            <a:prstDash val="dash"/>
          </a:ln>
        </p:spPr>
      </p:sp>
      <p:sp>
        <p:nvSpPr>
          <p:cNvPr id="11" name="Shape 9"/>
          <p:cNvSpPr/>
          <p:nvPr/>
        </p:nvSpPr>
        <p:spPr>
          <a:xfrm>
            <a:off x="2625003" y="2867392"/>
            <a:ext cx="1535517" cy="881648"/>
          </a:xfrm>
          <a:prstGeom prst="line">
            <a:avLst/>
          </a:prstGeom>
          <a:noFill/>
          <a:ln w="15875">
            <a:solidFill>
              <a:srgbClr val="56688A"/>
            </a:solidFill>
            <a:prstDash val="dash"/>
          </a:ln>
        </p:spPr>
      </p:sp>
      <p:sp>
        <p:nvSpPr>
          <p:cNvPr id="12" name="Shape 10"/>
          <p:cNvSpPr/>
          <p:nvPr/>
        </p:nvSpPr>
        <p:spPr>
          <a:xfrm>
            <a:off x="3383280" y="3291840"/>
            <a:ext cx="1554480" cy="914400"/>
          </a:xfrm>
          <a:prstGeom prst="roundRect">
            <a:avLst>
              <a:gd name="adj" fmla="val 50000"/>
            </a:avLst>
          </a:prstGeom>
          <a:solidFill>
            <a:srgbClr val="15396E">
              <a:alpha val="90000"/>
            </a:srgbClr>
          </a:solidFill>
          <a:ln w="19050">
            <a:solidFill>
              <a:srgbClr val="4C9BFF"/>
            </a:solidFill>
            <a:prstDash val="solid"/>
          </a:ln>
          <a:effectLst>
            <a:outerShdw sx="100000" sy="100000" kx="0" ky="0" algn="bl" rotWithShape="0" blurRad="127000" dist="38100" dir="5400000">
              <a:srgbClr val="000000">
                <a:alpha val="45000"/>
              </a:srgbClr>
            </a:outerShdw>
          </a:effectLst>
        </p:spPr>
      </p:sp>
      <p:sp>
        <p:nvSpPr>
          <p:cNvPr id="13" name="Shape 11"/>
          <p:cNvSpPr/>
          <p:nvPr/>
        </p:nvSpPr>
        <p:spPr>
          <a:xfrm>
            <a:off x="3835908" y="3424428"/>
            <a:ext cx="649224" cy="649224"/>
          </a:xfrm>
          <a:prstGeom prst="ellipse">
            <a:avLst/>
          </a:prstGeom>
          <a:solidFill>
            <a:srgbClr val="000000">
              <a:alpha val="25000"/>
            </a:srgbClr>
          </a:solidFill>
          <a:ln/>
        </p:spPr>
      </p:sp>
      <p:pic>
        <p:nvPicPr>
          <p:cNvPr id="14" name="Image 0" descr="preencoded.png">    </p:cNvPr>
          <p:cNvPicPr>
            <a:picLocks noChangeAspect="1"/>
          </p:cNvPicPr>
          <p:nvPr/>
        </p:nvPicPr>
        <p:blipFill>
          <a:blip r:embed="rId2"/>
          <a:stretch>
            <a:fillRect/>
          </a:stretch>
        </p:blipFill>
        <p:spPr>
          <a:xfrm>
            <a:off x="3858768" y="3447288"/>
            <a:ext cx="603504" cy="603504"/>
          </a:xfrm>
          <a:prstGeom prst="rect">
            <a:avLst/>
          </a:prstGeom>
        </p:spPr>
      </p:pic>
      <p:pic>
        <p:nvPicPr>
          <p:cNvPr id="15" name="Image 1" descr="preencoded.png">    </p:cNvPr>
          <p:cNvPicPr>
            <a:picLocks noChangeAspect="1"/>
          </p:cNvPicPr>
          <p:nvPr/>
        </p:nvPicPr>
        <p:blipFill>
          <a:blip r:embed="rId3"/>
          <a:stretch>
            <a:fillRect/>
          </a:stretch>
        </p:blipFill>
        <p:spPr>
          <a:xfrm>
            <a:off x="4009644" y="3598164"/>
            <a:ext cx="301752" cy="301752"/>
          </a:xfrm>
          <a:prstGeom prst="rect">
            <a:avLst/>
          </a:prstGeom>
        </p:spPr>
      </p:pic>
      <p:sp>
        <p:nvSpPr>
          <p:cNvPr id="16" name="Text 12"/>
          <p:cNvSpPr txBox="1"/>
          <p:nvPr/>
        </p:nvSpPr>
        <p:spPr>
          <a:xfrm>
            <a:off x="3383280" y="3950208"/>
            <a:ext cx="1554480" cy="274320"/>
          </a:xfrm>
          <a:prstGeom prst="rect">
            <a:avLst/>
          </a:prstGeom>
          <a:noFill/>
          <a:ln/>
        </p:spPr>
        <p:txBody>
          <a:bodyPr wrap="square" lIns="0" tIns="0" rIns="0" bIns="0" rtlCol="0" anchor="ctr"/>
          <a:lstStyle/>
          <a:p>
            <a:pPr algn="ctr" indent="0" marL="0">
              <a:buNone/>
            </a:pPr>
            <a:r>
              <a:rPr lang="en-US" sz="1050" b="1" dirty="0">
                <a:solidFill>
                  <a:srgbClr val="F4F8FC"/>
                </a:solidFill>
                <a:latin typeface="Calibri" pitchFamily="34" charset="0"/>
                <a:ea typeface="Calibri" pitchFamily="34" charset="-122"/>
                <a:cs typeface="Calibri" pitchFamily="34" charset="-120"/>
              </a:rPr>
              <a:t>STUDENT</a:t>
            </a:r>
            <a:endParaRPr lang="en-US" sz="1050" dirty="0"/>
          </a:p>
        </p:txBody>
      </p:sp>
      <p:sp>
        <p:nvSpPr>
          <p:cNvPr id="17" name="Shape 13"/>
          <p:cNvSpPr/>
          <p:nvPr/>
        </p:nvSpPr>
        <p:spPr>
          <a:xfrm>
            <a:off x="3455537" y="1709506"/>
            <a:ext cx="758952" cy="758952"/>
          </a:xfrm>
          <a:prstGeom prst="ellipse">
            <a:avLst/>
          </a:prstGeom>
          <a:solidFill>
            <a:srgbClr val="000000">
              <a:alpha val="25000"/>
            </a:srgbClr>
          </a:solidFill>
          <a:ln/>
        </p:spPr>
      </p:sp>
      <p:pic>
        <p:nvPicPr>
          <p:cNvPr id="18" name="Image 2" descr="preencoded.png">    </p:cNvPr>
          <p:cNvPicPr>
            <a:picLocks noChangeAspect="1"/>
          </p:cNvPicPr>
          <p:nvPr/>
        </p:nvPicPr>
        <p:blipFill>
          <a:blip r:embed="rId4"/>
          <a:stretch>
            <a:fillRect/>
          </a:stretch>
        </p:blipFill>
        <p:spPr>
          <a:xfrm>
            <a:off x="3478397" y="1732366"/>
            <a:ext cx="713232" cy="713232"/>
          </a:xfrm>
          <a:prstGeom prst="rect">
            <a:avLst/>
          </a:prstGeom>
        </p:spPr>
      </p:pic>
      <p:pic>
        <p:nvPicPr>
          <p:cNvPr id="19" name="Image 3" descr="preencoded.png">    </p:cNvPr>
          <p:cNvPicPr>
            <a:picLocks noChangeAspect="1"/>
          </p:cNvPicPr>
          <p:nvPr/>
        </p:nvPicPr>
        <p:blipFill>
          <a:blip r:embed="rId5"/>
          <a:stretch>
            <a:fillRect/>
          </a:stretch>
        </p:blipFill>
        <p:spPr>
          <a:xfrm>
            <a:off x="3656705" y="1910674"/>
            <a:ext cx="356616" cy="356616"/>
          </a:xfrm>
          <a:prstGeom prst="rect">
            <a:avLst/>
          </a:prstGeom>
        </p:spPr>
      </p:pic>
      <p:sp>
        <p:nvSpPr>
          <p:cNvPr id="20" name="Text 14"/>
          <p:cNvSpPr txBox="1"/>
          <p:nvPr/>
        </p:nvSpPr>
        <p:spPr>
          <a:xfrm>
            <a:off x="3240653" y="2500462"/>
            <a:ext cx="1188720" cy="457200"/>
          </a:xfrm>
          <a:prstGeom prst="rect">
            <a:avLst/>
          </a:prstGeom>
          <a:noFill/>
          <a:ln/>
        </p:spPr>
        <p:txBody>
          <a:bodyPr wrap="square" lIns="0" tIns="0" rIns="0" bIns="0" rtlCol="0" anchor="ctr"/>
          <a:lstStyle/>
          <a:p>
            <a:pPr algn="ctr" indent="0" marL="0">
              <a:lnSpc>
                <a:spcPct val="100000"/>
              </a:lnSpc>
              <a:buNone/>
            </a:pPr>
            <a:r>
              <a:rPr lang="en-US" sz="900" b="1" dirty="0">
                <a:solidFill>
                  <a:srgbClr val="F4F8FC"/>
                </a:solidFill>
                <a:latin typeface="Calibri" pitchFamily="34" charset="0"/>
                <a:ea typeface="Calibri" pitchFamily="34" charset="-122"/>
                <a:cs typeface="Calibri" pitchFamily="34" charset="-120"/>
              </a:rPr>
              <a:t>STUDENT_</a:t>
            </a:r>
            <a:endParaRPr lang="en-US" sz="900" dirty="0"/>
          </a:p>
          <a:p>
            <a:pPr algn="ctr" indent="0" marL="0">
              <a:lnSpc>
                <a:spcPct val="100000"/>
              </a:lnSpc>
              <a:buNone/>
            </a:pPr>
            <a:r>
              <a:rPr lang="en-US" sz="900" b="1" dirty="0">
                <a:solidFill>
                  <a:srgbClr val="F4F8FC"/>
                </a:solidFill>
                <a:latin typeface="Calibri" pitchFamily="34" charset="0"/>
                <a:ea typeface="Calibri" pitchFamily="34" charset="-122"/>
                <a:cs typeface="Calibri" pitchFamily="34" charset="-120"/>
              </a:rPr>
              <a:t>TRANSPORT</a:t>
            </a:r>
            <a:endParaRPr lang="en-US" sz="900" dirty="0"/>
          </a:p>
        </p:txBody>
      </p:sp>
      <p:sp>
        <p:nvSpPr>
          <p:cNvPr id="21" name="Shape 15"/>
          <p:cNvSpPr/>
          <p:nvPr/>
        </p:nvSpPr>
        <p:spPr>
          <a:xfrm>
            <a:off x="4856225" y="1964136"/>
            <a:ext cx="758952" cy="758952"/>
          </a:xfrm>
          <a:prstGeom prst="ellipse">
            <a:avLst/>
          </a:prstGeom>
          <a:solidFill>
            <a:srgbClr val="000000">
              <a:alpha val="25000"/>
            </a:srgbClr>
          </a:solidFill>
          <a:ln/>
        </p:spPr>
      </p:sp>
      <p:pic>
        <p:nvPicPr>
          <p:cNvPr id="22" name="Image 4" descr="preencoded.png">    </p:cNvPr>
          <p:cNvPicPr>
            <a:picLocks noChangeAspect="1"/>
          </p:cNvPicPr>
          <p:nvPr/>
        </p:nvPicPr>
        <p:blipFill>
          <a:blip r:embed="rId6"/>
          <a:stretch>
            <a:fillRect/>
          </a:stretch>
        </p:blipFill>
        <p:spPr>
          <a:xfrm>
            <a:off x="4879085" y="1986996"/>
            <a:ext cx="713232" cy="713232"/>
          </a:xfrm>
          <a:prstGeom prst="rect">
            <a:avLst/>
          </a:prstGeom>
        </p:spPr>
      </p:pic>
      <p:pic>
        <p:nvPicPr>
          <p:cNvPr id="23" name="Image 5" descr="preencoded.png">    </p:cNvPr>
          <p:cNvPicPr>
            <a:picLocks noChangeAspect="1"/>
          </p:cNvPicPr>
          <p:nvPr/>
        </p:nvPicPr>
        <p:blipFill>
          <a:blip r:embed="rId7"/>
          <a:stretch>
            <a:fillRect/>
          </a:stretch>
        </p:blipFill>
        <p:spPr>
          <a:xfrm>
            <a:off x="5057393" y="2165304"/>
            <a:ext cx="356616" cy="356616"/>
          </a:xfrm>
          <a:prstGeom prst="rect">
            <a:avLst/>
          </a:prstGeom>
        </p:spPr>
      </p:pic>
      <p:sp>
        <p:nvSpPr>
          <p:cNvPr id="24" name="Text 16"/>
          <p:cNvSpPr txBox="1"/>
          <p:nvPr/>
        </p:nvSpPr>
        <p:spPr>
          <a:xfrm>
            <a:off x="4641341" y="2755092"/>
            <a:ext cx="1188720" cy="457200"/>
          </a:xfrm>
          <a:prstGeom prst="rect">
            <a:avLst/>
          </a:prstGeom>
          <a:noFill/>
          <a:ln/>
        </p:spPr>
        <p:txBody>
          <a:bodyPr wrap="square" lIns="0" tIns="0" rIns="0" bIns="0" rtlCol="0" anchor="ctr"/>
          <a:lstStyle/>
          <a:p>
            <a:pPr algn="ctr" indent="0" marL="0">
              <a:lnSpc>
                <a:spcPct val="100000"/>
              </a:lnSpc>
              <a:buNone/>
            </a:pPr>
            <a:r>
              <a:rPr lang="en-US" sz="900" b="1" dirty="0">
                <a:solidFill>
                  <a:srgbClr val="F4F8FC"/>
                </a:solidFill>
                <a:latin typeface="Calibri" pitchFamily="34" charset="0"/>
                <a:ea typeface="Calibri" pitchFamily="34" charset="-122"/>
                <a:cs typeface="Calibri" pitchFamily="34" charset="-120"/>
              </a:rPr>
              <a:t>PICKUP_</a:t>
            </a:r>
            <a:endParaRPr lang="en-US" sz="900" dirty="0"/>
          </a:p>
          <a:p>
            <a:pPr algn="ctr" indent="0" marL="0">
              <a:lnSpc>
                <a:spcPct val="100000"/>
              </a:lnSpc>
              <a:buNone/>
            </a:pPr>
            <a:r>
              <a:rPr lang="en-US" sz="900" b="1" dirty="0">
                <a:solidFill>
                  <a:srgbClr val="F4F8FC"/>
                </a:solidFill>
                <a:latin typeface="Calibri" pitchFamily="34" charset="0"/>
                <a:ea typeface="Calibri" pitchFamily="34" charset="-122"/>
                <a:cs typeface="Calibri" pitchFamily="34" charset="-120"/>
              </a:rPr>
              <a:t>POINT</a:t>
            </a:r>
            <a:endParaRPr lang="en-US" sz="900" dirty="0"/>
          </a:p>
        </p:txBody>
      </p:sp>
      <p:sp>
        <p:nvSpPr>
          <p:cNvPr id="25" name="Shape 17"/>
          <p:cNvSpPr/>
          <p:nvPr/>
        </p:nvSpPr>
        <p:spPr>
          <a:xfrm>
            <a:off x="5627086" y="2956344"/>
            <a:ext cx="758952" cy="758952"/>
          </a:xfrm>
          <a:prstGeom prst="ellipse">
            <a:avLst/>
          </a:prstGeom>
          <a:solidFill>
            <a:srgbClr val="000000">
              <a:alpha val="25000"/>
            </a:srgbClr>
          </a:solidFill>
          <a:ln/>
        </p:spPr>
      </p:sp>
      <p:pic>
        <p:nvPicPr>
          <p:cNvPr id="26" name="Image 6" descr="preencoded.png">    </p:cNvPr>
          <p:cNvPicPr>
            <a:picLocks noChangeAspect="1"/>
          </p:cNvPicPr>
          <p:nvPr/>
        </p:nvPicPr>
        <p:blipFill>
          <a:blip r:embed="rId8"/>
          <a:stretch>
            <a:fillRect/>
          </a:stretch>
        </p:blipFill>
        <p:spPr>
          <a:xfrm>
            <a:off x="5649946" y="2979204"/>
            <a:ext cx="713232" cy="713232"/>
          </a:xfrm>
          <a:prstGeom prst="rect">
            <a:avLst/>
          </a:prstGeom>
        </p:spPr>
      </p:pic>
      <p:pic>
        <p:nvPicPr>
          <p:cNvPr id="27" name="Image 7" descr="preencoded.png">    </p:cNvPr>
          <p:cNvPicPr>
            <a:picLocks noChangeAspect="1"/>
          </p:cNvPicPr>
          <p:nvPr/>
        </p:nvPicPr>
        <p:blipFill>
          <a:blip r:embed="rId9"/>
          <a:stretch>
            <a:fillRect/>
          </a:stretch>
        </p:blipFill>
        <p:spPr>
          <a:xfrm>
            <a:off x="5828254" y="3157512"/>
            <a:ext cx="356616" cy="356616"/>
          </a:xfrm>
          <a:prstGeom prst="rect">
            <a:avLst/>
          </a:prstGeom>
        </p:spPr>
      </p:pic>
      <p:sp>
        <p:nvSpPr>
          <p:cNvPr id="28" name="Text 18"/>
          <p:cNvSpPr txBox="1"/>
          <p:nvPr/>
        </p:nvSpPr>
        <p:spPr>
          <a:xfrm>
            <a:off x="5412202" y="3747300"/>
            <a:ext cx="1188720" cy="457200"/>
          </a:xfrm>
          <a:prstGeom prst="rect">
            <a:avLst/>
          </a:prstGeom>
          <a:noFill/>
          <a:ln/>
        </p:spPr>
        <p:txBody>
          <a:bodyPr wrap="square" lIns="0" tIns="0" rIns="0" bIns="0" rtlCol="0" anchor="ctr"/>
          <a:lstStyle/>
          <a:p>
            <a:pPr algn="ctr" indent="0" marL="0">
              <a:lnSpc>
                <a:spcPct val="100000"/>
              </a:lnSpc>
              <a:buNone/>
            </a:pPr>
            <a:r>
              <a:rPr lang="en-US" sz="900" b="1" dirty="0">
                <a:solidFill>
                  <a:srgbClr val="F4F8FC"/>
                </a:solidFill>
                <a:latin typeface="Calibri" pitchFamily="34" charset="0"/>
                <a:ea typeface="Calibri" pitchFamily="34" charset="-122"/>
                <a:cs typeface="Calibri" pitchFamily="34" charset="-120"/>
              </a:rPr>
              <a:t>ROUTE</a:t>
            </a:r>
            <a:endParaRPr lang="en-US" sz="900" dirty="0"/>
          </a:p>
        </p:txBody>
      </p:sp>
      <p:sp>
        <p:nvSpPr>
          <p:cNvPr id="29" name="Shape 19"/>
          <p:cNvSpPr/>
          <p:nvPr/>
        </p:nvSpPr>
        <p:spPr>
          <a:xfrm>
            <a:off x="5316561" y="4104908"/>
            <a:ext cx="758952" cy="758952"/>
          </a:xfrm>
          <a:prstGeom prst="ellipse">
            <a:avLst/>
          </a:prstGeom>
          <a:solidFill>
            <a:srgbClr val="000000">
              <a:alpha val="25000"/>
            </a:srgbClr>
          </a:solidFill>
          <a:ln/>
        </p:spPr>
      </p:sp>
      <p:pic>
        <p:nvPicPr>
          <p:cNvPr id="30" name="Image 8" descr="preencoded.png">    </p:cNvPr>
          <p:cNvPicPr>
            <a:picLocks noChangeAspect="1"/>
          </p:cNvPicPr>
          <p:nvPr/>
        </p:nvPicPr>
        <p:blipFill>
          <a:blip r:embed="rId10"/>
          <a:stretch>
            <a:fillRect/>
          </a:stretch>
        </p:blipFill>
        <p:spPr>
          <a:xfrm>
            <a:off x="5339421" y="4127768"/>
            <a:ext cx="713232" cy="713232"/>
          </a:xfrm>
          <a:prstGeom prst="rect">
            <a:avLst/>
          </a:prstGeom>
        </p:spPr>
      </p:pic>
      <p:pic>
        <p:nvPicPr>
          <p:cNvPr id="31" name="Image 9" descr="preencoded.png">    </p:cNvPr>
          <p:cNvPicPr>
            <a:picLocks noChangeAspect="1"/>
          </p:cNvPicPr>
          <p:nvPr/>
        </p:nvPicPr>
        <p:blipFill>
          <a:blip r:embed="rId11"/>
          <a:stretch>
            <a:fillRect/>
          </a:stretch>
        </p:blipFill>
        <p:spPr>
          <a:xfrm>
            <a:off x="5517729" y="4306076"/>
            <a:ext cx="356616" cy="356616"/>
          </a:xfrm>
          <a:prstGeom prst="rect">
            <a:avLst/>
          </a:prstGeom>
        </p:spPr>
      </p:pic>
      <p:sp>
        <p:nvSpPr>
          <p:cNvPr id="32" name="Text 20"/>
          <p:cNvSpPr txBox="1"/>
          <p:nvPr/>
        </p:nvSpPr>
        <p:spPr>
          <a:xfrm>
            <a:off x="5101677" y="4895864"/>
            <a:ext cx="1188720" cy="457200"/>
          </a:xfrm>
          <a:prstGeom prst="rect">
            <a:avLst/>
          </a:prstGeom>
          <a:noFill/>
          <a:ln/>
        </p:spPr>
        <p:txBody>
          <a:bodyPr wrap="square" lIns="0" tIns="0" rIns="0" bIns="0" rtlCol="0" anchor="ctr"/>
          <a:lstStyle/>
          <a:p>
            <a:pPr algn="ctr" indent="0" marL="0">
              <a:lnSpc>
                <a:spcPct val="100000"/>
              </a:lnSpc>
              <a:buNone/>
            </a:pPr>
            <a:r>
              <a:rPr lang="en-US" sz="900" b="1" dirty="0">
                <a:solidFill>
                  <a:srgbClr val="F4F8FC"/>
                </a:solidFill>
                <a:latin typeface="Calibri" pitchFamily="34" charset="0"/>
                <a:ea typeface="Calibri" pitchFamily="34" charset="-122"/>
                <a:cs typeface="Calibri" pitchFamily="34" charset="-120"/>
              </a:rPr>
              <a:t>BUS</a:t>
            </a:r>
            <a:endParaRPr lang="en-US" sz="900" dirty="0"/>
          </a:p>
        </p:txBody>
      </p:sp>
      <p:sp>
        <p:nvSpPr>
          <p:cNvPr id="33" name="Shape 21"/>
          <p:cNvSpPr/>
          <p:nvPr/>
        </p:nvSpPr>
        <p:spPr>
          <a:xfrm>
            <a:off x="4106551" y="4737014"/>
            <a:ext cx="758952" cy="758952"/>
          </a:xfrm>
          <a:prstGeom prst="ellipse">
            <a:avLst/>
          </a:prstGeom>
          <a:solidFill>
            <a:srgbClr val="000000">
              <a:alpha val="25000"/>
            </a:srgbClr>
          </a:solidFill>
          <a:ln/>
        </p:spPr>
      </p:sp>
      <p:pic>
        <p:nvPicPr>
          <p:cNvPr id="34" name="Image 10" descr="preencoded.png">    </p:cNvPr>
          <p:cNvPicPr>
            <a:picLocks noChangeAspect="1"/>
          </p:cNvPicPr>
          <p:nvPr/>
        </p:nvPicPr>
        <p:blipFill>
          <a:blip r:embed="rId12"/>
          <a:stretch>
            <a:fillRect/>
          </a:stretch>
        </p:blipFill>
        <p:spPr>
          <a:xfrm>
            <a:off x="4129411" y="4759874"/>
            <a:ext cx="713232" cy="713232"/>
          </a:xfrm>
          <a:prstGeom prst="rect">
            <a:avLst/>
          </a:prstGeom>
        </p:spPr>
      </p:pic>
      <p:pic>
        <p:nvPicPr>
          <p:cNvPr id="35" name="Image 11" descr="preencoded.png">    </p:cNvPr>
          <p:cNvPicPr>
            <a:picLocks noChangeAspect="1"/>
          </p:cNvPicPr>
          <p:nvPr/>
        </p:nvPicPr>
        <p:blipFill>
          <a:blip r:embed="rId13"/>
          <a:stretch>
            <a:fillRect/>
          </a:stretch>
        </p:blipFill>
        <p:spPr>
          <a:xfrm>
            <a:off x="4307719" y="4938182"/>
            <a:ext cx="356616" cy="356616"/>
          </a:xfrm>
          <a:prstGeom prst="rect">
            <a:avLst/>
          </a:prstGeom>
        </p:spPr>
      </p:pic>
      <p:sp>
        <p:nvSpPr>
          <p:cNvPr id="36" name="Text 22"/>
          <p:cNvSpPr txBox="1"/>
          <p:nvPr/>
        </p:nvSpPr>
        <p:spPr>
          <a:xfrm>
            <a:off x="3891667" y="5527970"/>
            <a:ext cx="1188720" cy="457200"/>
          </a:xfrm>
          <a:prstGeom prst="rect">
            <a:avLst/>
          </a:prstGeom>
          <a:noFill/>
          <a:ln/>
        </p:spPr>
        <p:txBody>
          <a:bodyPr wrap="square" lIns="0" tIns="0" rIns="0" bIns="0" rtlCol="0" anchor="ctr"/>
          <a:lstStyle/>
          <a:p>
            <a:pPr algn="ctr" indent="0" marL="0">
              <a:lnSpc>
                <a:spcPct val="100000"/>
              </a:lnSpc>
              <a:buNone/>
            </a:pPr>
            <a:r>
              <a:rPr lang="en-US" sz="900" b="1" dirty="0">
                <a:solidFill>
                  <a:srgbClr val="F4F8FC"/>
                </a:solidFill>
                <a:latin typeface="Calibri" pitchFamily="34" charset="0"/>
                <a:ea typeface="Calibri" pitchFamily="34" charset="-122"/>
                <a:cs typeface="Calibri" pitchFamily="34" charset="-120"/>
              </a:rPr>
              <a:t>DRIVER</a:t>
            </a:r>
            <a:endParaRPr lang="en-US" sz="900" dirty="0"/>
          </a:p>
        </p:txBody>
      </p:sp>
      <p:sp>
        <p:nvSpPr>
          <p:cNvPr id="37" name="Shape 23"/>
          <p:cNvSpPr/>
          <p:nvPr/>
        </p:nvSpPr>
        <p:spPr>
          <a:xfrm>
            <a:off x="2705863" y="4482384"/>
            <a:ext cx="758952" cy="758952"/>
          </a:xfrm>
          <a:prstGeom prst="ellipse">
            <a:avLst/>
          </a:prstGeom>
          <a:solidFill>
            <a:srgbClr val="000000">
              <a:alpha val="25000"/>
            </a:srgbClr>
          </a:solidFill>
          <a:ln/>
        </p:spPr>
      </p:sp>
      <p:pic>
        <p:nvPicPr>
          <p:cNvPr id="38" name="Image 12" descr="preencoded.png">    </p:cNvPr>
          <p:cNvPicPr>
            <a:picLocks noChangeAspect="1"/>
          </p:cNvPicPr>
          <p:nvPr/>
        </p:nvPicPr>
        <p:blipFill>
          <a:blip r:embed="rId14"/>
          <a:stretch>
            <a:fillRect/>
          </a:stretch>
        </p:blipFill>
        <p:spPr>
          <a:xfrm>
            <a:off x="2728723" y="4505244"/>
            <a:ext cx="713232" cy="713232"/>
          </a:xfrm>
          <a:prstGeom prst="rect">
            <a:avLst/>
          </a:prstGeom>
        </p:spPr>
      </p:pic>
      <p:pic>
        <p:nvPicPr>
          <p:cNvPr id="39" name="Image 13" descr="preencoded.png">    </p:cNvPr>
          <p:cNvPicPr>
            <a:picLocks noChangeAspect="1"/>
          </p:cNvPicPr>
          <p:nvPr/>
        </p:nvPicPr>
        <p:blipFill>
          <a:blip r:embed="rId15"/>
          <a:stretch>
            <a:fillRect/>
          </a:stretch>
        </p:blipFill>
        <p:spPr>
          <a:xfrm>
            <a:off x="2907031" y="4683552"/>
            <a:ext cx="356616" cy="356616"/>
          </a:xfrm>
          <a:prstGeom prst="rect">
            <a:avLst/>
          </a:prstGeom>
        </p:spPr>
      </p:pic>
      <p:sp>
        <p:nvSpPr>
          <p:cNvPr id="40" name="Text 24"/>
          <p:cNvSpPr txBox="1"/>
          <p:nvPr/>
        </p:nvSpPr>
        <p:spPr>
          <a:xfrm>
            <a:off x="2490979" y="5273340"/>
            <a:ext cx="1188720" cy="457200"/>
          </a:xfrm>
          <a:prstGeom prst="rect">
            <a:avLst/>
          </a:prstGeom>
          <a:noFill/>
          <a:ln/>
        </p:spPr>
        <p:txBody>
          <a:bodyPr wrap="square" lIns="0" tIns="0" rIns="0" bIns="0" rtlCol="0" anchor="ctr"/>
          <a:lstStyle/>
          <a:p>
            <a:pPr algn="ctr" indent="0" marL="0">
              <a:lnSpc>
                <a:spcPct val="100000"/>
              </a:lnSpc>
              <a:buNone/>
            </a:pPr>
            <a:r>
              <a:rPr lang="en-US" sz="900" b="1" dirty="0">
                <a:solidFill>
                  <a:srgbClr val="93A5C2"/>
                </a:solidFill>
                <a:latin typeface="Calibri" pitchFamily="34" charset="0"/>
                <a:ea typeface="Calibri" pitchFamily="34" charset="-122"/>
                <a:cs typeface="Calibri" pitchFamily="34" charset="-120"/>
              </a:rPr>
              <a:t>TRANSPORT_</a:t>
            </a:r>
            <a:endParaRPr lang="en-US" sz="900" dirty="0"/>
          </a:p>
          <a:p>
            <a:pPr algn="ctr" indent="0" marL="0">
              <a:lnSpc>
                <a:spcPct val="100000"/>
              </a:lnSpc>
              <a:buNone/>
            </a:pPr>
            <a:r>
              <a:rPr lang="en-US" sz="900" b="1" dirty="0">
                <a:solidFill>
                  <a:srgbClr val="93A5C2"/>
                </a:solidFill>
                <a:latin typeface="Calibri" pitchFamily="34" charset="0"/>
                <a:ea typeface="Calibri" pitchFamily="34" charset="-122"/>
                <a:cs typeface="Calibri" pitchFamily="34" charset="-120"/>
              </a:rPr>
              <a:t>FEE</a:t>
            </a:r>
            <a:endParaRPr lang="en-US" sz="900" dirty="0"/>
          </a:p>
        </p:txBody>
      </p:sp>
      <p:sp>
        <p:nvSpPr>
          <p:cNvPr id="41" name="Shape 25"/>
          <p:cNvSpPr/>
          <p:nvPr/>
        </p:nvSpPr>
        <p:spPr>
          <a:xfrm>
            <a:off x="1935002" y="3490176"/>
            <a:ext cx="758952" cy="758952"/>
          </a:xfrm>
          <a:prstGeom prst="ellipse">
            <a:avLst/>
          </a:prstGeom>
          <a:solidFill>
            <a:srgbClr val="000000">
              <a:alpha val="25000"/>
            </a:srgbClr>
          </a:solidFill>
          <a:ln/>
        </p:spPr>
      </p:sp>
      <p:pic>
        <p:nvPicPr>
          <p:cNvPr id="42" name="Image 14" descr="preencoded.png">    </p:cNvPr>
          <p:cNvPicPr>
            <a:picLocks noChangeAspect="1"/>
          </p:cNvPicPr>
          <p:nvPr/>
        </p:nvPicPr>
        <p:blipFill>
          <a:blip r:embed="rId16"/>
          <a:stretch>
            <a:fillRect/>
          </a:stretch>
        </p:blipFill>
        <p:spPr>
          <a:xfrm>
            <a:off x="1957862" y="3513036"/>
            <a:ext cx="713232" cy="713232"/>
          </a:xfrm>
          <a:prstGeom prst="rect">
            <a:avLst/>
          </a:prstGeom>
        </p:spPr>
      </p:pic>
      <p:pic>
        <p:nvPicPr>
          <p:cNvPr id="43" name="Image 15" descr="preencoded.png">    </p:cNvPr>
          <p:cNvPicPr>
            <a:picLocks noChangeAspect="1"/>
          </p:cNvPicPr>
          <p:nvPr/>
        </p:nvPicPr>
        <p:blipFill>
          <a:blip r:embed="rId17"/>
          <a:stretch>
            <a:fillRect/>
          </a:stretch>
        </p:blipFill>
        <p:spPr>
          <a:xfrm>
            <a:off x="2136170" y="3691344"/>
            <a:ext cx="356616" cy="356616"/>
          </a:xfrm>
          <a:prstGeom prst="rect">
            <a:avLst/>
          </a:prstGeom>
        </p:spPr>
      </p:pic>
      <p:sp>
        <p:nvSpPr>
          <p:cNvPr id="44" name="Text 26"/>
          <p:cNvSpPr txBox="1"/>
          <p:nvPr/>
        </p:nvSpPr>
        <p:spPr>
          <a:xfrm>
            <a:off x="1720118" y="4281132"/>
            <a:ext cx="1188720" cy="457200"/>
          </a:xfrm>
          <a:prstGeom prst="rect">
            <a:avLst/>
          </a:prstGeom>
          <a:noFill/>
          <a:ln/>
        </p:spPr>
        <p:txBody>
          <a:bodyPr wrap="square" lIns="0" tIns="0" rIns="0" bIns="0" rtlCol="0" anchor="ctr"/>
          <a:lstStyle/>
          <a:p>
            <a:pPr algn="ctr" indent="0" marL="0">
              <a:lnSpc>
                <a:spcPct val="100000"/>
              </a:lnSpc>
              <a:buNone/>
            </a:pPr>
            <a:r>
              <a:rPr lang="en-US" sz="900" b="1" dirty="0">
                <a:solidFill>
                  <a:srgbClr val="93A5C2"/>
                </a:solidFill>
                <a:latin typeface="Calibri" pitchFamily="34" charset="0"/>
                <a:ea typeface="Calibri" pitchFamily="34" charset="-122"/>
                <a:cs typeface="Calibri" pitchFamily="34" charset="-120"/>
              </a:rPr>
              <a:t>PICKUP_</a:t>
            </a:r>
            <a:endParaRPr lang="en-US" sz="900" dirty="0"/>
          </a:p>
          <a:p>
            <a:pPr algn="ctr" indent="0" marL="0">
              <a:lnSpc>
                <a:spcPct val="100000"/>
              </a:lnSpc>
              <a:buNone/>
            </a:pPr>
            <a:r>
              <a:rPr lang="en-US" sz="900" b="1" dirty="0">
                <a:solidFill>
                  <a:srgbClr val="93A5C2"/>
                </a:solidFill>
                <a:latin typeface="Calibri" pitchFamily="34" charset="0"/>
                <a:ea typeface="Calibri" pitchFamily="34" charset="-122"/>
                <a:cs typeface="Calibri" pitchFamily="34" charset="-120"/>
              </a:rPr>
              <a:t>RECORD</a:t>
            </a:r>
            <a:endParaRPr lang="en-US" sz="900" dirty="0"/>
          </a:p>
        </p:txBody>
      </p:sp>
      <p:sp>
        <p:nvSpPr>
          <p:cNvPr id="45" name="Shape 27"/>
          <p:cNvSpPr/>
          <p:nvPr/>
        </p:nvSpPr>
        <p:spPr>
          <a:xfrm>
            <a:off x="2245527" y="2341612"/>
            <a:ext cx="758952" cy="758952"/>
          </a:xfrm>
          <a:prstGeom prst="ellipse">
            <a:avLst/>
          </a:prstGeom>
          <a:solidFill>
            <a:srgbClr val="000000">
              <a:alpha val="25000"/>
            </a:srgbClr>
          </a:solidFill>
          <a:ln/>
        </p:spPr>
      </p:sp>
      <p:pic>
        <p:nvPicPr>
          <p:cNvPr id="46" name="Image 16" descr="preencoded.png">    </p:cNvPr>
          <p:cNvPicPr>
            <a:picLocks noChangeAspect="1"/>
          </p:cNvPicPr>
          <p:nvPr/>
        </p:nvPicPr>
        <p:blipFill>
          <a:blip r:embed="rId18"/>
          <a:stretch>
            <a:fillRect/>
          </a:stretch>
        </p:blipFill>
        <p:spPr>
          <a:xfrm>
            <a:off x="2268387" y="2364472"/>
            <a:ext cx="713232" cy="713232"/>
          </a:xfrm>
          <a:prstGeom prst="rect">
            <a:avLst/>
          </a:prstGeom>
        </p:spPr>
      </p:pic>
      <p:pic>
        <p:nvPicPr>
          <p:cNvPr id="47" name="Image 17" descr="preencoded.png">    </p:cNvPr>
          <p:cNvPicPr>
            <a:picLocks noChangeAspect="1"/>
          </p:cNvPicPr>
          <p:nvPr/>
        </p:nvPicPr>
        <p:blipFill>
          <a:blip r:embed="rId19"/>
          <a:stretch>
            <a:fillRect/>
          </a:stretch>
        </p:blipFill>
        <p:spPr>
          <a:xfrm>
            <a:off x="2446695" y="2542780"/>
            <a:ext cx="356616" cy="356616"/>
          </a:xfrm>
          <a:prstGeom prst="rect">
            <a:avLst/>
          </a:prstGeom>
        </p:spPr>
      </p:pic>
      <p:sp>
        <p:nvSpPr>
          <p:cNvPr id="48" name="Text 28"/>
          <p:cNvSpPr txBox="1"/>
          <p:nvPr/>
        </p:nvSpPr>
        <p:spPr>
          <a:xfrm>
            <a:off x="2030643" y="3132568"/>
            <a:ext cx="1188720" cy="457200"/>
          </a:xfrm>
          <a:prstGeom prst="rect">
            <a:avLst/>
          </a:prstGeom>
          <a:noFill/>
          <a:ln/>
        </p:spPr>
        <p:txBody>
          <a:bodyPr wrap="square" lIns="0" tIns="0" rIns="0" bIns="0" rtlCol="0" anchor="ctr"/>
          <a:lstStyle/>
          <a:p>
            <a:pPr algn="ctr" indent="0" marL="0">
              <a:lnSpc>
                <a:spcPct val="100000"/>
              </a:lnSpc>
              <a:buNone/>
            </a:pPr>
            <a:r>
              <a:rPr lang="en-US" sz="900" b="1" dirty="0">
                <a:solidFill>
                  <a:srgbClr val="93A5C2"/>
                </a:solidFill>
                <a:latin typeface="Calibri" pitchFamily="34" charset="0"/>
                <a:ea typeface="Calibri" pitchFamily="34" charset="-122"/>
                <a:cs typeface="Calibri" pitchFamily="34" charset="-120"/>
              </a:rPr>
              <a:t>DROP_</a:t>
            </a:r>
            <a:endParaRPr lang="en-US" sz="900" dirty="0"/>
          </a:p>
          <a:p>
            <a:pPr algn="ctr" indent="0" marL="0">
              <a:lnSpc>
                <a:spcPct val="100000"/>
              </a:lnSpc>
              <a:buNone/>
            </a:pPr>
            <a:r>
              <a:rPr lang="en-US" sz="900" b="1" dirty="0">
                <a:solidFill>
                  <a:srgbClr val="93A5C2"/>
                </a:solidFill>
                <a:latin typeface="Calibri" pitchFamily="34" charset="0"/>
                <a:ea typeface="Calibri" pitchFamily="34" charset="-122"/>
                <a:cs typeface="Calibri" pitchFamily="34" charset="-120"/>
              </a:rPr>
              <a:t>POINT</a:t>
            </a:r>
            <a:endParaRPr lang="en-US" sz="900" dirty="0"/>
          </a:p>
        </p:txBody>
      </p:sp>
      <p:sp>
        <p:nvSpPr>
          <p:cNvPr id="49" name="Text 29"/>
          <p:cNvSpPr txBox="1"/>
          <p:nvPr/>
        </p:nvSpPr>
        <p:spPr>
          <a:xfrm>
            <a:off x="548640" y="5989320"/>
            <a:ext cx="7498080" cy="274320"/>
          </a:xfrm>
          <a:prstGeom prst="rect">
            <a:avLst/>
          </a:prstGeom>
          <a:noFill/>
          <a:ln/>
        </p:spPr>
        <p:txBody>
          <a:bodyPr wrap="square" lIns="0" tIns="0" rIns="0" bIns="0" rtlCol="0" anchor="ctr"/>
          <a:lstStyle/>
          <a:p>
            <a:pPr indent="0" marL="0">
              <a:buNone/>
            </a:pPr>
            <a:r>
              <a:rPr lang="en-US" sz="1050" b="1" dirty="0">
                <a:solidFill>
                  <a:srgbClr val="4C9BFF"/>
                </a:solidFill>
                <a:latin typeface="Calibri" pitchFamily="34" charset="0"/>
                <a:ea typeface="Calibri" pitchFamily="34" charset="-122"/>
                <a:cs typeface="Calibri" pitchFamily="34" charset="-120"/>
              </a:rPr>
              <a:t>— </a:t>
            </a:r>
            <a:pPr indent="0" marL="0">
              <a:buNone/>
            </a:pPr>
            <a:r>
              <a:rPr lang="en-US" sz="1050" b="1" dirty="0">
                <a:solidFill>
                  <a:srgbClr val="F4F8FC"/>
                </a:solidFill>
                <a:latin typeface="Calibri" pitchFamily="34" charset="0"/>
                <a:ea typeface="Calibri" pitchFamily="34" charset="-122"/>
                <a:cs typeface="Calibri" pitchFamily="34" charset="-120"/>
              </a:rPr>
              <a:t>Primary flow: </a:t>
            </a:r>
            <a:pPr indent="0" marL="0">
              <a:buNone/>
            </a:pPr>
            <a:r>
              <a:rPr lang="en-US" sz="1050" dirty="0">
                <a:solidFill>
                  <a:srgbClr val="93A5C2"/>
                </a:solidFill>
                <a:latin typeface="Calibri" pitchFamily="34" charset="0"/>
                <a:ea typeface="Calibri" pitchFamily="34" charset="-122"/>
                <a:cs typeface="Calibri" pitchFamily="34" charset="-120"/>
              </a:rPr>
              <a:t>Student → Transport Assignment → Pickup/Drop → Route → Bus → Driver</a:t>
            </a:r>
            <a:endParaRPr lang="en-US" sz="1050" dirty="0"/>
          </a:p>
        </p:txBody>
      </p:sp>
      <p:sp>
        <p:nvSpPr>
          <p:cNvPr id="50" name="Shape 30"/>
          <p:cNvSpPr/>
          <p:nvPr/>
        </p:nvSpPr>
        <p:spPr>
          <a:xfrm>
            <a:off x="8503920" y="1508760"/>
            <a:ext cx="3108960" cy="694944"/>
          </a:xfrm>
          <a:prstGeom prst="roundRect">
            <a:avLst>
              <a:gd name="adj" fmla="val 13158"/>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51" name="Text 31"/>
          <p:cNvSpPr txBox="1"/>
          <p:nvPr/>
        </p:nvSpPr>
        <p:spPr>
          <a:xfrm>
            <a:off x="8668512" y="1508760"/>
            <a:ext cx="1188720" cy="694944"/>
          </a:xfrm>
          <a:prstGeom prst="rect">
            <a:avLst/>
          </a:prstGeom>
          <a:noFill/>
          <a:ln/>
        </p:spPr>
        <p:txBody>
          <a:bodyPr wrap="square" lIns="0" tIns="0" rIns="0" bIns="0" rtlCol="0" anchor="ctr"/>
          <a:lstStyle/>
          <a:p>
            <a:pPr indent="0" marL="0">
              <a:buNone/>
            </a:pPr>
            <a:r>
              <a:rPr lang="en-US" sz="2000" b="1" dirty="0">
                <a:solidFill>
                  <a:srgbClr val="4C9BFF"/>
                </a:solidFill>
                <a:latin typeface="Cambria" pitchFamily="34" charset="0"/>
                <a:ea typeface="Cambria" pitchFamily="34" charset="-122"/>
                <a:cs typeface="Cambria" pitchFamily="34" charset="-120"/>
              </a:rPr>
              <a:t>9</a:t>
            </a:r>
            <a:endParaRPr lang="en-US" sz="2000" dirty="0"/>
          </a:p>
        </p:txBody>
      </p:sp>
      <p:sp>
        <p:nvSpPr>
          <p:cNvPr id="52" name="Text 32"/>
          <p:cNvSpPr txBox="1"/>
          <p:nvPr/>
        </p:nvSpPr>
        <p:spPr>
          <a:xfrm>
            <a:off x="9784080" y="1508760"/>
            <a:ext cx="1737360" cy="694944"/>
          </a:xfrm>
          <a:prstGeom prst="rect">
            <a:avLst/>
          </a:prstGeom>
          <a:noFill/>
          <a:ln/>
        </p:spPr>
        <p:txBody>
          <a:bodyPr wrap="square" lIns="0" tIns="0" rIns="0" bIns="0" rtlCol="0" anchor="ctr"/>
          <a:lstStyle/>
          <a:p>
            <a:pPr indent="0" marL="0">
              <a:buNone/>
            </a:pPr>
            <a:r>
              <a:rPr lang="en-US" sz="1150" dirty="0">
                <a:solidFill>
                  <a:srgbClr val="93A5C2"/>
                </a:solidFill>
                <a:latin typeface="Calibri" pitchFamily="34" charset="0"/>
                <a:ea typeface="Calibri" pitchFamily="34" charset="-122"/>
                <a:cs typeface="Calibri" pitchFamily="34" charset="-120"/>
              </a:rPr>
              <a:t>Tables</a:t>
            </a:r>
            <a:endParaRPr lang="en-US" sz="1150" dirty="0"/>
          </a:p>
        </p:txBody>
      </p:sp>
      <p:sp>
        <p:nvSpPr>
          <p:cNvPr id="53" name="Shape 33"/>
          <p:cNvSpPr/>
          <p:nvPr/>
        </p:nvSpPr>
        <p:spPr>
          <a:xfrm>
            <a:off x="8503920" y="2331720"/>
            <a:ext cx="3108960" cy="694944"/>
          </a:xfrm>
          <a:prstGeom prst="roundRect">
            <a:avLst>
              <a:gd name="adj" fmla="val 13158"/>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54" name="Text 34"/>
          <p:cNvSpPr txBox="1"/>
          <p:nvPr/>
        </p:nvSpPr>
        <p:spPr>
          <a:xfrm>
            <a:off x="8668512" y="2331720"/>
            <a:ext cx="1188720" cy="694944"/>
          </a:xfrm>
          <a:prstGeom prst="rect">
            <a:avLst/>
          </a:prstGeom>
          <a:noFill/>
          <a:ln/>
        </p:spPr>
        <p:txBody>
          <a:bodyPr wrap="square" lIns="0" tIns="0" rIns="0" bIns="0" rtlCol="0" anchor="ctr"/>
          <a:lstStyle/>
          <a:p>
            <a:pPr indent="0" marL="0">
              <a:buNone/>
            </a:pPr>
            <a:r>
              <a:rPr lang="en-US" sz="2000" b="1" dirty="0">
                <a:solidFill>
                  <a:srgbClr val="4C9BFF"/>
                </a:solidFill>
                <a:latin typeface="Cambria" pitchFamily="34" charset="0"/>
                <a:ea typeface="Cambria" pitchFamily="34" charset="-122"/>
                <a:cs typeface="Cambria" pitchFamily="34" charset="-120"/>
              </a:rPr>
              <a:t>1,773</a:t>
            </a:r>
            <a:endParaRPr lang="en-US" sz="2000" dirty="0"/>
          </a:p>
        </p:txBody>
      </p:sp>
      <p:sp>
        <p:nvSpPr>
          <p:cNvPr id="55" name="Text 35"/>
          <p:cNvSpPr txBox="1"/>
          <p:nvPr/>
        </p:nvSpPr>
        <p:spPr>
          <a:xfrm>
            <a:off x="9784080" y="2331720"/>
            <a:ext cx="1737360" cy="694944"/>
          </a:xfrm>
          <a:prstGeom prst="rect">
            <a:avLst/>
          </a:prstGeom>
          <a:noFill/>
          <a:ln/>
        </p:spPr>
        <p:txBody>
          <a:bodyPr wrap="square" lIns="0" tIns="0" rIns="0" bIns="0" rtlCol="0" anchor="ctr"/>
          <a:lstStyle/>
          <a:p>
            <a:pPr indent="0" marL="0">
              <a:buNone/>
            </a:pPr>
            <a:r>
              <a:rPr lang="en-US" sz="1150" dirty="0">
                <a:solidFill>
                  <a:srgbClr val="93A5C2"/>
                </a:solidFill>
                <a:latin typeface="Calibri" pitchFamily="34" charset="0"/>
                <a:ea typeface="Calibri" pitchFamily="34" charset="-122"/>
                <a:cs typeface="Calibri" pitchFamily="34" charset="-120"/>
              </a:rPr>
              <a:t>Records</a:t>
            </a:r>
            <a:endParaRPr lang="en-US" sz="1150" dirty="0"/>
          </a:p>
        </p:txBody>
      </p:sp>
      <p:sp>
        <p:nvSpPr>
          <p:cNvPr id="56" name="Shape 36"/>
          <p:cNvSpPr/>
          <p:nvPr/>
        </p:nvSpPr>
        <p:spPr>
          <a:xfrm>
            <a:off x="8503920" y="3154680"/>
            <a:ext cx="3108960" cy="694944"/>
          </a:xfrm>
          <a:prstGeom prst="roundRect">
            <a:avLst>
              <a:gd name="adj" fmla="val 13158"/>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57" name="Text 37"/>
          <p:cNvSpPr txBox="1"/>
          <p:nvPr/>
        </p:nvSpPr>
        <p:spPr>
          <a:xfrm>
            <a:off x="8668512" y="3154680"/>
            <a:ext cx="1188720" cy="694944"/>
          </a:xfrm>
          <a:prstGeom prst="rect">
            <a:avLst/>
          </a:prstGeom>
          <a:noFill/>
          <a:ln/>
        </p:spPr>
        <p:txBody>
          <a:bodyPr wrap="square" lIns="0" tIns="0" rIns="0" bIns="0" rtlCol="0" anchor="ctr"/>
          <a:lstStyle/>
          <a:p>
            <a:pPr indent="0" marL="0">
              <a:buNone/>
            </a:pPr>
            <a:r>
              <a:rPr lang="en-US" sz="2000" b="1" dirty="0">
                <a:solidFill>
                  <a:srgbClr val="4C9BFF"/>
                </a:solidFill>
                <a:latin typeface="Cambria" pitchFamily="34" charset="0"/>
                <a:ea typeface="Cambria" pitchFamily="34" charset="-122"/>
                <a:cs typeface="Cambria" pitchFamily="34" charset="-120"/>
              </a:rPr>
              <a:t>285</a:t>
            </a:r>
            <a:endParaRPr lang="en-US" sz="2000" dirty="0"/>
          </a:p>
        </p:txBody>
      </p:sp>
      <p:sp>
        <p:nvSpPr>
          <p:cNvPr id="58" name="Text 38"/>
          <p:cNvSpPr txBox="1"/>
          <p:nvPr/>
        </p:nvSpPr>
        <p:spPr>
          <a:xfrm>
            <a:off x="9784080" y="3154680"/>
            <a:ext cx="1737360" cy="694944"/>
          </a:xfrm>
          <a:prstGeom prst="rect">
            <a:avLst/>
          </a:prstGeom>
          <a:noFill/>
          <a:ln/>
        </p:spPr>
        <p:txBody>
          <a:bodyPr wrap="square" lIns="0" tIns="0" rIns="0" bIns="0" rtlCol="0" anchor="ctr"/>
          <a:lstStyle/>
          <a:p>
            <a:pPr indent="0" marL="0">
              <a:buNone/>
            </a:pPr>
            <a:r>
              <a:rPr lang="en-US" sz="1150" dirty="0">
                <a:solidFill>
                  <a:srgbClr val="93A5C2"/>
                </a:solidFill>
                <a:latin typeface="Calibri" pitchFamily="34" charset="0"/>
                <a:ea typeface="Calibri" pitchFamily="34" charset="-122"/>
                <a:cs typeface="Calibri" pitchFamily="34" charset="-120"/>
              </a:rPr>
              <a:t>Students</a:t>
            </a:r>
            <a:endParaRPr lang="en-US" sz="1150" dirty="0"/>
          </a:p>
        </p:txBody>
      </p:sp>
      <p:sp>
        <p:nvSpPr>
          <p:cNvPr id="59" name="Shape 39"/>
          <p:cNvSpPr/>
          <p:nvPr/>
        </p:nvSpPr>
        <p:spPr>
          <a:xfrm>
            <a:off x="8503920" y="3977640"/>
            <a:ext cx="3108960" cy="694944"/>
          </a:xfrm>
          <a:prstGeom prst="roundRect">
            <a:avLst>
              <a:gd name="adj" fmla="val 13158"/>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60" name="Text 40"/>
          <p:cNvSpPr txBox="1"/>
          <p:nvPr/>
        </p:nvSpPr>
        <p:spPr>
          <a:xfrm>
            <a:off x="8668512" y="3977640"/>
            <a:ext cx="1188720" cy="694944"/>
          </a:xfrm>
          <a:prstGeom prst="rect">
            <a:avLst/>
          </a:prstGeom>
          <a:noFill/>
          <a:ln/>
        </p:spPr>
        <p:txBody>
          <a:bodyPr wrap="square" lIns="0" tIns="0" rIns="0" bIns="0" rtlCol="0" anchor="ctr"/>
          <a:lstStyle/>
          <a:p>
            <a:pPr indent="0" marL="0">
              <a:buNone/>
            </a:pPr>
            <a:r>
              <a:rPr lang="en-US" sz="2000" b="1" dirty="0">
                <a:solidFill>
                  <a:srgbClr val="4C9BFF"/>
                </a:solidFill>
                <a:latin typeface="Cambria" pitchFamily="34" charset="0"/>
                <a:ea typeface="Cambria" pitchFamily="34" charset="-122"/>
                <a:cs typeface="Cambria" pitchFamily="34" charset="-120"/>
              </a:rPr>
              <a:t>7</a:t>
            </a:r>
            <a:endParaRPr lang="en-US" sz="2000" dirty="0"/>
          </a:p>
        </p:txBody>
      </p:sp>
      <p:sp>
        <p:nvSpPr>
          <p:cNvPr id="61" name="Text 41"/>
          <p:cNvSpPr txBox="1"/>
          <p:nvPr/>
        </p:nvSpPr>
        <p:spPr>
          <a:xfrm>
            <a:off x="9784080" y="3977640"/>
            <a:ext cx="1737360" cy="694944"/>
          </a:xfrm>
          <a:prstGeom prst="rect">
            <a:avLst/>
          </a:prstGeom>
          <a:noFill/>
          <a:ln/>
        </p:spPr>
        <p:txBody>
          <a:bodyPr wrap="square" lIns="0" tIns="0" rIns="0" bIns="0" rtlCol="0" anchor="ctr"/>
          <a:lstStyle/>
          <a:p>
            <a:pPr indent="0" marL="0">
              <a:buNone/>
            </a:pPr>
            <a:r>
              <a:rPr lang="en-US" sz="1150" dirty="0">
                <a:solidFill>
                  <a:srgbClr val="93A5C2"/>
                </a:solidFill>
                <a:latin typeface="Calibri" pitchFamily="34" charset="0"/>
                <a:ea typeface="Calibri" pitchFamily="34" charset="-122"/>
                <a:cs typeface="Calibri" pitchFamily="34" charset="-120"/>
              </a:rPr>
              <a:t>Routes</a:t>
            </a:r>
            <a:endParaRPr lang="en-US" sz="1150" dirty="0"/>
          </a:p>
        </p:txBody>
      </p:sp>
      <p:sp>
        <p:nvSpPr>
          <p:cNvPr id="62" name="Shape 42"/>
          <p:cNvSpPr/>
          <p:nvPr/>
        </p:nvSpPr>
        <p:spPr>
          <a:xfrm>
            <a:off x="8503920" y="4800600"/>
            <a:ext cx="3108960" cy="694944"/>
          </a:xfrm>
          <a:prstGeom prst="roundRect">
            <a:avLst>
              <a:gd name="adj" fmla="val 13158"/>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63" name="Text 43"/>
          <p:cNvSpPr txBox="1"/>
          <p:nvPr/>
        </p:nvSpPr>
        <p:spPr>
          <a:xfrm>
            <a:off x="8668512" y="4800600"/>
            <a:ext cx="1188720" cy="694944"/>
          </a:xfrm>
          <a:prstGeom prst="rect">
            <a:avLst/>
          </a:prstGeom>
          <a:noFill/>
          <a:ln/>
        </p:spPr>
        <p:txBody>
          <a:bodyPr wrap="square" lIns="0" tIns="0" rIns="0" bIns="0" rtlCol="0" anchor="ctr"/>
          <a:lstStyle/>
          <a:p>
            <a:pPr indent="0" marL="0">
              <a:buNone/>
            </a:pPr>
            <a:r>
              <a:rPr lang="en-US" sz="2000" b="1" dirty="0">
                <a:solidFill>
                  <a:srgbClr val="4C9BFF"/>
                </a:solidFill>
                <a:latin typeface="Cambria" pitchFamily="34" charset="0"/>
                <a:ea typeface="Cambria" pitchFamily="34" charset="-122"/>
                <a:cs typeface="Cambria" pitchFamily="34" charset="-120"/>
              </a:rPr>
              <a:t>7</a:t>
            </a:r>
            <a:endParaRPr lang="en-US" sz="2000" dirty="0"/>
          </a:p>
        </p:txBody>
      </p:sp>
      <p:sp>
        <p:nvSpPr>
          <p:cNvPr id="64" name="Text 44"/>
          <p:cNvSpPr txBox="1"/>
          <p:nvPr/>
        </p:nvSpPr>
        <p:spPr>
          <a:xfrm>
            <a:off x="9784080" y="4800600"/>
            <a:ext cx="1737360" cy="694944"/>
          </a:xfrm>
          <a:prstGeom prst="rect">
            <a:avLst/>
          </a:prstGeom>
          <a:noFill/>
          <a:ln/>
        </p:spPr>
        <p:txBody>
          <a:bodyPr wrap="square" lIns="0" tIns="0" rIns="0" bIns="0" rtlCol="0" anchor="ctr"/>
          <a:lstStyle/>
          <a:p>
            <a:pPr indent="0" marL="0">
              <a:buNone/>
            </a:pPr>
            <a:r>
              <a:rPr lang="en-US" sz="1150" dirty="0">
                <a:solidFill>
                  <a:srgbClr val="93A5C2"/>
                </a:solidFill>
                <a:latin typeface="Calibri" pitchFamily="34" charset="0"/>
                <a:ea typeface="Calibri" pitchFamily="34" charset="-122"/>
                <a:cs typeface="Calibri" pitchFamily="34" charset="-120"/>
              </a:rPr>
              <a:t>Buses</a:t>
            </a:r>
            <a:endParaRPr lang="en-US" sz="1150" dirty="0"/>
          </a:p>
        </p:txBody>
      </p:sp>
      <p:sp>
        <p:nvSpPr>
          <p:cNvPr id="65" name="Text 45"/>
          <p:cNvSpPr txBox="1"/>
          <p:nvPr/>
        </p:nvSpPr>
        <p:spPr>
          <a:xfrm>
            <a:off x="548640" y="6528816"/>
            <a:ext cx="8229600" cy="237744"/>
          </a:xfrm>
          <a:prstGeom prst="rect">
            <a:avLst/>
          </a:prstGeom>
          <a:noFill/>
          <a:ln/>
        </p:spPr>
        <p:txBody>
          <a:bodyPr wrap="square" lIns="0" tIns="0" rIns="0" bIns="0" rtlCol="0" anchor="ctr"/>
          <a:lstStyle/>
          <a:p>
            <a:pPr algn="l" indent="0" marL="0">
              <a:buNone/>
            </a:pPr>
            <a:r>
              <a:rPr lang="en-US" sz="800" dirty="0">
                <a:solidFill>
                  <a:srgbClr val="56688A"/>
                </a:solidFill>
                <a:latin typeface="Calibri" pitchFamily="34" charset="0"/>
                <a:ea typeface="Calibri" pitchFamily="34" charset="-122"/>
                <a:cs typeface="Calibri" pitchFamily="34" charset="-120"/>
              </a:rPr>
              <a:t>School Transport Route &amp; Student Pickup Management System — Presentation III</a:t>
            </a:r>
            <a:endParaRPr lang="en-US" sz="800" dirty="0"/>
          </a:p>
        </p:txBody>
      </p:sp>
      <p:sp>
        <p:nvSpPr>
          <p:cNvPr id="66" name="Text 46"/>
          <p:cNvSpPr txBox="1"/>
          <p:nvPr/>
        </p:nvSpPr>
        <p:spPr>
          <a:xfrm>
            <a:off x="11185855" y="6528816"/>
            <a:ext cx="457200" cy="237744"/>
          </a:xfrm>
          <a:prstGeom prst="rect">
            <a:avLst/>
          </a:prstGeom>
          <a:noFill/>
          <a:ln/>
        </p:spPr>
        <p:txBody>
          <a:bodyPr wrap="square" lIns="0" tIns="0" rIns="0" bIns="0" rtlCol="0" anchor="ctr"/>
          <a:lstStyle/>
          <a:p>
            <a:pPr algn="r" indent="0" marL="0">
              <a:buNone/>
            </a:pPr>
            <a:r>
              <a:rPr lang="en-US" sz="800" dirty="0">
                <a:solidFill>
                  <a:srgbClr val="56688A"/>
                </a:solidFill>
                <a:latin typeface="Calibri" pitchFamily="34" charset="0"/>
                <a:ea typeface="Calibri" pitchFamily="34" charset="-122"/>
                <a:cs typeface="Calibri" pitchFamily="34" charset="-120"/>
              </a:rPr>
              <a:t>4 / 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algn="l" indent="0" marL="0">
              <a:buNone/>
            </a:pPr>
            <a:r>
              <a:rPr lang="en-US" sz="1100" b="1" spc="220" kern="0" dirty="0">
                <a:solidFill>
                  <a:srgbClr val="4C9BFF"/>
                </a:solidFill>
                <a:latin typeface="Calibri" pitchFamily="34" charset="0"/>
                <a:ea typeface="Calibri" pitchFamily="34" charset="-122"/>
                <a:cs typeface="Calibri" pitchFamily="34" charset="-120"/>
              </a:rPr>
              <a:t>DATABASE IMPLEMENTATION</a:t>
            </a:r>
            <a:endParaRPr lang="en-US" sz="1100" dirty="0"/>
          </a:p>
        </p:txBody>
      </p:sp>
      <p:sp>
        <p:nvSpPr>
          <p:cNvPr id="3" name="Text 1"/>
          <p:cNvSpPr txBox="1"/>
          <p:nvPr/>
        </p:nvSpPr>
        <p:spPr>
          <a:xfrm>
            <a:off x="548640" y="658368"/>
            <a:ext cx="10515600" cy="594360"/>
          </a:xfrm>
          <a:prstGeom prst="rect">
            <a:avLst/>
          </a:prstGeom>
          <a:noFill/>
          <a:ln/>
        </p:spPr>
        <p:txBody>
          <a:bodyPr wrap="square" lIns="0" tIns="0" rIns="0" bIns="0" rtlCol="0" anchor="ctr"/>
          <a:lstStyle/>
          <a:p>
            <a:pPr algn="l" indent="0" marL="0">
              <a:buNone/>
            </a:pPr>
            <a:r>
              <a:rPr lang="en-US" sz="2700" b="1" dirty="0">
                <a:solidFill>
                  <a:srgbClr val="F4F8FC"/>
                </a:solidFill>
                <a:latin typeface="Cambria" pitchFamily="34" charset="0"/>
                <a:ea typeface="Cambria" pitchFamily="34" charset="-122"/>
                <a:cs typeface="Cambria" pitchFamily="34" charset="-120"/>
              </a:rPr>
              <a:t>A Fully Populated Relational Database</a:t>
            </a:r>
            <a:endParaRPr lang="en-US" sz="2700" dirty="0"/>
          </a:p>
        </p:txBody>
      </p:sp>
      <p:sp>
        <p:nvSpPr>
          <p:cNvPr id="4" name="Shape 2"/>
          <p:cNvSpPr/>
          <p:nvPr/>
        </p:nvSpPr>
        <p:spPr>
          <a:xfrm>
            <a:off x="9585655" y="457200"/>
            <a:ext cx="2057400" cy="310896"/>
          </a:xfrm>
          <a:prstGeom prst="roundRect">
            <a:avLst>
              <a:gd name="adj" fmla="val 50000"/>
            </a:avLst>
          </a:prstGeom>
          <a:solidFill>
            <a:srgbClr val="4FE0D4">
              <a:alpha val="18000"/>
            </a:srgbClr>
          </a:solidFill>
          <a:ln w="12700">
            <a:solidFill>
              <a:srgbClr val="4FE0D4"/>
            </a:solidFill>
            <a:prstDash val="solid"/>
          </a:ln>
        </p:spPr>
      </p:sp>
      <p:sp>
        <p:nvSpPr>
          <p:cNvPr id="5" name="Text 3"/>
          <p:cNvSpPr txBox="1"/>
          <p:nvPr/>
        </p:nvSpPr>
        <p:spPr>
          <a:xfrm>
            <a:off x="9585655" y="457200"/>
            <a:ext cx="2057400" cy="310896"/>
          </a:xfrm>
          <a:prstGeom prst="rect">
            <a:avLst/>
          </a:prstGeom>
          <a:noFill/>
          <a:ln/>
        </p:spPr>
        <p:txBody>
          <a:bodyPr wrap="square" lIns="0" tIns="0" rIns="0" bIns="0" rtlCol="0" anchor="ctr"/>
          <a:lstStyle/>
          <a:p>
            <a:pPr algn="ctr" indent="0" marL="0">
              <a:buNone/>
            </a:pPr>
            <a:r>
              <a:rPr lang="en-US" sz="950" b="1" spc="100" kern="0" dirty="0">
                <a:solidFill>
                  <a:srgbClr val="4FE0D4"/>
                </a:solidFill>
                <a:latin typeface="Calibri" pitchFamily="34" charset="0"/>
                <a:ea typeface="Calibri" pitchFamily="34" charset="-122"/>
                <a:cs typeface="Calibri" pitchFamily="34" charset="-120"/>
              </a:rPr>
              <a:t>REAL DATA · NOT MOCK</a:t>
            </a:r>
            <a:endParaRPr lang="en-US" sz="950" dirty="0"/>
          </a:p>
        </p:txBody>
      </p:sp>
      <p:sp>
        <p:nvSpPr>
          <p:cNvPr id="6" name="Shape 4"/>
          <p:cNvSpPr/>
          <p:nvPr/>
        </p:nvSpPr>
        <p:spPr>
          <a:xfrm>
            <a:off x="548640" y="1417320"/>
            <a:ext cx="1965960" cy="914400"/>
          </a:xfrm>
          <a:prstGeom prst="roundRect">
            <a:avLst>
              <a:gd name="adj" fmla="val 100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7" name="Shape 5"/>
          <p:cNvSpPr/>
          <p:nvPr/>
        </p:nvSpPr>
        <p:spPr>
          <a:xfrm>
            <a:off x="644652" y="1513332"/>
            <a:ext cx="411480" cy="411480"/>
          </a:xfrm>
          <a:prstGeom prst="ellipse">
            <a:avLst/>
          </a:prstGeom>
          <a:solidFill>
            <a:srgbClr val="000000">
              <a:alpha val="25000"/>
            </a:srgbClr>
          </a:solidFill>
          <a:ln/>
        </p:spPr>
      </p:sp>
      <p:pic>
        <p:nvPicPr>
          <p:cNvPr id="8" name="Image 0" descr="preencoded.png">    </p:cNvPr>
          <p:cNvPicPr>
            <a:picLocks noChangeAspect="1"/>
          </p:cNvPicPr>
          <p:nvPr/>
        </p:nvPicPr>
        <p:blipFill>
          <a:blip r:embed="rId2"/>
          <a:stretch>
            <a:fillRect/>
          </a:stretch>
        </p:blipFill>
        <p:spPr>
          <a:xfrm>
            <a:off x="667512" y="1536192"/>
            <a:ext cx="365760" cy="365760"/>
          </a:xfrm>
          <a:prstGeom prst="rect">
            <a:avLst/>
          </a:prstGeom>
        </p:spPr>
      </p:pic>
      <p:pic>
        <p:nvPicPr>
          <p:cNvPr id="9" name="Image 1" descr="preencoded.png">    </p:cNvPr>
          <p:cNvPicPr>
            <a:picLocks noChangeAspect="1"/>
          </p:cNvPicPr>
          <p:nvPr/>
        </p:nvPicPr>
        <p:blipFill>
          <a:blip r:embed="rId3"/>
          <a:stretch>
            <a:fillRect/>
          </a:stretch>
        </p:blipFill>
        <p:spPr>
          <a:xfrm>
            <a:off x="749808" y="1618488"/>
            <a:ext cx="201168" cy="201168"/>
          </a:xfrm>
          <a:prstGeom prst="rect">
            <a:avLst/>
          </a:prstGeom>
        </p:spPr>
      </p:pic>
      <p:sp>
        <p:nvSpPr>
          <p:cNvPr id="10" name="Text 6"/>
          <p:cNvSpPr txBox="1"/>
          <p:nvPr/>
        </p:nvSpPr>
        <p:spPr>
          <a:xfrm>
            <a:off x="667512" y="1947672"/>
            <a:ext cx="1728216" cy="219456"/>
          </a:xfrm>
          <a:prstGeom prst="rect">
            <a:avLst/>
          </a:prstGeom>
          <a:noFill/>
          <a:ln/>
        </p:spPr>
        <p:txBody>
          <a:bodyPr wrap="square" lIns="0" tIns="0" rIns="0" bIns="0" rtlCol="0" anchor="ctr"/>
          <a:lstStyle/>
          <a:p>
            <a:pPr indent="0" marL="0">
              <a:buNone/>
            </a:pPr>
            <a:r>
              <a:rPr lang="en-US" sz="900" b="1" dirty="0">
                <a:solidFill>
                  <a:srgbClr val="F4F8FC"/>
                </a:solidFill>
                <a:latin typeface="Consolas" pitchFamily="34" charset="0"/>
                <a:ea typeface="Consolas" pitchFamily="34" charset="-122"/>
                <a:cs typeface="Consolas" pitchFamily="34" charset="-120"/>
              </a:rPr>
              <a:t>driver</a:t>
            </a:r>
            <a:endParaRPr lang="en-US" sz="900" dirty="0"/>
          </a:p>
        </p:txBody>
      </p:sp>
      <p:sp>
        <p:nvSpPr>
          <p:cNvPr id="11" name="Text 7"/>
          <p:cNvSpPr txBox="1"/>
          <p:nvPr/>
        </p:nvSpPr>
        <p:spPr>
          <a:xfrm>
            <a:off x="1554480" y="1527048"/>
            <a:ext cx="850392" cy="384048"/>
          </a:xfrm>
          <a:prstGeom prst="rect">
            <a:avLst/>
          </a:prstGeom>
          <a:noFill/>
          <a:ln/>
        </p:spPr>
        <p:txBody>
          <a:bodyPr wrap="square" lIns="0" tIns="0" rIns="0" bIns="0" rtlCol="0" anchor="ctr"/>
          <a:lstStyle/>
          <a:p>
            <a:pPr algn="r" indent="0" marL="0">
              <a:buNone/>
            </a:pPr>
            <a:r>
              <a:rPr lang="en-US" sz="1800" b="1" dirty="0">
                <a:solidFill>
                  <a:srgbClr val="4C9BFF"/>
                </a:solidFill>
                <a:latin typeface="Cambria" pitchFamily="34" charset="0"/>
                <a:ea typeface="Cambria" pitchFamily="34" charset="-122"/>
                <a:cs typeface="Cambria" pitchFamily="34" charset="-120"/>
              </a:rPr>
              <a:t>7</a:t>
            </a:r>
            <a:endParaRPr lang="en-US" sz="1800" dirty="0"/>
          </a:p>
        </p:txBody>
      </p:sp>
      <p:sp>
        <p:nvSpPr>
          <p:cNvPr id="12" name="Shape 8"/>
          <p:cNvSpPr/>
          <p:nvPr/>
        </p:nvSpPr>
        <p:spPr>
          <a:xfrm>
            <a:off x="2651760" y="1417320"/>
            <a:ext cx="1965960" cy="914400"/>
          </a:xfrm>
          <a:prstGeom prst="roundRect">
            <a:avLst>
              <a:gd name="adj" fmla="val 100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3" name="Shape 9"/>
          <p:cNvSpPr/>
          <p:nvPr/>
        </p:nvSpPr>
        <p:spPr>
          <a:xfrm>
            <a:off x="2747772" y="1513332"/>
            <a:ext cx="411480" cy="411480"/>
          </a:xfrm>
          <a:prstGeom prst="ellipse">
            <a:avLst/>
          </a:prstGeom>
          <a:solidFill>
            <a:srgbClr val="000000">
              <a:alpha val="25000"/>
            </a:srgbClr>
          </a:solidFill>
          <a:ln/>
        </p:spPr>
      </p:sp>
      <p:pic>
        <p:nvPicPr>
          <p:cNvPr id="14" name="Image 2" descr="preencoded.png">    </p:cNvPr>
          <p:cNvPicPr>
            <a:picLocks noChangeAspect="1"/>
          </p:cNvPicPr>
          <p:nvPr/>
        </p:nvPicPr>
        <p:blipFill>
          <a:blip r:embed="rId4"/>
          <a:stretch>
            <a:fillRect/>
          </a:stretch>
        </p:blipFill>
        <p:spPr>
          <a:xfrm>
            <a:off x="2770632" y="1536192"/>
            <a:ext cx="365760" cy="365760"/>
          </a:xfrm>
          <a:prstGeom prst="rect">
            <a:avLst/>
          </a:prstGeom>
        </p:spPr>
      </p:pic>
      <p:pic>
        <p:nvPicPr>
          <p:cNvPr id="15" name="Image 3" descr="preencoded.png">    </p:cNvPr>
          <p:cNvPicPr>
            <a:picLocks noChangeAspect="1"/>
          </p:cNvPicPr>
          <p:nvPr/>
        </p:nvPicPr>
        <p:blipFill>
          <a:blip r:embed="rId5"/>
          <a:stretch>
            <a:fillRect/>
          </a:stretch>
        </p:blipFill>
        <p:spPr>
          <a:xfrm>
            <a:off x="2852928" y="1618488"/>
            <a:ext cx="201168" cy="201168"/>
          </a:xfrm>
          <a:prstGeom prst="rect">
            <a:avLst/>
          </a:prstGeom>
        </p:spPr>
      </p:pic>
      <p:sp>
        <p:nvSpPr>
          <p:cNvPr id="16" name="Text 10"/>
          <p:cNvSpPr txBox="1"/>
          <p:nvPr/>
        </p:nvSpPr>
        <p:spPr>
          <a:xfrm>
            <a:off x="2770632" y="1947672"/>
            <a:ext cx="1728216" cy="219456"/>
          </a:xfrm>
          <a:prstGeom prst="rect">
            <a:avLst/>
          </a:prstGeom>
          <a:noFill/>
          <a:ln/>
        </p:spPr>
        <p:txBody>
          <a:bodyPr wrap="square" lIns="0" tIns="0" rIns="0" bIns="0" rtlCol="0" anchor="ctr"/>
          <a:lstStyle/>
          <a:p>
            <a:pPr indent="0" marL="0">
              <a:buNone/>
            </a:pPr>
            <a:r>
              <a:rPr lang="en-US" sz="900" b="1" dirty="0">
                <a:solidFill>
                  <a:srgbClr val="F4F8FC"/>
                </a:solidFill>
                <a:latin typeface="Consolas" pitchFamily="34" charset="0"/>
                <a:ea typeface="Consolas" pitchFamily="34" charset="-122"/>
                <a:cs typeface="Consolas" pitchFamily="34" charset="-120"/>
              </a:rPr>
              <a:t>bus</a:t>
            </a:r>
            <a:endParaRPr lang="en-US" sz="900" dirty="0"/>
          </a:p>
        </p:txBody>
      </p:sp>
      <p:sp>
        <p:nvSpPr>
          <p:cNvPr id="17" name="Text 11"/>
          <p:cNvSpPr txBox="1"/>
          <p:nvPr/>
        </p:nvSpPr>
        <p:spPr>
          <a:xfrm>
            <a:off x="3657600" y="1527048"/>
            <a:ext cx="850392" cy="384048"/>
          </a:xfrm>
          <a:prstGeom prst="rect">
            <a:avLst/>
          </a:prstGeom>
          <a:noFill/>
          <a:ln/>
        </p:spPr>
        <p:txBody>
          <a:bodyPr wrap="square" lIns="0" tIns="0" rIns="0" bIns="0" rtlCol="0" anchor="ctr"/>
          <a:lstStyle/>
          <a:p>
            <a:pPr algn="r" indent="0" marL="0">
              <a:buNone/>
            </a:pPr>
            <a:r>
              <a:rPr lang="en-US" sz="1800" b="1" dirty="0">
                <a:solidFill>
                  <a:srgbClr val="4C9BFF"/>
                </a:solidFill>
                <a:latin typeface="Cambria" pitchFamily="34" charset="0"/>
                <a:ea typeface="Cambria" pitchFamily="34" charset="-122"/>
                <a:cs typeface="Cambria" pitchFamily="34" charset="-120"/>
              </a:rPr>
              <a:t>7</a:t>
            </a:r>
            <a:endParaRPr lang="en-US" sz="1800" dirty="0"/>
          </a:p>
        </p:txBody>
      </p:sp>
      <p:sp>
        <p:nvSpPr>
          <p:cNvPr id="18" name="Shape 12"/>
          <p:cNvSpPr/>
          <p:nvPr/>
        </p:nvSpPr>
        <p:spPr>
          <a:xfrm>
            <a:off x="4754880" y="1417320"/>
            <a:ext cx="1965960" cy="914400"/>
          </a:xfrm>
          <a:prstGeom prst="roundRect">
            <a:avLst>
              <a:gd name="adj" fmla="val 100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9" name="Shape 13"/>
          <p:cNvSpPr/>
          <p:nvPr/>
        </p:nvSpPr>
        <p:spPr>
          <a:xfrm>
            <a:off x="4850892" y="1513332"/>
            <a:ext cx="411480" cy="411480"/>
          </a:xfrm>
          <a:prstGeom prst="ellipse">
            <a:avLst/>
          </a:prstGeom>
          <a:solidFill>
            <a:srgbClr val="000000">
              <a:alpha val="25000"/>
            </a:srgbClr>
          </a:solidFill>
          <a:ln/>
        </p:spPr>
      </p:sp>
      <p:pic>
        <p:nvPicPr>
          <p:cNvPr id="20" name="Image 4" descr="preencoded.png">    </p:cNvPr>
          <p:cNvPicPr>
            <a:picLocks noChangeAspect="1"/>
          </p:cNvPicPr>
          <p:nvPr/>
        </p:nvPicPr>
        <p:blipFill>
          <a:blip r:embed="rId6"/>
          <a:stretch>
            <a:fillRect/>
          </a:stretch>
        </p:blipFill>
        <p:spPr>
          <a:xfrm>
            <a:off x="4873752" y="1536192"/>
            <a:ext cx="365760" cy="365760"/>
          </a:xfrm>
          <a:prstGeom prst="rect">
            <a:avLst/>
          </a:prstGeom>
        </p:spPr>
      </p:pic>
      <p:pic>
        <p:nvPicPr>
          <p:cNvPr id="21" name="Image 5" descr="preencoded.png">    </p:cNvPr>
          <p:cNvPicPr>
            <a:picLocks noChangeAspect="1"/>
          </p:cNvPicPr>
          <p:nvPr/>
        </p:nvPicPr>
        <p:blipFill>
          <a:blip r:embed="rId7"/>
          <a:stretch>
            <a:fillRect/>
          </a:stretch>
        </p:blipFill>
        <p:spPr>
          <a:xfrm>
            <a:off x="4956048" y="1618488"/>
            <a:ext cx="201168" cy="201168"/>
          </a:xfrm>
          <a:prstGeom prst="rect">
            <a:avLst/>
          </a:prstGeom>
        </p:spPr>
      </p:pic>
      <p:sp>
        <p:nvSpPr>
          <p:cNvPr id="22" name="Text 14"/>
          <p:cNvSpPr txBox="1"/>
          <p:nvPr/>
        </p:nvSpPr>
        <p:spPr>
          <a:xfrm>
            <a:off x="4873752" y="1947672"/>
            <a:ext cx="1728216" cy="219456"/>
          </a:xfrm>
          <a:prstGeom prst="rect">
            <a:avLst/>
          </a:prstGeom>
          <a:noFill/>
          <a:ln/>
        </p:spPr>
        <p:txBody>
          <a:bodyPr wrap="square" lIns="0" tIns="0" rIns="0" bIns="0" rtlCol="0" anchor="ctr"/>
          <a:lstStyle/>
          <a:p>
            <a:pPr indent="0" marL="0">
              <a:buNone/>
            </a:pPr>
            <a:r>
              <a:rPr lang="en-US" sz="900" b="1" dirty="0">
                <a:solidFill>
                  <a:srgbClr val="F4F8FC"/>
                </a:solidFill>
                <a:latin typeface="Consolas" pitchFamily="34" charset="0"/>
                <a:ea typeface="Consolas" pitchFamily="34" charset="-122"/>
                <a:cs typeface="Consolas" pitchFamily="34" charset="-120"/>
              </a:rPr>
              <a:t>route</a:t>
            </a:r>
            <a:endParaRPr lang="en-US" sz="900" dirty="0"/>
          </a:p>
        </p:txBody>
      </p:sp>
      <p:sp>
        <p:nvSpPr>
          <p:cNvPr id="23" name="Text 15"/>
          <p:cNvSpPr txBox="1"/>
          <p:nvPr/>
        </p:nvSpPr>
        <p:spPr>
          <a:xfrm>
            <a:off x="5760720" y="1527048"/>
            <a:ext cx="850392" cy="384048"/>
          </a:xfrm>
          <a:prstGeom prst="rect">
            <a:avLst/>
          </a:prstGeom>
          <a:noFill/>
          <a:ln/>
        </p:spPr>
        <p:txBody>
          <a:bodyPr wrap="square" lIns="0" tIns="0" rIns="0" bIns="0" rtlCol="0" anchor="ctr"/>
          <a:lstStyle/>
          <a:p>
            <a:pPr algn="r" indent="0" marL="0">
              <a:buNone/>
            </a:pPr>
            <a:r>
              <a:rPr lang="en-US" sz="1800" b="1" dirty="0">
                <a:solidFill>
                  <a:srgbClr val="4C9BFF"/>
                </a:solidFill>
                <a:latin typeface="Cambria" pitchFamily="34" charset="0"/>
                <a:ea typeface="Cambria" pitchFamily="34" charset="-122"/>
                <a:cs typeface="Cambria" pitchFamily="34" charset="-120"/>
              </a:rPr>
              <a:t>7</a:t>
            </a:r>
            <a:endParaRPr lang="en-US" sz="1800" dirty="0"/>
          </a:p>
        </p:txBody>
      </p:sp>
      <p:sp>
        <p:nvSpPr>
          <p:cNvPr id="24" name="Shape 16"/>
          <p:cNvSpPr/>
          <p:nvPr/>
        </p:nvSpPr>
        <p:spPr>
          <a:xfrm>
            <a:off x="548640" y="2496312"/>
            <a:ext cx="1965960" cy="914400"/>
          </a:xfrm>
          <a:prstGeom prst="roundRect">
            <a:avLst>
              <a:gd name="adj" fmla="val 100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25" name="Shape 17"/>
          <p:cNvSpPr/>
          <p:nvPr/>
        </p:nvSpPr>
        <p:spPr>
          <a:xfrm>
            <a:off x="644652" y="2592324"/>
            <a:ext cx="411480" cy="411480"/>
          </a:xfrm>
          <a:prstGeom prst="ellipse">
            <a:avLst/>
          </a:prstGeom>
          <a:solidFill>
            <a:srgbClr val="000000">
              <a:alpha val="25000"/>
            </a:srgbClr>
          </a:solidFill>
          <a:ln/>
        </p:spPr>
      </p:sp>
      <p:pic>
        <p:nvPicPr>
          <p:cNvPr id="26" name="Image 6" descr="preencoded.png">    </p:cNvPr>
          <p:cNvPicPr>
            <a:picLocks noChangeAspect="1"/>
          </p:cNvPicPr>
          <p:nvPr/>
        </p:nvPicPr>
        <p:blipFill>
          <a:blip r:embed="rId8"/>
          <a:stretch>
            <a:fillRect/>
          </a:stretch>
        </p:blipFill>
        <p:spPr>
          <a:xfrm>
            <a:off x="667512" y="2615184"/>
            <a:ext cx="365760" cy="365760"/>
          </a:xfrm>
          <a:prstGeom prst="rect">
            <a:avLst/>
          </a:prstGeom>
        </p:spPr>
      </p:pic>
      <p:pic>
        <p:nvPicPr>
          <p:cNvPr id="27" name="Image 7" descr="preencoded.png">    </p:cNvPr>
          <p:cNvPicPr>
            <a:picLocks noChangeAspect="1"/>
          </p:cNvPicPr>
          <p:nvPr/>
        </p:nvPicPr>
        <p:blipFill>
          <a:blip r:embed="rId9"/>
          <a:stretch>
            <a:fillRect/>
          </a:stretch>
        </p:blipFill>
        <p:spPr>
          <a:xfrm>
            <a:off x="749808" y="2697480"/>
            <a:ext cx="201168" cy="201168"/>
          </a:xfrm>
          <a:prstGeom prst="rect">
            <a:avLst/>
          </a:prstGeom>
        </p:spPr>
      </p:pic>
      <p:sp>
        <p:nvSpPr>
          <p:cNvPr id="28" name="Text 18"/>
          <p:cNvSpPr txBox="1"/>
          <p:nvPr/>
        </p:nvSpPr>
        <p:spPr>
          <a:xfrm>
            <a:off x="667512" y="3026664"/>
            <a:ext cx="1728216" cy="219456"/>
          </a:xfrm>
          <a:prstGeom prst="rect">
            <a:avLst/>
          </a:prstGeom>
          <a:noFill/>
          <a:ln/>
        </p:spPr>
        <p:txBody>
          <a:bodyPr wrap="square" lIns="0" tIns="0" rIns="0" bIns="0" rtlCol="0" anchor="ctr"/>
          <a:lstStyle/>
          <a:p>
            <a:pPr indent="0" marL="0">
              <a:buNone/>
            </a:pPr>
            <a:r>
              <a:rPr lang="en-US" sz="900" b="1" dirty="0">
                <a:solidFill>
                  <a:srgbClr val="F4F8FC"/>
                </a:solidFill>
                <a:latin typeface="Consolas" pitchFamily="34" charset="0"/>
                <a:ea typeface="Consolas" pitchFamily="34" charset="-122"/>
                <a:cs typeface="Consolas" pitchFamily="34" charset="-120"/>
              </a:rPr>
              <a:t>pickup_point</a:t>
            </a:r>
            <a:endParaRPr lang="en-US" sz="900" dirty="0"/>
          </a:p>
        </p:txBody>
      </p:sp>
      <p:sp>
        <p:nvSpPr>
          <p:cNvPr id="29" name="Text 19"/>
          <p:cNvSpPr txBox="1"/>
          <p:nvPr/>
        </p:nvSpPr>
        <p:spPr>
          <a:xfrm>
            <a:off x="1554480" y="2606040"/>
            <a:ext cx="850392" cy="384048"/>
          </a:xfrm>
          <a:prstGeom prst="rect">
            <a:avLst/>
          </a:prstGeom>
          <a:noFill/>
          <a:ln/>
        </p:spPr>
        <p:txBody>
          <a:bodyPr wrap="square" lIns="0" tIns="0" rIns="0" bIns="0" rtlCol="0" anchor="ctr"/>
          <a:lstStyle/>
          <a:p>
            <a:pPr algn="r" indent="0" marL="0">
              <a:buNone/>
            </a:pPr>
            <a:r>
              <a:rPr lang="en-US" sz="1800" b="1" dirty="0">
                <a:solidFill>
                  <a:srgbClr val="4C9BFF"/>
                </a:solidFill>
                <a:latin typeface="Cambria" pitchFamily="34" charset="0"/>
                <a:ea typeface="Cambria" pitchFamily="34" charset="-122"/>
                <a:cs typeface="Cambria" pitchFamily="34" charset="-120"/>
              </a:rPr>
              <a:t>21</a:t>
            </a:r>
            <a:endParaRPr lang="en-US" sz="1800" dirty="0"/>
          </a:p>
        </p:txBody>
      </p:sp>
      <p:sp>
        <p:nvSpPr>
          <p:cNvPr id="30" name="Shape 20"/>
          <p:cNvSpPr/>
          <p:nvPr/>
        </p:nvSpPr>
        <p:spPr>
          <a:xfrm>
            <a:off x="2651760" y="2496312"/>
            <a:ext cx="1965960" cy="914400"/>
          </a:xfrm>
          <a:prstGeom prst="roundRect">
            <a:avLst>
              <a:gd name="adj" fmla="val 100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31" name="Shape 21"/>
          <p:cNvSpPr/>
          <p:nvPr/>
        </p:nvSpPr>
        <p:spPr>
          <a:xfrm>
            <a:off x="2747772" y="2592324"/>
            <a:ext cx="411480" cy="411480"/>
          </a:xfrm>
          <a:prstGeom prst="ellipse">
            <a:avLst/>
          </a:prstGeom>
          <a:solidFill>
            <a:srgbClr val="000000">
              <a:alpha val="25000"/>
            </a:srgbClr>
          </a:solidFill>
          <a:ln/>
        </p:spPr>
      </p:sp>
      <p:pic>
        <p:nvPicPr>
          <p:cNvPr id="32" name="Image 8" descr="preencoded.png">    </p:cNvPr>
          <p:cNvPicPr>
            <a:picLocks noChangeAspect="1"/>
          </p:cNvPicPr>
          <p:nvPr/>
        </p:nvPicPr>
        <p:blipFill>
          <a:blip r:embed="rId10"/>
          <a:stretch>
            <a:fillRect/>
          </a:stretch>
        </p:blipFill>
        <p:spPr>
          <a:xfrm>
            <a:off x="2770632" y="2615184"/>
            <a:ext cx="365760" cy="365760"/>
          </a:xfrm>
          <a:prstGeom prst="rect">
            <a:avLst/>
          </a:prstGeom>
        </p:spPr>
      </p:pic>
      <p:pic>
        <p:nvPicPr>
          <p:cNvPr id="33" name="Image 9" descr="preencoded.png">    </p:cNvPr>
          <p:cNvPicPr>
            <a:picLocks noChangeAspect="1"/>
          </p:cNvPicPr>
          <p:nvPr/>
        </p:nvPicPr>
        <p:blipFill>
          <a:blip r:embed="rId11"/>
          <a:stretch>
            <a:fillRect/>
          </a:stretch>
        </p:blipFill>
        <p:spPr>
          <a:xfrm>
            <a:off x="2852928" y="2697480"/>
            <a:ext cx="201168" cy="201168"/>
          </a:xfrm>
          <a:prstGeom prst="rect">
            <a:avLst/>
          </a:prstGeom>
        </p:spPr>
      </p:pic>
      <p:sp>
        <p:nvSpPr>
          <p:cNvPr id="34" name="Text 22"/>
          <p:cNvSpPr txBox="1"/>
          <p:nvPr/>
        </p:nvSpPr>
        <p:spPr>
          <a:xfrm>
            <a:off x="2770632" y="3026664"/>
            <a:ext cx="1728216" cy="219456"/>
          </a:xfrm>
          <a:prstGeom prst="rect">
            <a:avLst/>
          </a:prstGeom>
          <a:noFill/>
          <a:ln/>
        </p:spPr>
        <p:txBody>
          <a:bodyPr wrap="square" lIns="0" tIns="0" rIns="0" bIns="0" rtlCol="0" anchor="ctr"/>
          <a:lstStyle/>
          <a:p>
            <a:pPr indent="0" marL="0">
              <a:buNone/>
            </a:pPr>
            <a:r>
              <a:rPr lang="en-US" sz="900" b="1" dirty="0">
                <a:solidFill>
                  <a:srgbClr val="F4F8FC"/>
                </a:solidFill>
                <a:latin typeface="Consolas" pitchFamily="34" charset="0"/>
                <a:ea typeface="Consolas" pitchFamily="34" charset="-122"/>
                <a:cs typeface="Consolas" pitchFamily="34" charset="-120"/>
              </a:rPr>
              <a:t>drop_point</a:t>
            </a:r>
            <a:endParaRPr lang="en-US" sz="900" dirty="0"/>
          </a:p>
        </p:txBody>
      </p:sp>
      <p:sp>
        <p:nvSpPr>
          <p:cNvPr id="35" name="Text 23"/>
          <p:cNvSpPr txBox="1"/>
          <p:nvPr/>
        </p:nvSpPr>
        <p:spPr>
          <a:xfrm>
            <a:off x="3657600" y="2606040"/>
            <a:ext cx="850392" cy="384048"/>
          </a:xfrm>
          <a:prstGeom prst="rect">
            <a:avLst/>
          </a:prstGeom>
          <a:noFill/>
          <a:ln/>
        </p:spPr>
        <p:txBody>
          <a:bodyPr wrap="square" lIns="0" tIns="0" rIns="0" bIns="0" rtlCol="0" anchor="ctr"/>
          <a:lstStyle/>
          <a:p>
            <a:pPr algn="r" indent="0" marL="0">
              <a:buNone/>
            </a:pPr>
            <a:r>
              <a:rPr lang="en-US" sz="1800" b="1" dirty="0">
                <a:solidFill>
                  <a:srgbClr val="4C9BFF"/>
                </a:solidFill>
                <a:latin typeface="Cambria" pitchFamily="34" charset="0"/>
                <a:ea typeface="Cambria" pitchFamily="34" charset="-122"/>
                <a:cs typeface="Cambria" pitchFamily="34" charset="-120"/>
              </a:rPr>
              <a:t>21</a:t>
            </a:r>
            <a:endParaRPr lang="en-US" sz="1800" dirty="0"/>
          </a:p>
        </p:txBody>
      </p:sp>
      <p:sp>
        <p:nvSpPr>
          <p:cNvPr id="36" name="Shape 24"/>
          <p:cNvSpPr/>
          <p:nvPr/>
        </p:nvSpPr>
        <p:spPr>
          <a:xfrm>
            <a:off x="4754880" y="2496312"/>
            <a:ext cx="1965960" cy="914400"/>
          </a:xfrm>
          <a:prstGeom prst="roundRect">
            <a:avLst>
              <a:gd name="adj" fmla="val 100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37" name="Shape 25"/>
          <p:cNvSpPr/>
          <p:nvPr/>
        </p:nvSpPr>
        <p:spPr>
          <a:xfrm>
            <a:off x="4850892" y="2592324"/>
            <a:ext cx="411480" cy="411480"/>
          </a:xfrm>
          <a:prstGeom prst="ellipse">
            <a:avLst/>
          </a:prstGeom>
          <a:solidFill>
            <a:srgbClr val="000000">
              <a:alpha val="25000"/>
            </a:srgbClr>
          </a:solidFill>
          <a:ln/>
        </p:spPr>
      </p:sp>
      <p:pic>
        <p:nvPicPr>
          <p:cNvPr id="38" name="Image 10" descr="preencoded.png">    </p:cNvPr>
          <p:cNvPicPr>
            <a:picLocks noChangeAspect="1"/>
          </p:cNvPicPr>
          <p:nvPr/>
        </p:nvPicPr>
        <p:blipFill>
          <a:blip r:embed="rId12"/>
          <a:stretch>
            <a:fillRect/>
          </a:stretch>
        </p:blipFill>
        <p:spPr>
          <a:xfrm>
            <a:off x="4873752" y="2615184"/>
            <a:ext cx="365760" cy="365760"/>
          </a:xfrm>
          <a:prstGeom prst="rect">
            <a:avLst/>
          </a:prstGeom>
        </p:spPr>
      </p:pic>
      <p:pic>
        <p:nvPicPr>
          <p:cNvPr id="39" name="Image 11" descr="preencoded.png">    </p:cNvPr>
          <p:cNvPicPr>
            <a:picLocks noChangeAspect="1"/>
          </p:cNvPicPr>
          <p:nvPr/>
        </p:nvPicPr>
        <p:blipFill>
          <a:blip r:embed="rId13"/>
          <a:stretch>
            <a:fillRect/>
          </a:stretch>
        </p:blipFill>
        <p:spPr>
          <a:xfrm>
            <a:off x="4956048" y="2697480"/>
            <a:ext cx="201168" cy="201168"/>
          </a:xfrm>
          <a:prstGeom prst="rect">
            <a:avLst/>
          </a:prstGeom>
        </p:spPr>
      </p:pic>
      <p:sp>
        <p:nvSpPr>
          <p:cNvPr id="40" name="Text 26"/>
          <p:cNvSpPr txBox="1"/>
          <p:nvPr/>
        </p:nvSpPr>
        <p:spPr>
          <a:xfrm>
            <a:off x="4873752" y="3026664"/>
            <a:ext cx="1728216" cy="219456"/>
          </a:xfrm>
          <a:prstGeom prst="rect">
            <a:avLst/>
          </a:prstGeom>
          <a:noFill/>
          <a:ln/>
        </p:spPr>
        <p:txBody>
          <a:bodyPr wrap="square" lIns="0" tIns="0" rIns="0" bIns="0" rtlCol="0" anchor="ctr"/>
          <a:lstStyle/>
          <a:p>
            <a:pPr indent="0" marL="0">
              <a:buNone/>
            </a:pPr>
            <a:r>
              <a:rPr lang="en-US" sz="900" b="1" dirty="0">
                <a:solidFill>
                  <a:srgbClr val="F4F8FC"/>
                </a:solidFill>
                <a:latin typeface="Consolas" pitchFamily="34" charset="0"/>
                <a:ea typeface="Consolas" pitchFamily="34" charset="-122"/>
                <a:cs typeface="Consolas" pitchFamily="34" charset="-120"/>
              </a:rPr>
              <a:t>student</a:t>
            </a:r>
            <a:endParaRPr lang="en-US" sz="900" dirty="0"/>
          </a:p>
        </p:txBody>
      </p:sp>
      <p:sp>
        <p:nvSpPr>
          <p:cNvPr id="41" name="Text 27"/>
          <p:cNvSpPr txBox="1"/>
          <p:nvPr/>
        </p:nvSpPr>
        <p:spPr>
          <a:xfrm>
            <a:off x="5760720" y="2606040"/>
            <a:ext cx="850392" cy="384048"/>
          </a:xfrm>
          <a:prstGeom prst="rect">
            <a:avLst/>
          </a:prstGeom>
          <a:noFill/>
          <a:ln/>
        </p:spPr>
        <p:txBody>
          <a:bodyPr wrap="square" lIns="0" tIns="0" rIns="0" bIns="0" rtlCol="0" anchor="ctr"/>
          <a:lstStyle/>
          <a:p>
            <a:pPr algn="r" indent="0" marL="0">
              <a:buNone/>
            </a:pPr>
            <a:r>
              <a:rPr lang="en-US" sz="1800" b="1" dirty="0">
                <a:solidFill>
                  <a:srgbClr val="4C9BFF"/>
                </a:solidFill>
                <a:latin typeface="Cambria" pitchFamily="34" charset="0"/>
                <a:ea typeface="Cambria" pitchFamily="34" charset="-122"/>
                <a:cs typeface="Cambria" pitchFamily="34" charset="-120"/>
              </a:rPr>
              <a:t>285</a:t>
            </a:r>
            <a:endParaRPr lang="en-US" sz="1800" dirty="0"/>
          </a:p>
        </p:txBody>
      </p:sp>
      <p:sp>
        <p:nvSpPr>
          <p:cNvPr id="42" name="Shape 28"/>
          <p:cNvSpPr/>
          <p:nvPr/>
        </p:nvSpPr>
        <p:spPr>
          <a:xfrm>
            <a:off x="548640" y="3575304"/>
            <a:ext cx="1965960" cy="914400"/>
          </a:xfrm>
          <a:prstGeom prst="roundRect">
            <a:avLst>
              <a:gd name="adj" fmla="val 100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43" name="Shape 29"/>
          <p:cNvSpPr/>
          <p:nvPr/>
        </p:nvSpPr>
        <p:spPr>
          <a:xfrm>
            <a:off x="644652" y="3671316"/>
            <a:ext cx="411480" cy="411480"/>
          </a:xfrm>
          <a:prstGeom prst="ellipse">
            <a:avLst/>
          </a:prstGeom>
          <a:solidFill>
            <a:srgbClr val="000000">
              <a:alpha val="25000"/>
            </a:srgbClr>
          </a:solidFill>
          <a:ln/>
        </p:spPr>
      </p:sp>
      <p:pic>
        <p:nvPicPr>
          <p:cNvPr id="44" name="Image 12" descr="preencoded.png">    </p:cNvPr>
          <p:cNvPicPr>
            <a:picLocks noChangeAspect="1"/>
          </p:cNvPicPr>
          <p:nvPr/>
        </p:nvPicPr>
        <p:blipFill>
          <a:blip r:embed="rId14"/>
          <a:stretch>
            <a:fillRect/>
          </a:stretch>
        </p:blipFill>
        <p:spPr>
          <a:xfrm>
            <a:off x="667512" y="3694176"/>
            <a:ext cx="365760" cy="365760"/>
          </a:xfrm>
          <a:prstGeom prst="rect">
            <a:avLst/>
          </a:prstGeom>
        </p:spPr>
      </p:pic>
      <p:pic>
        <p:nvPicPr>
          <p:cNvPr id="45" name="Image 13" descr="preencoded.png">    </p:cNvPr>
          <p:cNvPicPr>
            <a:picLocks noChangeAspect="1"/>
          </p:cNvPicPr>
          <p:nvPr/>
        </p:nvPicPr>
        <p:blipFill>
          <a:blip r:embed="rId15"/>
          <a:stretch>
            <a:fillRect/>
          </a:stretch>
        </p:blipFill>
        <p:spPr>
          <a:xfrm>
            <a:off x="749808" y="3776472"/>
            <a:ext cx="201168" cy="201168"/>
          </a:xfrm>
          <a:prstGeom prst="rect">
            <a:avLst/>
          </a:prstGeom>
        </p:spPr>
      </p:pic>
      <p:sp>
        <p:nvSpPr>
          <p:cNvPr id="46" name="Text 30"/>
          <p:cNvSpPr txBox="1"/>
          <p:nvPr/>
        </p:nvSpPr>
        <p:spPr>
          <a:xfrm>
            <a:off x="667512" y="4105656"/>
            <a:ext cx="1728216" cy="219456"/>
          </a:xfrm>
          <a:prstGeom prst="rect">
            <a:avLst/>
          </a:prstGeom>
          <a:noFill/>
          <a:ln/>
        </p:spPr>
        <p:txBody>
          <a:bodyPr wrap="square" lIns="0" tIns="0" rIns="0" bIns="0" rtlCol="0" anchor="ctr"/>
          <a:lstStyle/>
          <a:p>
            <a:pPr indent="0" marL="0">
              <a:buNone/>
            </a:pPr>
            <a:r>
              <a:rPr lang="en-US" sz="900" b="1" dirty="0">
                <a:solidFill>
                  <a:srgbClr val="F4F8FC"/>
                </a:solidFill>
                <a:latin typeface="Consolas" pitchFamily="34" charset="0"/>
                <a:ea typeface="Consolas" pitchFamily="34" charset="-122"/>
                <a:cs typeface="Consolas" pitchFamily="34" charset="-120"/>
              </a:rPr>
              <a:t>student_transport</a:t>
            </a:r>
            <a:endParaRPr lang="en-US" sz="900" dirty="0"/>
          </a:p>
        </p:txBody>
      </p:sp>
      <p:sp>
        <p:nvSpPr>
          <p:cNvPr id="47" name="Text 31"/>
          <p:cNvSpPr txBox="1"/>
          <p:nvPr/>
        </p:nvSpPr>
        <p:spPr>
          <a:xfrm>
            <a:off x="1554480" y="3685032"/>
            <a:ext cx="850392" cy="384048"/>
          </a:xfrm>
          <a:prstGeom prst="rect">
            <a:avLst/>
          </a:prstGeom>
          <a:noFill/>
          <a:ln/>
        </p:spPr>
        <p:txBody>
          <a:bodyPr wrap="square" lIns="0" tIns="0" rIns="0" bIns="0" rtlCol="0" anchor="ctr"/>
          <a:lstStyle/>
          <a:p>
            <a:pPr algn="r" indent="0" marL="0">
              <a:buNone/>
            </a:pPr>
            <a:r>
              <a:rPr lang="en-US" sz="1800" b="1" dirty="0">
                <a:solidFill>
                  <a:srgbClr val="4C9BFF"/>
                </a:solidFill>
                <a:latin typeface="Cambria" pitchFamily="34" charset="0"/>
                <a:ea typeface="Cambria" pitchFamily="34" charset="-122"/>
                <a:cs typeface="Cambria" pitchFamily="34" charset="-120"/>
              </a:rPr>
              <a:t>285</a:t>
            </a:r>
            <a:endParaRPr lang="en-US" sz="1800" dirty="0"/>
          </a:p>
        </p:txBody>
      </p:sp>
      <p:sp>
        <p:nvSpPr>
          <p:cNvPr id="48" name="Shape 32"/>
          <p:cNvSpPr/>
          <p:nvPr/>
        </p:nvSpPr>
        <p:spPr>
          <a:xfrm>
            <a:off x="2651760" y="3575304"/>
            <a:ext cx="1965960" cy="914400"/>
          </a:xfrm>
          <a:prstGeom prst="roundRect">
            <a:avLst>
              <a:gd name="adj" fmla="val 100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49" name="Shape 33"/>
          <p:cNvSpPr/>
          <p:nvPr/>
        </p:nvSpPr>
        <p:spPr>
          <a:xfrm>
            <a:off x="2747772" y="3671316"/>
            <a:ext cx="411480" cy="411480"/>
          </a:xfrm>
          <a:prstGeom prst="ellipse">
            <a:avLst/>
          </a:prstGeom>
          <a:solidFill>
            <a:srgbClr val="000000">
              <a:alpha val="25000"/>
            </a:srgbClr>
          </a:solidFill>
          <a:ln/>
        </p:spPr>
      </p:sp>
      <p:pic>
        <p:nvPicPr>
          <p:cNvPr id="50" name="Image 14" descr="preencoded.png">    </p:cNvPr>
          <p:cNvPicPr>
            <a:picLocks noChangeAspect="1"/>
          </p:cNvPicPr>
          <p:nvPr/>
        </p:nvPicPr>
        <p:blipFill>
          <a:blip r:embed="rId16"/>
          <a:stretch>
            <a:fillRect/>
          </a:stretch>
        </p:blipFill>
        <p:spPr>
          <a:xfrm>
            <a:off x="2770632" y="3694176"/>
            <a:ext cx="365760" cy="365760"/>
          </a:xfrm>
          <a:prstGeom prst="rect">
            <a:avLst/>
          </a:prstGeom>
        </p:spPr>
      </p:pic>
      <p:pic>
        <p:nvPicPr>
          <p:cNvPr id="51" name="Image 15" descr="preencoded.png">    </p:cNvPr>
          <p:cNvPicPr>
            <a:picLocks noChangeAspect="1"/>
          </p:cNvPicPr>
          <p:nvPr/>
        </p:nvPicPr>
        <p:blipFill>
          <a:blip r:embed="rId17"/>
          <a:stretch>
            <a:fillRect/>
          </a:stretch>
        </p:blipFill>
        <p:spPr>
          <a:xfrm>
            <a:off x="2852928" y="3776472"/>
            <a:ext cx="201168" cy="201168"/>
          </a:xfrm>
          <a:prstGeom prst="rect">
            <a:avLst/>
          </a:prstGeom>
        </p:spPr>
      </p:pic>
      <p:sp>
        <p:nvSpPr>
          <p:cNvPr id="52" name="Text 34"/>
          <p:cNvSpPr txBox="1"/>
          <p:nvPr/>
        </p:nvSpPr>
        <p:spPr>
          <a:xfrm>
            <a:off x="2770632" y="4105656"/>
            <a:ext cx="1728216" cy="219456"/>
          </a:xfrm>
          <a:prstGeom prst="rect">
            <a:avLst/>
          </a:prstGeom>
          <a:noFill/>
          <a:ln/>
        </p:spPr>
        <p:txBody>
          <a:bodyPr wrap="square" lIns="0" tIns="0" rIns="0" bIns="0" rtlCol="0" anchor="ctr"/>
          <a:lstStyle/>
          <a:p>
            <a:pPr indent="0" marL="0">
              <a:buNone/>
            </a:pPr>
            <a:r>
              <a:rPr lang="en-US" sz="900" b="1" dirty="0">
                <a:solidFill>
                  <a:srgbClr val="F4F8FC"/>
                </a:solidFill>
                <a:latin typeface="Consolas" pitchFamily="34" charset="0"/>
                <a:ea typeface="Consolas" pitchFamily="34" charset="-122"/>
                <a:cs typeface="Consolas" pitchFamily="34" charset="-120"/>
              </a:rPr>
              <a:t>pickup_record</a:t>
            </a:r>
            <a:endParaRPr lang="en-US" sz="900" dirty="0"/>
          </a:p>
        </p:txBody>
      </p:sp>
      <p:sp>
        <p:nvSpPr>
          <p:cNvPr id="53" name="Text 35"/>
          <p:cNvSpPr txBox="1"/>
          <p:nvPr/>
        </p:nvSpPr>
        <p:spPr>
          <a:xfrm>
            <a:off x="3657600" y="3685032"/>
            <a:ext cx="850392" cy="384048"/>
          </a:xfrm>
          <a:prstGeom prst="rect">
            <a:avLst/>
          </a:prstGeom>
          <a:noFill/>
          <a:ln/>
        </p:spPr>
        <p:txBody>
          <a:bodyPr wrap="square" lIns="0" tIns="0" rIns="0" bIns="0" rtlCol="0" anchor="ctr"/>
          <a:lstStyle/>
          <a:p>
            <a:pPr algn="r" indent="0" marL="0">
              <a:buNone/>
            </a:pPr>
            <a:r>
              <a:rPr lang="en-US" sz="1800" b="1" dirty="0">
                <a:solidFill>
                  <a:srgbClr val="4C9BFF"/>
                </a:solidFill>
                <a:latin typeface="Cambria" pitchFamily="34" charset="0"/>
                <a:ea typeface="Cambria" pitchFamily="34" charset="-122"/>
                <a:cs typeface="Cambria" pitchFamily="34" charset="-120"/>
              </a:rPr>
              <a:t>855</a:t>
            </a:r>
            <a:endParaRPr lang="en-US" sz="1800" dirty="0"/>
          </a:p>
        </p:txBody>
      </p:sp>
      <p:sp>
        <p:nvSpPr>
          <p:cNvPr id="54" name="Shape 36"/>
          <p:cNvSpPr/>
          <p:nvPr/>
        </p:nvSpPr>
        <p:spPr>
          <a:xfrm>
            <a:off x="4754880" y="3575304"/>
            <a:ext cx="1965960" cy="914400"/>
          </a:xfrm>
          <a:prstGeom prst="roundRect">
            <a:avLst>
              <a:gd name="adj" fmla="val 10000"/>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55" name="Shape 37"/>
          <p:cNvSpPr/>
          <p:nvPr/>
        </p:nvSpPr>
        <p:spPr>
          <a:xfrm>
            <a:off x="4850892" y="3671316"/>
            <a:ext cx="411480" cy="411480"/>
          </a:xfrm>
          <a:prstGeom prst="ellipse">
            <a:avLst/>
          </a:prstGeom>
          <a:solidFill>
            <a:srgbClr val="000000">
              <a:alpha val="25000"/>
            </a:srgbClr>
          </a:solidFill>
          <a:ln/>
        </p:spPr>
      </p:sp>
      <p:pic>
        <p:nvPicPr>
          <p:cNvPr id="56" name="Image 16" descr="preencoded.png">    </p:cNvPr>
          <p:cNvPicPr>
            <a:picLocks noChangeAspect="1"/>
          </p:cNvPicPr>
          <p:nvPr/>
        </p:nvPicPr>
        <p:blipFill>
          <a:blip r:embed="rId18"/>
          <a:stretch>
            <a:fillRect/>
          </a:stretch>
        </p:blipFill>
        <p:spPr>
          <a:xfrm>
            <a:off x="4873752" y="3694176"/>
            <a:ext cx="365760" cy="365760"/>
          </a:xfrm>
          <a:prstGeom prst="rect">
            <a:avLst/>
          </a:prstGeom>
        </p:spPr>
      </p:pic>
      <p:pic>
        <p:nvPicPr>
          <p:cNvPr id="57" name="Image 17" descr="preencoded.png">    </p:cNvPr>
          <p:cNvPicPr>
            <a:picLocks noChangeAspect="1"/>
          </p:cNvPicPr>
          <p:nvPr/>
        </p:nvPicPr>
        <p:blipFill>
          <a:blip r:embed="rId19"/>
          <a:stretch>
            <a:fillRect/>
          </a:stretch>
        </p:blipFill>
        <p:spPr>
          <a:xfrm>
            <a:off x="4956048" y="3776472"/>
            <a:ext cx="201168" cy="201168"/>
          </a:xfrm>
          <a:prstGeom prst="rect">
            <a:avLst/>
          </a:prstGeom>
        </p:spPr>
      </p:pic>
      <p:sp>
        <p:nvSpPr>
          <p:cNvPr id="58" name="Text 38"/>
          <p:cNvSpPr txBox="1"/>
          <p:nvPr/>
        </p:nvSpPr>
        <p:spPr>
          <a:xfrm>
            <a:off x="4873752" y="4105656"/>
            <a:ext cx="1728216" cy="219456"/>
          </a:xfrm>
          <a:prstGeom prst="rect">
            <a:avLst/>
          </a:prstGeom>
          <a:noFill/>
          <a:ln/>
        </p:spPr>
        <p:txBody>
          <a:bodyPr wrap="square" lIns="0" tIns="0" rIns="0" bIns="0" rtlCol="0" anchor="ctr"/>
          <a:lstStyle/>
          <a:p>
            <a:pPr indent="0" marL="0">
              <a:buNone/>
            </a:pPr>
            <a:r>
              <a:rPr lang="en-US" sz="900" b="1" dirty="0">
                <a:solidFill>
                  <a:srgbClr val="F4F8FC"/>
                </a:solidFill>
                <a:latin typeface="Consolas" pitchFamily="34" charset="0"/>
                <a:ea typeface="Consolas" pitchFamily="34" charset="-122"/>
                <a:cs typeface="Consolas" pitchFamily="34" charset="-120"/>
              </a:rPr>
              <a:t>transport_fee</a:t>
            </a:r>
            <a:endParaRPr lang="en-US" sz="900" dirty="0"/>
          </a:p>
        </p:txBody>
      </p:sp>
      <p:sp>
        <p:nvSpPr>
          <p:cNvPr id="59" name="Text 39"/>
          <p:cNvSpPr txBox="1"/>
          <p:nvPr/>
        </p:nvSpPr>
        <p:spPr>
          <a:xfrm>
            <a:off x="5760720" y="3685032"/>
            <a:ext cx="850392" cy="384048"/>
          </a:xfrm>
          <a:prstGeom prst="rect">
            <a:avLst/>
          </a:prstGeom>
          <a:noFill/>
          <a:ln/>
        </p:spPr>
        <p:txBody>
          <a:bodyPr wrap="square" lIns="0" tIns="0" rIns="0" bIns="0" rtlCol="0" anchor="ctr"/>
          <a:lstStyle/>
          <a:p>
            <a:pPr algn="r" indent="0" marL="0">
              <a:buNone/>
            </a:pPr>
            <a:r>
              <a:rPr lang="en-US" sz="1800" b="1" dirty="0">
                <a:solidFill>
                  <a:srgbClr val="4C9BFF"/>
                </a:solidFill>
                <a:latin typeface="Cambria" pitchFamily="34" charset="0"/>
                <a:ea typeface="Cambria" pitchFamily="34" charset="-122"/>
                <a:cs typeface="Cambria" pitchFamily="34" charset="-120"/>
              </a:rPr>
              <a:t>285</a:t>
            </a:r>
            <a:endParaRPr lang="en-US" sz="1800" dirty="0"/>
          </a:p>
        </p:txBody>
      </p:sp>
      <p:sp>
        <p:nvSpPr>
          <p:cNvPr id="60" name="Shape 40"/>
          <p:cNvSpPr/>
          <p:nvPr/>
        </p:nvSpPr>
        <p:spPr>
          <a:xfrm>
            <a:off x="7269480" y="1417320"/>
            <a:ext cx="4419295" cy="1417320"/>
          </a:xfrm>
          <a:prstGeom prst="roundRect">
            <a:avLst>
              <a:gd name="adj" fmla="val 9032"/>
            </a:avLst>
          </a:prstGeom>
          <a:solidFill>
            <a:srgbClr val="15396E">
              <a:alpha val="85000"/>
            </a:srgbClr>
          </a:solidFill>
          <a:ln w="15875">
            <a:solidFill>
              <a:srgbClr val="4C9BFF"/>
            </a:solidFill>
            <a:prstDash val="solid"/>
          </a:ln>
          <a:effectLst>
            <a:outerShdw sx="100000" sy="100000" kx="0" ky="0" algn="bl" rotWithShape="0" blurRad="127000" dist="38100" dir="5400000">
              <a:srgbClr val="000000">
                <a:alpha val="45000"/>
              </a:srgbClr>
            </a:outerShdw>
          </a:effectLst>
        </p:spPr>
      </p:sp>
      <p:sp>
        <p:nvSpPr>
          <p:cNvPr id="61" name="Text 41"/>
          <p:cNvSpPr txBox="1"/>
          <p:nvPr/>
        </p:nvSpPr>
        <p:spPr>
          <a:xfrm>
            <a:off x="7269480" y="1572768"/>
            <a:ext cx="4419295" cy="274320"/>
          </a:xfrm>
          <a:prstGeom prst="rect">
            <a:avLst/>
          </a:prstGeom>
          <a:noFill/>
          <a:ln/>
        </p:spPr>
        <p:txBody>
          <a:bodyPr wrap="square" lIns="0" tIns="0" rIns="0" bIns="0" rtlCol="0" anchor="ctr"/>
          <a:lstStyle/>
          <a:p>
            <a:pPr algn="ctr" indent="0" marL="0">
              <a:buNone/>
            </a:pPr>
            <a:r>
              <a:rPr lang="en-US" sz="1100" b="1" spc="150" kern="0" dirty="0">
                <a:solidFill>
                  <a:srgbClr val="93A5C2"/>
                </a:solidFill>
                <a:latin typeface="Calibri" pitchFamily="34" charset="0"/>
                <a:ea typeface="Calibri" pitchFamily="34" charset="-122"/>
                <a:cs typeface="Calibri" pitchFamily="34" charset="-120"/>
              </a:rPr>
              <a:t>TOTAL RECORDS</a:t>
            </a:r>
            <a:endParaRPr lang="en-US" sz="1100" dirty="0"/>
          </a:p>
        </p:txBody>
      </p:sp>
      <p:sp>
        <p:nvSpPr>
          <p:cNvPr id="62" name="Text 42"/>
          <p:cNvSpPr txBox="1"/>
          <p:nvPr/>
        </p:nvSpPr>
        <p:spPr>
          <a:xfrm>
            <a:off x="7269480" y="1810512"/>
            <a:ext cx="4419295" cy="914400"/>
          </a:xfrm>
          <a:prstGeom prst="rect">
            <a:avLst/>
          </a:prstGeom>
          <a:noFill/>
          <a:ln/>
        </p:spPr>
        <p:txBody>
          <a:bodyPr wrap="square" lIns="0" tIns="0" rIns="0" bIns="0" rtlCol="0" anchor="ctr"/>
          <a:lstStyle/>
          <a:p>
            <a:pPr algn="ctr" indent="0" marL="0">
              <a:buNone/>
            </a:pPr>
            <a:r>
              <a:rPr lang="en-US" sz="4800" b="1" dirty="0">
                <a:solidFill>
                  <a:srgbClr val="F4F8FC"/>
                </a:solidFill>
                <a:latin typeface="Cambria" pitchFamily="34" charset="0"/>
                <a:ea typeface="Cambria" pitchFamily="34" charset="-122"/>
                <a:cs typeface="Cambria" pitchFamily="34" charset="-120"/>
              </a:rPr>
              <a:t>1,773</a:t>
            </a:r>
            <a:endParaRPr lang="en-US" sz="4800" dirty="0"/>
          </a:p>
        </p:txBody>
      </p:sp>
      <p:sp>
        <p:nvSpPr>
          <p:cNvPr id="63" name="Text 43"/>
          <p:cNvSpPr txBox="1"/>
          <p:nvPr/>
        </p:nvSpPr>
        <p:spPr>
          <a:xfrm>
            <a:off x="7269480" y="3017520"/>
            <a:ext cx="1036244" cy="320040"/>
          </a:xfrm>
          <a:prstGeom prst="rect">
            <a:avLst/>
          </a:prstGeom>
          <a:noFill/>
          <a:ln/>
        </p:spPr>
        <p:txBody>
          <a:bodyPr wrap="square" lIns="0" tIns="0" rIns="0" bIns="0" rtlCol="0" anchor="ctr"/>
          <a:lstStyle/>
          <a:p>
            <a:pPr algn="ctr" indent="0" marL="0">
              <a:buNone/>
            </a:pPr>
            <a:r>
              <a:rPr lang="en-US" sz="1500" b="1" dirty="0">
                <a:solidFill>
                  <a:srgbClr val="4FE0D4"/>
                </a:solidFill>
                <a:latin typeface="Cambria" pitchFamily="34" charset="0"/>
                <a:ea typeface="Cambria" pitchFamily="34" charset="-122"/>
                <a:cs typeface="Cambria" pitchFamily="34" charset="-120"/>
              </a:rPr>
              <a:t>285</a:t>
            </a:r>
            <a:endParaRPr lang="en-US" sz="1500" dirty="0"/>
          </a:p>
        </p:txBody>
      </p:sp>
      <p:sp>
        <p:nvSpPr>
          <p:cNvPr id="64" name="Text 44"/>
          <p:cNvSpPr txBox="1"/>
          <p:nvPr/>
        </p:nvSpPr>
        <p:spPr>
          <a:xfrm>
            <a:off x="7269480" y="3337560"/>
            <a:ext cx="1036244" cy="365760"/>
          </a:xfrm>
          <a:prstGeom prst="rect">
            <a:avLst/>
          </a:prstGeom>
          <a:noFill/>
          <a:ln/>
        </p:spPr>
        <p:txBody>
          <a:bodyPr wrap="square" lIns="0" tIns="0" rIns="0" bIns="0" rtlCol="0" anchor="ctr"/>
          <a:lstStyle/>
          <a:p>
            <a:pPr algn="ctr" indent="0" marL="0">
              <a:lnSpc>
                <a:spcPct val="105000"/>
              </a:lnSpc>
              <a:buNone/>
            </a:pPr>
            <a:r>
              <a:rPr lang="en-US" sz="800" dirty="0">
                <a:solidFill>
                  <a:srgbClr val="56688A"/>
                </a:solidFill>
                <a:latin typeface="Calibri" pitchFamily="34" charset="0"/>
                <a:ea typeface="Calibri" pitchFamily="34" charset="-122"/>
                <a:cs typeface="Calibri" pitchFamily="34" charset="-120"/>
              </a:rPr>
              <a:t>Students</a:t>
            </a:r>
            <a:endParaRPr lang="en-US" sz="800" dirty="0"/>
          </a:p>
        </p:txBody>
      </p:sp>
      <p:sp>
        <p:nvSpPr>
          <p:cNvPr id="65" name="Text 45"/>
          <p:cNvSpPr txBox="1"/>
          <p:nvPr/>
        </p:nvSpPr>
        <p:spPr>
          <a:xfrm>
            <a:off x="8397164" y="3017520"/>
            <a:ext cx="1036244" cy="320040"/>
          </a:xfrm>
          <a:prstGeom prst="rect">
            <a:avLst/>
          </a:prstGeom>
          <a:noFill/>
          <a:ln/>
        </p:spPr>
        <p:txBody>
          <a:bodyPr wrap="square" lIns="0" tIns="0" rIns="0" bIns="0" rtlCol="0" anchor="ctr"/>
          <a:lstStyle/>
          <a:p>
            <a:pPr algn="ctr" indent="0" marL="0">
              <a:buNone/>
            </a:pPr>
            <a:r>
              <a:rPr lang="en-US" sz="1500" b="1" dirty="0">
                <a:solidFill>
                  <a:srgbClr val="4FE0D4"/>
                </a:solidFill>
                <a:latin typeface="Cambria" pitchFamily="34" charset="0"/>
                <a:ea typeface="Cambria" pitchFamily="34" charset="-122"/>
                <a:cs typeface="Cambria" pitchFamily="34" charset="-120"/>
              </a:rPr>
              <a:t>285</a:t>
            </a:r>
            <a:endParaRPr lang="en-US" sz="1500" dirty="0"/>
          </a:p>
        </p:txBody>
      </p:sp>
      <p:sp>
        <p:nvSpPr>
          <p:cNvPr id="66" name="Text 46"/>
          <p:cNvSpPr txBox="1"/>
          <p:nvPr/>
        </p:nvSpPr>
        <p:spPr>
          <a:xfrm>
            <a:off x="8397164" y="3337560"/>
            <a:ext cx="1036244" cy="365760"/>
          </a:xfrm>
          <a:prstGeom prst="rect">
            <a:avLst/>
          </a:prstGeom>
          <a:noFill/>
          <a:ln/>
        </p:spPr>
        <p:txBody>
          <a:bodyPr wrap="square" lIns="0" tIns="0" rIns="0" bIns="0" rtlCol="0" anchor="ctr"/>
          <a:lstStyle/>
          <a:p>
            <a:pPr algn="ctr" indent="0" marL="0">
              <a:lnSpc>
                <a:spcPct val="105000"/>
              </a:lnSpc>
              <a:buNone/>
            </a:pPr>
            <a:r>
              <a:rPr lang="en-US" sz="800" dirty="0">
                <a:solidFill>
                  <a:srgbClr val="56688A"/>
                </a:solidFill>
                <a:latin typeface="Calibri" pitchFamily="34" charset="0"/>
                <a:ea typeface="Calibri" pitchFamily="34" charset="-122"/>
                <a:cs typeface="Calibri" pitchFamily="34" charset="-120"/>
              </a:rPr>
              <a:t>Transport</a:t>
            </a:r>
            <a:endParaRPr lang="en-US" sz="800" dirty="0"/>
          </a:p>
          <a:p>
            <a:pPr algn="ctr" indent="0" marL="0">
              <a:lnSpc>
                <a:spcPct val="105000"/>
              </a:lnSpc>
              <a:buNone/>
            </a:pPr>
            <a:r>
              <a:rPr lang="en-US" sz="800" dirty="0">
                <a:solidFill>
                  <a:srgbClr val="56688A"/>
                </a:solidFill>
                <a:latin typeface="Calibri" pitchFamily="34" charset="0"/>
                <a:ea typeface="Calibri" pitchFamily="34" charset="-122"/>
                <a:cs typeface="Calibri" pitchFamily="34" charset="-120"/>
              </a:rPr>
              <a:t>Assignments</a:t>
            </a:r>
            <a:endParaRPr lang="en-US" sz="800" dirty="0"/>
          </a:p>
        </p:txBody>
      </p:sp>
      <p:sp>
        <p:nvSpPr>
          <p:cNvPr id="67" name="Text 47"/>
          <p:cNvSpPr txBox="1"/>
          <p:nvPr/>
        </p:nvSpPr>
        <p:spPr>
          <a:xfrm>
            <a:off x="9524848" y="3017520"/>
            <a:ext cx="1036244" cy="320040"/>
          </a:xfrm>
          <a:prstGeom prst="rect">
            <a:avLst/>
          </a:prstGeom>
          <a:noFill/>
          <a:ln/>
        </p:spPr>
        <p:txBody>
          <a:bodyPr wrap="square" lIns="0" tIns="0" rIns="0" bIns="0" rtlCol="0" anchor="ctr"/>
          <a:lstStyle/>
          <a:p>
            <a:pPr algn="ctr" indent="0" marL="0">
              <a:buNone/>
            </a:pPr>
            <a:r>
              <a:rPr lang="en-US" sz="1500" b="1" dirty="0">
                <a:solidFill>
                  <a:srgbClr val="4FE0D4"/>
                </a:solidFill>
                <a:latin typeface="Cambria" pitchFamily="34" charset="0"/>
                <a:ea typeface="Cambria" pitchFamily="34" charset="-122"/>
                <a:cs typeface="Cambria" pitchFamily="34" charset="-120"/>
              </a:rPr>
              <a:t>855</a:t>
            </a:r>
            <a:endParaRPr lang="en-US" sz="1500" dirty="0"/>
          </a:p>
        </p:txBody>
      </p:sp>
      <p:sp>
        <p:nvSpPr>
          <p:cNvPr id="68" name="Text 48"/>
          <p:cNvSpPr txBox="1"/>
          <p:nvPr/>
        </p:nvSpPr>
        <p:spPr>
          <a:xfrm>
            <a:off x="9524848" y="3337560"/>
            <a:ext cx="1036244" cy="365760"/>
          </a:xfrm>
          <a:prstGeom prst="rect">
            <a:avLst/>
          </a:prstGeom>
          <a:noFill/>
          <a:ln/>
        </p:spPr>
        <p:txBody>
          <a:bodyPr wrap="square" lIns="0" tIns="0" rIns="0" bIns="0" rtlCol="0" anchor="ctr"/>
          <a:lstStyle/>
          <a:p>
            <a:pPr algn="ctr" indent="0" marL="0">
              <a:lnSpc>
                <a:spcPct val="105000"/>
              </a:lnSpc>
              <a:buNone/>
            </a:pPr>
            <a:r>
              <a:rPr lang="en-US" sz="800" dirty="0">
                <a:solidFill>
                  <a:srgbClr val="56688A"/>
                </a:solidFill>
                <a:latin typeface="Calibri" pitchFamily="34" charset="0"/>
                <a:ea typeface="Calibri" pitchFamily="34" charset="-122"/>
                <a:cs typeface="Calibri" pitchFamily="34" charset="-120"/>
              </a:rPr>
              <a:t>Pickup</a:t>
            </a:r>
            <a:endParaRPr lang="en-US" sz="800" dirty="0"/>
          </a:p>
          <a:p>
            <a:pPr algn="ctr" indent="0" marL="0">
              <a:lnSpc>
                <a:spcPct val="105000"/>
              </a:lnSpc>
              <a:buNone/>
            </a:pPr>
            <a:r>
              <a:rPr lang="en-US" sz="800" dirty="0">
                <a:solidFill>
                  <a:srgbClr val="56688A"/>
                </a:solidFill>
                <a:latin typeface="Calibri" pitchFamily="34" charset="0"/>
                <a:ea typeface="Calibri" pitchFamily="34" charset="-122"/>
                <a:cs typeface="Calibri" pitchFamily="34" charset="-120"/>
              </a:rPr>
              <a:t>Records</a:t>
            </a:r>
            <a:endParaRPr lang="en-US" sz="800" dirty="0"/>
          </a:p>
        </p:txBody>
      </p:sp>
      <p:sp>
        <p:nvSpPr>
          <p:cNvPr id="69" name="Text 49"/>
          <p:cNvSpPr txBox="1"/>
          <p:nvPr/>
        </p:nvSpPr>
        <p:spPr>
          <a:xfrm>
            <a:off x="10652531" y="3017520"/>
            <a:ext cx="1036244" cy="320040"/>
          </a:xfrm>
          <a:prstGeom prst="rect">
            <a:avLst/>
          </a:prstGeom>
          <a:noFill/>
          <a:ln/>
        </p:spPr>
        <p:txBody>
          <a:bodyPr wrap="square" lIns="0" tIns="0" rIns="0" bIns="0" rtlCol="0" anchor="ctr"/>
          <a:lstStyle/>
          <a:p>
            <a:pPr algn="ctr" indent="0" marL="0">
              <a:buNone/>
            </a:pPr>
            <a:r>
              <a:rPr lang="en-US" sz="1500" b="1" dirty="0">
                <a:solidFill>
                  <a:srgbClr val="4FE0D4"/>
                </a:solidFill>
                <a:latin typeface="Cambria" pitchFamily="34" charset="0"/>
                <a:ea typeface="Cambria" pitchFamily="34" charset="-122"/>
                <a:cs typeface="Cambria" pitchFamily="34" charset="-120"/>
              </a:rPr>
              <a:t>285</a:t>
            </a:r>
            <a:endParaRPr lang="en-US" sz="1500" dirty="0"/>
          </a:p>
        </p:txBody>
      </p:sp>
      <p:sp>
        <p:nvSpPr>
          <p:cNvPr id="70" name="Text 50"/>
          <p:cNvSpPr txBox="1"/>
          <p:nvPr/>
        </p:nvSpPr>
        <p:spPr>
          <a:xfrm>
            <a:off x="10652531" y="3337560"/>
            <a:ext cx="1036244" cy="365760"/>
          </a:xfrm>
          <a:prstGeom prst="rect">
            <a:avLst/>
          </a:prstGeom>
          <a:noFill/>
          <a:ln/>
        </p:spPr>
        <p:txBody>
          <a:bodyPr wrap="square" lIns="0" tIns="0" rIns="0" bIns="0" rtlCol="0" anchor="ctr"/>
          <a:lstStyle/>
          <a:p>
            <a:pPr algn="ctr" indent="0" marL="0">
              <a:lnSpc>
                <a:spcPct val="105000"/>
              </a:lnSpc>
              <a:buNone/>
            </a:pPr>
            <a:r>
              <a:rPr lang="en-US" sz="800" dirty="0">
                <a:solidFill>
                  <a:srgbClr val="56688A"/>
                </a:solidFill>
                <a:latin typeface="Calibri" pitchFamily="34" charset="0"/>
                <a:ea typeface="Calibri" pitchFamily="34" charset="-122"/>
                <a:cs typeface="Calibri" pitchFamily="34" charset="-120"/>
              </a:rPr>
              <a:t>Fee</a:t>
            </a:r>
            <a:endParaRPr lang="en-US" sz="800" dirty="0"/>
          </a:p>
          <a:p>
            <a:pPr algn="ctr" indent="0" marL="0">
              <a:lnSpc>
                <a:spcPct val="105000"/>
              </a:lnSpc>
              <a:buNone/>
            </a:pPr>
            <a:r>
              <a:rPr lang="en-US" sz="800" dirty="0">
                <a:solidFill>
                  <a:srgbClr val="56688A"/>
                </a:solidFill>
                <a:latin typeface="Calibri" pitchFamily="34" charset="0"/>
                <a:ea typeface="Calibri" pitchFamily="34" charset="-122"/>
                <a:cs typeface="Calibri" pitchFamily="34" charset="-120"/>
              </a:rPr>
              <a:t>Records</a:t>
            </a:r>
            <a:endParaRPr lang="en-US" sz="800" dirty="0"/>
          </a:p>
        </p:txBody>
      </p:sp>
      <p:sp>
        <p:nvSpPr>
          <p:cNvPr id="71" name="Shape 51"/>
          <p:cNvSpPr/>
          <p:nvPr/>
        </p:nvSpPr>
        <p:spPr>
          <a:xfrm>
            <a:off x="8263821" y="3886200"/>
            <a:ext cx="2430612" cy="2240280"/>
          </a:xfrm>
          <a:prstGeom prst="roundRect">
            <a:avLst>
              <a:gd name="adj" fmla="val 3673"/>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72" name="Shape 52"/>
          <p:cNvSpPr/>
          <p:nvPr/>
        </p:nvSpPr>
        <p:spPr>
          <a:xfrm>
            <a:off x="8373549" y="3959352"/>
            <a:ext cx="73152" cy="73152"/>
          </a:xfrm>
          <a:prstGeom prst="ellipse">
            <a:avLst/>
          </a:prstGeom>
          <a:solidFill>
            <a:srgbClr val="FF6B6B"/>
          </a:solidFill>
          <a:ln w="12700">
            <a:solidFill>
              <a:srgbClr val="333333"/>
            </a:solidFill>
            <a:prstDash val="solid"/>
          </a:ln>
        </p:spPr>
      </p:sp>
      <p:sp>
        <p:nvSpPr>
          <p:cNvPr id="73" name="Shape 53"/>
          <p:cNvSpPr/>
          <p:nvPr/>
        </p:nvSpPr>
        <p:spPr>
          <a:xfrm>
            <a:off x="8519853" y="3959352"/>
            <a:ext cx="73152" cy="73152"/>
          </a:xfrm>
          <a:prstGeom prst="ellipse">
            <a:avLst/>
          </a:prstGeom>
          <a:solidFill>
            <a:srgbClr val="FFC75B"/>
          </a:solidFill>
          <a:ln w="12700">
            <a:solidFill>
              <a:srgbClr val="333333"/>
            </a:solidFill>
            <a:prstDash val="solid"/>
          </a:ln>
        </p:spPr>
      </p:sp>
      <p:sp>
        <p:nvSpPr>
          <p:cNvPr id="74" name="Shape 54"/>
          <p:cNvSpPr/>
          <p:nvPr/>
        </p:nvSpPr>
        <p:spPr>
          <a:xfrm>
            <a:off x="8666157" y="3959352"/>
            <a:ext cx="73152" cy="73152"/>
          </a:xfrm>
          <a:prstGeom prst="ellipse">
            <a:avLst/>
          </a:prstGeom>
          <a:solidFill>
            <a:srgbClr val="4FE0D4"/>
          </a:solidFill>
          <a:ln w="12700">
            <a:solidFill>
              <a:srgbClr val="333333"/>
            </a:solidFill>
            <a:prstDash val="solid"/>
          </a:ln>
        </p:spPr>
      </p:sp>
      <p:pic>
        <p:nvPicPr>
          <p:cNvPr id="75" name="Image 18" descr="/mnt/user-data/uploads/Screenshot_2026-10-04_164913.png">    </p:cNvPr>
          <p:cNvPicPr>
            <a:picLocks noChangeAspect="1"/>
          </p:cNvPicPr>
          <p:nvPr/>
        </p:nvPicPr>
        <p:blipFill>
          <a:blip r:embed="rId20"/>
          <a:stretch>
            <a:fillRect/>
          </a:stretch>
        </p:blipFill>
        <p:spPr>
          <a:xfrm>
            <a:off x="8401812" y="4105656"/>
            <a:ext cx="2154631" cy="2020824"/>
          </a:xfrm>
          <a:prstGeom prst="rect">
            <a:avLst/>
          </a:prstGeom>
        </p:spPr>
      </p:pic>
      <p:sp>
        <p:nvSpPr>
          <p:cNvPr id="76" name="Text 55"/>
          <p:cNvSpPr txBox="1"/>
          <p:nvPr/>
        </p:nvSpPr>
        <p:spPr>
          <a:xfrm>
            <a:off x="7269480" y="6181344"/>
            <a:ext cx="4419295" cy="256032"/>
          </a:xfrm>
          <a:prstGeom prst="rect">
            <a:avLst/>
          </a:prstGeom>
          <a:noFill/>
          <a:ln/>
        </p:spPr>
        <p:txBody>
          <a:bodyPr wrap="square" lIns="0" tIns="0" rIns="0" bIns="0" rtlCol="0" anchor="ctr"/>
          <a:lstStyle/>
          <a:p>
            <a:pPr algn="ctr" indent="0" marL="0">
              <a:buNone/>
            </a:pPr>
            <a:r>
              <a:rPr lang="en-US" sz="1000" b="1" dirty="0">
                <a:solidFill>
                  <a:srgbClr val="93A5C2"/>
                </a:solidFill>
                <a:latin typeface="Calibri" pitchFamily="34" charset="0"/>
                <a:ea typeface="Calibri" pitchFamily="34" charset="-122"/>
                <a:cs typeface="Calibri" pitchFamily="34" charset="-120"/>
              </a:rPr>
              <a:t>Live aggregate COUNT across all 9 tables</a:t>
            </a:r>
            <a:endParaRPr lang="en-US" sz="1000" dirty="0"/>
          </a:p>
        </p:txBody>
      </p:sp>
      <p:sp>
        <p:nvSpPr>
          <p:cNvPr id="77" name="Text 56"/>
          <p:cNvSpPr txBox="1"/>
          <p:nvPr/>
        </p:nvSpPr>
        <p:spPr>
          <a:xfrm>
            <a:off x="548640" y="6528816"/>
            <a:ext cx="8229600" cy="237744"/>
          </a:xfrm>
          <a:prstGeom prst="rect">
            <a:avLst/>
          </a:prstGeom>
          <a:noFill/>
          <a:ln/>
        </p:spPr>
        <p:txBody>
          <a:bodyPr wrap="square" lIns="0" tIns="0" rIns="0" bIns="0" rtlCol="0" anchor="ctr"/>
          <a:lstStyle/>
          <a:p>
            <a:pPr algn="l" indent="0" marL="0">
              <a:buNone/>
            </a:pPr>
            <a:r>
              <a:rPr lang="en-US" sz="800" dirty="0">
                <a:solidFill>
                  <a:srgbClr val="56688A"/>
                </a:solidFill>
                <a:latin typeface="Calibri" pitchFamily="34" charset="0"/>
                <a:ea typeface="Calibri" pitchFamily="34" charset="-122"/>
                <a:cs typeface="Calibri" pitchFamily="34" charset="-120"/>
              </a:rPr>
              <a:t>School Transport Route &amp; Student Pickup Management System — Presentation III</a:t>
            </a:r>
            <a:endParaRPr lang="en-US" sz="800" dirty="0"/>
          </a:p>
        </p:txBody>
      </p:sp>
      <p:sp>
        <p:nvSpPr>
          <p:cNvPr id="78" name="Text 57"/>
          <p:cNvSpPr txBox="1"/>
          <p:nvPr/>
        </p:nvSpPr>
        <p:spPr>
          <a:xfrm>
            <a:off x="11185855" y="6528816"/>
            <a:ext cx="457200" cy="237744"/>
          </a:xfrm>
          <a:prstGeom prst="rect">
            <a:avLst/>
          </a:prstGeom>
          <a:noFill/>
          <a:ln/>
        </p:spPr>
        <p:txBody>
          <a:bodyPr wrap="square" lIns="0" tIns="0" rIns="0" bIns="0" rtlCol="0" anchor="ctr"/>
          <a:lstStyle/>
          <a:p>
            <a:pPr algn="r" indent="0" marL="0">
              <a:buNone/>
            </a:pPr>
            <a:r>
              <a:rPr lang="en-US" sz="800" dirty="0">
                <a:solidFill>
                  <a:srgbClr val="56688A"/>
                </a:solidFill>
                <a:latin typeface="Calibri" pitchFamily="34" charset="0"/>
                <a:ea typeface="Calibri" pitchFamily="34" charset="-122"/>
                <a:cs typeface="Calibri" pitchFamily="34" charset="-120"/>
              </a:rPr>
              <a:t>5 / 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algn="l" indent="0" marL="0">
              <a:buNone/>
            </a:pPr>
            <a:r>
              <a:rPr lang="en-US" sz="1100" b="1" spc="220" kern="0" dirty="0">
                <a:solidFill>
                  <a:srgbClr val="4C9BFF"/>
                </a:solidFill>
                <a:latin typeface="Calibri" pitchFamily="34" charset="0"/>
                <a:ea typeface="Calibri" pitchFamily="34" charset="-122"/>
                <a:cs typeface="Calibri" pitchFamily="34" charset="-120"/>
              </a:rPr>
              <a:t>LIVE APPLICATION</a:t>
            </a:r>
            <a:endParaRPr lang="en-US" sz="1100" dirty="0"/>
          </a:p>
        </p:txBody>
      </p:sp>
      <p:sp>
        <p:nvSpPr>
          <p:cNvPr id="3" name="Text 1"/>
          <p:cNvSpPr txBox="1"/>
          <p:nvPr/>
        </p:nvSpPr>
        <p:spPr>
          <a:xfrm>
            <a:off x="548640" y="658368"/>
            <a:ext cx="10515600" cy="594360"/>
          </a:xfrm>
          <a:prstGeom prst="rect">
            <a:avLst/>
          </a:prstGeom>
          <a:noFill/>
          <a:ln/>
        </p:spPr>
        <p:txBody>
          <a:bodyPr wrap="square" lIns="0" tIns="0" rIns="0" bIns="0" rtlCol="0" anchor="ctr"/>
          <a:lstStyle/>
          <a:p>
            <a:pPr algn="l" indent="0" marL="0">
              <a:buNone/>
            </a:pPr>
            <a:r>
              <a:rPr lang="en-US" sz="2700" b="1" dirty="0">
                <a:solidFill>
                  <a:srgbClr val="F4F8FC"/>
                </a:solidFill>
                <a:latin typeface="Cambria" pitchFamily="34" charset="0"/>
                <a:ea typeface="Cambria" pitchFamily="34" charset="-122"/>
                <a:cs typeface="Cambria" pitchFamily="34" charset="-120"/>
              </a:rPr>
              <a:t>A Live Transport Management Dashboard</a:t>
            </a:r>
            <a:endParaRPr lang="en-US" sz="2700" dirty="0"/>
          </a:p>
        </p:txBody>
      </p:sp>
      <p:sp>
        <p:nvSpPr>
          <p:cNvPr id="4" name="Shape 2"/>
          <p:cNvSpPr/>
          <p:nvPr/>
        </p:nvSpPr>
        <p:spPr>
          <a:xfrm>
            <a:off x="10088575" y="457200"/>
            <a:ext cx="1554480" cy="310896"/>
          </a:xfrm>
          <a:prstGeom prst="roundRect">
            <a:avLst>
              <a:gd name="adj" fmla="val 50000"/>
            </a:avLst>
          </a:prstGeom>
          <a:solidFill>
            <a:srgbClr val="4FE0D4">
              <a:alpha val="18000"/>
            </a:srgbClr>
          </a:solidFill>
          <a:ln w="12700">
            <a:solidFill>
              <a:srgbClr val="4FE0D4"/>
            </a:solidFill>
            <a:prstDash val="solid"/>
          </a:ln>
        </p:spPr>
      </p:sp>
      <p:sp>
        <p:nvSpPr>
          <p:cNvPr id="5" name="Text 3"/>
          <p:cNvSpPr txBox="1"/>
          <p:nvPr/>
        </p:nvSpPr>
        <p:spPr>
          <a:xfrm>
            <a:off x="10088575" y="457200"/>
            <a:ext cx="1554480" cy="310896"/>
          </a:xfrm>
          <a:prstGeom prst="rect">
            <a:avLst/>
          </a:prstGeom>
          <a:noFill/>
          <a:ln/>
        </p:spPr>
        <p:txBody>
          <a:bodyPr wrap="square" lIns="0" tIns="0" rIns="0" bIns="0" rtlCol="0" anchor="ctr"/>
          <a:lstStyle/>
          <a:p>
            <a:pPr algn="ctr" indent="0" marL="0">
              <a:buNone/>
            </a:pPr>
            <a:r>
              <a:rPr lang="en-US" sz="950" b="1" spc="100" kern="0" dirty="0">
                <a:solidFill>
                  <a:srgbClr val="4FE0D4"/>
                </a:solidFill>
                <a:latin typeface="Calibri" pitchFamily="34" charset="0"/>
                <a:ea typeface="Calibri" pitchFamily="34" charset="-122"/>
                <a:cs typeface="Calibri" pitchFamily="34" charset="-120"/>
              </a:rPr>
              <a:t>MYSQL LIVE</a:t>
            </a:r>
            <a:endParaRPr lang="en-US" sz="950" dirty="0"/>
          </a:p>
        </p:txBody>
      </p:sp>
      <p:sp>
        <p:nvSpPr>
          <p:cNvPr id="6" name="Shape 4"/>
          <p:cNvSpPr/>
          <p:nvPr/>
        </p:nvSpPr>
        <p:spPr>
          <a:xfrm>
            <a:off x="502920" y="1371600"/>
            <a:ext cx="5760720" cy="3273406"/>
          </a:xfrm>
          <a:prstGeom prst="roundRect">
            <a:avLst>
              <a:gd name="adj" fmla="val 2514"/>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7" name="Shape 5"/>
          <p:cNvSpPr/>
          <p:nvPr/>
        </p:nvSpPr>
        <p:spPr>
          <a:xfrm>
            <a:off x="612648" y="1444752"/>
            <a:ext cx="73152" cy="73152"/>
          </a:xfrm>
          <a:prstGeom prst="ellipse">
            <a:avLst/>
          </a:prstGeom>
          <a:solidFill>
            <a:srgbClr val="FF6B6B"/>
          </a:solidFill>
          <a:ln w="12700">
            <a:solidFill>
              <a:srgbClr val="333333"/>
            </a:solidFill>
            <a:prstDash val="solid"/>
          </a:ln>
        </p:spPr>
      </p:sp>
      <p:sp>
        <p:nvSpPr>
          <p:cNvPr id="8" name="Shape 6"/>
          <p:cNvSpPr/>
          <p:nvPr/>
        </p:nvSpPr>
        <p:spPr>
          <a:xfrm>
            <a:off x="758952" y="1444752"/>
            <a:ext cx="73152" cy="73152"/>
          </a:xfrm>
          <a:prstGeom prst="ellipse">
            <a:avLst/>
          </a:prstGeom>
          <a:solidFill>
            <a:srgbClr val="FFC75B"/>
          </a:solidFill>
          <a:ln w="12700">
            <a:solidFill>
              <a:srgbClr val="333333"/>
            </a:solidFill>
            <a:prstDash val="solid"/>
          </a:ln>
        </p:spPr>
      </p:sp>
      <p:sp>
        <p:nvSpPr>
          <p:cNvPr id="9" name="Shape 7"/>
          <p:cNvSpPr/>
          <p:nvPr/>
        </p:nvSpPr>
        <p:spPr>
          <a:xfrm>
            <a:off x="905256" y="1444752"/>
            <a:ext cx="73152" cy="73152"/>
          </a:xfrm>
          <a:prstGeom prst="ellipse">
            <a:avLst/>
          </a:prstGeom>
          <a:solidFill>
            <a:srgbClr val="4FE0D4"/>
          </a:solidFill>
          <a:ln w="12700">
            <a:solidFill>
              <a:srgbClr val="333333"/>
            </a:solidFill>
            <a:prstDash val="solid"/>
          </a:ln>
        </p:spPr>
      </p:sp>
      <p:pic>
        <p:nvPicPr>
          <p:cNvPr id="10" name="Image 0" descr="/mnt/user-data/uploads/Screenshot_2026-10-04_164445.png">    </p:cNvPr>
          <p:cNvPicPr>
            <a:picLocks noChangeAspect="1"/>
          </p:cNvPicPr>
          <p:nvPr/>
        </p:nvPicPr>
        <p:blipFill>
          <a:blip r:embed="rId2"/>
          <a:stretch>
            <a:fillRect/>
          </a:stretch>
        </p:blipFill>
        <p:spPr>
          <a:xfrm>
            <a:off x="502920" y="1591056"/>
            <a:ext cx="5760720" cy="3053950"/>
          </a:xfrm>
          <a:prstGeom prst="rect">
            <a:avLst/>
          </a:prstGeom>
        </p:spPr>
      </p:pic>
      <p:sp>
        <p:nvSpPr>
          <p:cNvPr id="11" name="Text 8"/>
          <p:cNvSpPr txBox="1"/>
          <p:nvPr/>
        </p:nvSpPr>
        <p:spPr>
          <a:xfrm>
            <a:off x="502920" y="4699870"/>
            <a:ext cx="5760720" cy="256032"/>
          </a:xfrm>
          <a:prstGeom prst="rect">
            <a:avLst/>
          </a:prstGeom>
          <a:noFill/>
          <a:ln/>
        </p:spPr>
        <p:txBody>
          <a:bodyPr wrap="square" lIns="0" tIns="0" rIns="0" bIns="0" rtlCol="0" anchor="ctr"/>
          <a:lstStyle/>
          <a:p>
            <a:pPr algn="ctr" indent="0" marL="0">
              <a:buNone/>
            </a:pPr>
            <a:r>
              <a:rPr lang="en-US" sz="1000" b="1" dirty="0">
                <a:solidFill>
                  <a:srgbClr val="93A5C2"/>
                </a:solidFill>
                <a:latin typeface="Calibri" pitchFamily="34" charset="0"/>
                <a:ea typeface="Calibri" pitchFamily="34" charset="-122"/>
                <a:cs typeface="Calibri" pitchFamily="34" charset="-120"/>
              </a:rPr>
              <a:t>Dashboard — live counts from MySQL</a:t>
            </a:r>
            <a:endParaRPr lang="en-US" sz="1000" dirty="0"/>
          </a:p>
        </p:txBody>
      </p:sp>
      <p:sp>
        <p:nvSpPr>
          <p:cNvPr id="12" name="Shape 9"/>
          <p:cNvSpPr/>
          <p:nvPr/>
        </p:nvSpPr>
        <p:spPr>
          <a:xfrm>
            <a:off x="6492240" y="1371600"/>
            <a:ext cx="2606040" cy="1621071"/>
          </a:xfrm>
          <a:prstGeom prst="roundRect">
            <a:avLst>
              <a:gd name="adj" fmla="val 5077"/>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3" name="Shape 10"/>
          <p:cNvSpPr/>
          <p:nvPr/>
        </p:nvSpPr>
        <p:spPr>
          <a:xfrm>
            <a:off x="6601968" y="1444752"/>
            <a:ext cx="73152" cy="73152"/>
          </a:xfrm>
          <a:prstGeom prst="ellipse">
            <a:avLst/>
          </a:prstGeom>
          <a:solidFill>
            <a:srgbClr val="FF6B6B"/>
          </a:solidFill>
          <a:ln w="12700">
            <a:solidFill>
              <a:srgbClr val="333333"/>
            </a:solidFill>
            <a:prstDash val="solid"/>
          </a:ln>
        </p:spPr>
      </p:sp>
      <p:sp>
        <p:nvSpPr>
          <p:cNvPr id="14" name="Shape 11"/>
          <p:cNvSpPr/>
          <p:nvPr/>
        </p:nvSpPr>
        <p:spPr>
          <a:xfrm>
            <a:off x="6748272" y="1444752"/>
            <a:ext cx="73152" cy="73152"/>
          </a:xfrm>
          <a:prstGeom prst="ellipse">
            <a:avLst/>
          </a:prstGeom>
          <a:solidFill>
            <a:srgbClr val="FFC75B"/>
          </a:solidFill>
          <a:ln w="12700">
            <a:solidFill>
              <a:srgbClr val="333333"/>
            </a:solidFill>
            <a:prstDash val="solid"/>
          </a:ln>
        </p:spPr>
      </p:sp>
      <p:sp>
        <p:nvSpPr>
          <p:cNvPr id="15" name="Shape 12"/>
          <p:cNvSpPr/>
          <p:nvPr/>
        </p:nvSpPr>
        <p:spPr>
          <a:xfrm>
            <a:off x="6894576" y="1444752"/>
            <a:ext cx="73152" cy="73152"/>
          </a:xfrm>
          <a:prstGeom prst="ellipse">
            <a:avLst/>
          </a:prstGeom>
          <a:solidFill>
            <a:srgbClr val="4FE0D4"/>
          </a:solidFill>
          <a:ln w="12700">
            <a:solidFill>
              <a:srgbClr val="333333"/>
            </a:solidFill>
            <a:prstDash val="solid"/>
          </a:ln>
        </p:spPr>
      </p:sp>
      <p:pic>
        <p:nvPicPr>
          <p:cNvPr id="16" name="Image 1" descr="/mnt/user-data/uploads/Screenshot_2026-10-04_164528.png">    </p:cNvPr>
          <p:cNvPicPr>
            <a:picLocks noChangeAspect="1"/>
          </p:cNvPicPr>
          <p:nvPr/>
        </p:nvPicPr>
        <p:blipFill>
          <a:blip r:embed="rId3"/>
          <a:stretch>
            <a:fillRect/>
          </a:stretch>
        </p:blipFill>
        <p:spPr>
          <a:xfrm>
            <a:off x="6492240" y="1591056"/>
            <a:ext cx="2606040" cy="1401615"/>
          </a:xfrm>
          <a:prstGeom prst="rect">
            <a:avLst/>
          </a:prstGeom>
        </p:spPr>
      </p:pic>
      <p:sp>
        <p:nvSpPr>
          <p:cNvPr id="17" name="Text 13"/>
          <p:cNvSpPr txBox="1"/>
          <p:nvPr/>
        </p:nvSpPr>
        <p:spPr>
          <a:xfrm>
            <a:off x="6492240" y="3047535"/>
            <a:ext cx="2606040" cy="256032"/>
          </a:xfrm>
          <a:prstGeom prst="rect">
            <a:avLst/>
          </a:prstGeom>
          <a:noFill/>
          <a:ln/>
        </p:spPr>
        <p:txBody>
          <a:bodyPr wrap="square" lIns="0" tIns="0" rIns="0" bIns="0" rtlCol="0" anchor="ctr"/>
          <a:lstStyle/>
          <a:p>
            <a:pPr algn="ctr" indent="0" marL="0">
              <a:buNone/>
            </a:pPr>
            <a:r>
              <a:rPr lang="en-US" sz="1000" b="1" dirty="0">
                <a:solidFill>
                  <a:srgbClr val="93A5C2"/>
                </a:solidFill>
                <a:latin typeface="Calibri" pitchFamily="34" charset="0"/>
                <a:ea typeface="Calibri" pitchFamily="34" charset="-122"/>
                <a:cs typeface="Calibri" pitchFamily="34" charset="-120"/>
              </a:rPr>
              <a:t>Students — search &amp; filter</a:t>
            </a:r>
            <a:endParaRPr lang="en-US" sz="1000" dirty="0"/>
          </a:p>
        </p:txBody>
      </p:sp>
      <p:sp>
        <p:nvSpPr>
          <p:cNvPr id="18" name="Shape 14"/>
          <p:cNvSpPr/>
          <p:nvPr/>
        </p:nvSpPr>
        <p:spPr>
          <a:xfrm>
            <a:off x="9262872" y="1371600"/>
            <a:ext cx="2606040" cy="1644835"/>
          </a:xfrm>
          <a:prstGeom prst="roundRect">
            <a:avLst>
              <a:gd name="adj" fmla="val 5003"/>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9" name="Shape 15"/>
          <p:cNvSpPr/>
          <p:nvPr/>
        </p:nvSpPr>
        <p:spPr>
          <a:xfrm>
            <a:off x="9372600" y="1444752"/>
            <a:ext cx="73152" cy="73152"/>
          </a:xfrm>
          <a:prstGeom prst="ellipse">
            <a:avLst/>
          </a:prstGeom>
          <a:solidFill>
            <a:srgbClr val="FF6B6B"/>
          </a:solidFill>
          <a:ln w="12700">
            <a:solidFill>
              <a:srgbClr val="333333"/>
            </a:solidFill>
            <a:prstDash val="solid"/>
          </a:ln>
        </p:spPr>
      </p:sp>
      <p:sp>
        <p:nvSpPr>
          <p:cNvPr id="20" name="Shape 16"/>
          <p:cNvSpPr/>
          <p:nvPr/>
        </p:nvSpPr>
        <p:spPr>
          <a:xfrm>
            <a:off x="9518904" y="1444752"/>
            <a:ext cx="73152" cy="73152"/>
          </a:xfrm>
          <a:prstGeom prst="ellipse">
            <a:avLst/>
          </a:prstGeom>
          <a:solidFill>
            <a:srgbClr val="FFC75B"/>
          </a:solidFill>
          <a:ln w="12700">
            <a:solidFill>
              <a:srgbClr val="333333"/>
            </a:solidFill>
            <a:prstDash val="solid"/>
          </a:ln>
        </p:spPr>
      </p:sp>
      <p:sp>
        <p:nvSpPr>
          <p:cNvPr id="21" name="Shape 17"/>
          <p:cNvSpPr/>
          <p:nvPr/>
        </p:nvSpPr>
        <p:spPr>
          <a:xfrm>
            <a:off x="9665208" y="1444752"/>
            <a:ext cx="73152" cy="73152"/>
          </a:xfrm>
          <a:prstGeom prst="ellipse">
            <a:avLst/>
          </a:prstGeom>
          <a:solidFill>
            <a:srgbClr val="4FE0D4"/>
          </a:solidFill>
          <a:ln w="12700">
            <a:solidFill>
              <a:srgbClr val="333333"/>
            </a:solidFill>
            <a:prstDash val="solid"/>
          </a:ln>
        </p:spPr>
      </p:sp>
      <p:pic>
        <p:nvPicPr>
          <p:cNvPr id="22" name="Image 2" descr="/mnt/user-data/uploads/Screenshot_2026-10-04_164606.png">    </p:cNvPr>
          <p:cNvPicPr>
            <a:picLocks noChangeAspect="1"/>
          </p:cNvPicPr>
          <p:nvPr/>
        </p:nvPicPr>
        <p:blipFill>
          <a:blip r:embed="rId4"/>
          <a:stretch>
            <a:fillRect/>
          </a:stretch>
        </p:blipFill>
        <p:spPr>
          <a:xfrm>
            <a:off x="9262872" y="1591056"/>
            <a:ext cx="2606040" cy="1425379"/>
          </a:xfrm>
          <a:prstGeom prst="rect">
            <a:avLst/>
          </a:prstGeom>
        </p:spPr>
      </p:pic>
      <p:sp>
        <p:nvSpPr>
          <p:cNvPr id="23" name="Text 18"/>
          <p:cNvSpPr txBox="1"/>
          <p:nvPr/>
        </p:nvSpPr>
        <p:spPr>
          <a:xfrm>
            <a:off x="9262872" y="3071299"/>
            <a:ext cx="2606040" cy="256032"/>
          </a:xfrm>
          <a:prstGeom prst="rect">
            <a:avLst/>
          </a:prstGeom>
          <a:noFill/>
          <a:ln/>
        </p:spPr>
        <p:txBody>
          <a:bodyPr wrap="square" lIns="0" tIns="0" rIns="0" bIns="0" rtlCol="0" anchor="ctr"/>
          <a:lstStyle/>
          <a:p>
            <a:pPr algn="ctr" indent="0" marL="0">
              <a:buNone/>
            </a:pPr>
            <a:r>
              <a:rPr lang="en-US" sz="1000" b="1" dirty="0">
                <a:solidFill>
                  <a:srgbClr val="93A5C2"/>
                </a:solidFill>
                <a:latin typeface="Calibri" pitchFamily="34" charset="0"/>
                <a:ea typeface="Calibri" pitchFamily="34" charset="-122"/>
                <a:cs typeface="Calibri" pitchFamily="34" charset="-120"/>
              </a:rPr>
              <a:t>Transport — JOIN view</a:t>
            </a:r>
            <a:endParaRPr lang="en-US" sz="1000" dirty="0"/>
          </a:p>
        </p:txBody>
      </p:sp>
      <p:sp>
        <p:nvSpPr>
          <p:cNvPr id="24" name="Shape 19"/>
          <p:cNvSpPr/>
          <p:nvPr/>
        </p:nvSpPr>
        <p:spPr>
          <a:xfrm>
            <a:off x="6492240" y="3337560"/>
            <a:ext cx="2606040" cy="1659944"/>
          </a:xfrm>
          <a:prstGeom prst="roundRect">
            <a:avLst>
              <a:gd name="adj" fmla="val 4958"/>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25" name="Shape 20"/>
          <p:cNvSpPr/>
          <p:nvPr/>
        </p:nvSpPr>
        <p:spPr>
          <a:xfrm>
            <a:off x="6601968" y="3410712"/>
            <a:ext cx="73152" cy="73152"/>
          </a:xfrm>
          <a:prstGeom prst="ellipse">
            <a:avLst/>
          </a:prstGeom>
          <a:solidFill>
            <a:srgbClr val="FF6B6B"/>
          </a:solidFill>
          <a:ln w="12700">
            <a:solidFill>
              <a:srgbClr val="333333"/>
            </a:solidFill>
            <a:prstDash val="solid"/>
          </a:ln>
        </p:spPr>
      </p:sp>
      <p:sp>
        <p:nvSpPr>
          <p:cNvPr id="26" name="Shape 21"/>
          <p:cNvSpPr/>
          <p:nvPr/>
        </p:nvSpPr>
        <p:spPr>
          <a:xfrm>
            <a:off x="6748272" y="3410712"/>
            <a:ext cx="73152" cy="73152"/>
          </a:xfrm>
          <a:prstGeom prst="ellipse">
            <a:avLst/>
          </a:prstGeom>
          <a:solidFill>
            <a:srgbClr val="FFC75B"/>
          </a:solidFill>
          <a:ln w="12700">
            <a:solidFill>
              <a:srgbClr val="333333"/>
            </a:solidFill>
            <a:prstDash val="solid"/>
          </a:ln>
        </p:spPr>
      </p:sp>
      <p:sp>
        <p:nvSpPr>
          <p:cNvPr id="27" name="Shape 22"/>
          <p:cNvSpPr/>
          <p:nvPr/>
        </p:nvSpPr>
        <p:spPr>
          <a:xfrm>
            <a:off x="6894576" y="3410712"/>
            <a:ext cx="73152" cy="73152"/>
          </a:xfrm>
          <a:prstGeom prst="ellipse">
            <a:avLst/>
          </a:prstGeom>
          <a:solidFill>
            <a:srgbClr val="4FE0D4"/>
          </a:solidFill>
          <a:ln w="12700">
            <a:solidFill>
              <a:srgbClr val="333333"/>
            </a:solidFill>
            <a:prstDash val="solid"/>
          </a:ln>
        </p:spPr>
      </p:sp>
      <p:pic>
        <p:nvPicPr>
          <p:cNvPr id="28" name="Image 3" descr="/mnt/user-data/uploads/Screenshot_2026-10-04_164630.png">    </p:cNvPr>
          <p:cNvPicPr>
            <a:picLocks noChangeAspect="1"/>
          </p:cNvPicPr>
          <p:nvPr/>
        </p:nvPicPr>
        <p:blipFill>
          <a:blip r:embed="rId5"/>
          <a:stretch>
            <a:fillRect/>
          </a:stretch>
        </p:blipFill>
        <p:spPr>
          <a:xfrm>
            <a:off x="6492240" y="3557016"/>
            <a:ext cx="2606040" cy="1440488"/>
          </a:xfrm>
          <a:prstGeom prst="rect">
            <a:avLst/>
          </a:prstGeom>
        </p:spPr>
      </p:pic>
      <p:sp>
        <p:nvSpPr>
          <p:cNvPr id="29" name="Text 23"/>
          <p:cNvSpPr txBox="1"/>
          <p:nvPr/>
        </p:nvSpPr>
        <p:spPr>
          <a:xfrm>
            <a:off x="6492240" y="5052368"/>
            <a:ext cx="2606040" cy="256032"/>
          </a:xfrm>
          <a:prstGeom prst="rect">
            <a:avLst/>
          </a:prstGeom>
          <a:noFill/>
          <a:ln/>
        </p:spPr>
        <p:txBody>
          <a:bodyPr wrap="square" lIns="0" tIns="0" rIns="0" bIns="0" rtlCol="0" anchor="ctr"/>
          <a:lstStyle/>
          <a:p>
            <a:pPr algn="ctr" indent="0" marL="0">
              <a:buNone/>
            </a:pPr>
            <a:r>
              <a:rPr lang="en-US" sz="1000" b="1" dirty="0">
                <a:solidFill>
                  <a:srgbClr val="93A5C2"/>
                </a:solidFill>
                <a:latin typeface="Calibri" pitchFamily="34" charset="0"/>
                <a:ea typeface="Calibri" pitchFamily="34" charset="-122"/>
                <a:cs typeface="Calibri" pitchFamily="34" charset="-120"/>
              </a:rPr>
              <a:t>Routes — live capacity</a:t>
            </a:r>
            <a:endParaRPr lang="en-US" sz="1000" dirty="0"/>
          </a:p>
        </p:txBody>
      </p:sp>
      <p:sp>
        <p:nvSpPr>
          <p:cNvPr id="30" name="Shape 24"/>
          <p:cNvSpPr/>
          <p:nvPr/>
        </p:nvSpPr>
        <p:spPr>
          <a:xfrm>
            <a:off x="9262872" y="3337560"/>
            <a:ext cx="2606040" cy="1675515"/>
          </a:xfrm>
          <a:prstGeom prst="roundRect">
            <a:avLst>
              <a:gd name="adj" fmla="val 4912"/>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31" name="Shape 25"/>
          <p:cNvSpPr/>
          <p:nvPr/>
        </p:nvSpPr>
        <p:spPr>
          <a:xfrm>
            <a:off x="9372600" y="3410712"/>
            <a:ext cx="73152" cy="73152"/>
          </a:xfrm>
          <a:prstGeom prst="ellipse">
            <a:avLst/>
          </a:prstGeom>
          <a:solidFill>
            <a:srgbClr val="FF6B6B"/>
          </a:solidFill>
          <a:ln w="12700">
            <a:solidFill>
              <a:srgbClr val="333333"/>
            </a:solidFill>
            <a:prstDash val="solid"/>
          </a:ln>
        </p:spPr>
      </p:sp>
      <p:sp>
        <p:nvSpPr>
          <p:cNvPr id="32" name="Shape 26"/>
          <p:cNvSpPr/>
          <p:nvPr/>
        </p:nvSpPr>
        <p:spPr>
          <a:xfrm>
            <a:off x="9518904" y="3410712"/>
            <a:ext cx="73152" cy="73152"/>
          </a:xfrm>
          <a:prstGeom prst="ellipse">
            <a:avLst/>
          </a:prstGeom>
          <a:solidFill>
            <a:srgbClr val="FFC75B"/>
          </a:solidFill>
          <a:ln w="12700">
            <a:solidFill>
              <a:srgbClr val="333333"/>
            </a:solidFill>
            <a:prstDash val="solid"/>
          </a:ln>
        </p:spPr>
      </p:sp>
      <p:sp>
        <p:nvSpPr>
          <p:cNvPr id="33" name="Shape 27"/>
          <p:cNvSpPr/>
          <p:nvPr/>
        </p:nvSpPr>
        <p:spPr>
          <a:xfrm>
            <a:off x="9665208" y="3410712"/>
            <a:ext cx="73152" cy="73152"/>
          </a:xfrm>
          <a:prstGeom prst="ellipse">
            <a:avLst/>
          </a:prstGeom>
          <a:solidFill>
            <a:srgbClr val="4FE0D4"/>
          </a:solidFill>
          <a:ln w="12700">
            <a:solidFill>
              <a:srgbClr val="333333"/>
            </a:solidFill>
            <a:prstDash val="solid"/>
          </a:ln>
        </p:spPr>
      </p:sp>
      <p:pic>
        <p:nvPicPr>
          <p:cNvPr id="34" name="Image 4" descr="/mnt/user-data/uploads/Screenshot_2026-10-04_164730.png">    </p:cNvPr>
          <p:cNvPicPr>
            <a:picLocks noChangeAspect="1"/>
          </p:cNvPicPr>
          <p:nvPr/>
        </p:nvPicPr>
        <p:blipFill>
          <a:blip r:embed="rId6"/>
          <a:stretch>
            <a:fillRect/>
          </a:stretch>
        </p:blipFill>
        <p:spPr>
          <a:xfrm>
            <a:off x="9262872" y="3557016"/>
            <a:ext cx="2606040" cy="1456059"/>
          </a:xfrm>
          <a:prstGeom prst="rect">
            <a:avLst/>
          </a:prstGeom>
        </p:spPr>
      </p:pic>
      <p:sp>
        <p:nvSpPr>
          <p:cNvPr id="35" name="Text 28"/>
          <p:cNvSpPr txBox="1"/>
          <p:nvPr/>
        </p:nvSpPr>
        <p:spPr>
          <a:xfrm>
            <a:off x="9262872" y="5067939"/>
            <a:ext cx="2606040" cy="256032"/>
          </a:xfrm>
          <a:prstGeom prst="rect">
            <a:avLst/>
          </a:prstGeom>
          <a:noFill/>
          <a:ln/>
        </p:spPr>
        <p:txBody>
          <a:bodyPr wrap="square" lIns="0" tIns="0" rIns="0" bIns="0" rtlCol="0" anchor="ctr"/>
          <a:lstStyle/>
          <a:p>
            <a:pPr algn="ctr" indent="0" marL="0">
              <a:buNone/>
            </a:pPr>
            <a:r>
              <a:rPr lang="en-US" sz="1000" b="1" dirty="0">
                <a:solidFill>
                  <a:srgbClr val="93A5C2"/>
                </a:solidFill>
                <a:latin typeface="Calibri" pitchFamily="34" charset="0"/>
                <a:ea typeface="Calibri" pitchFamily="34" charset="-122"/>
                <a:cs typeface="Calibri" pitchFamily="34" charset="-120"/>
              </a:rPr>
              <a:t>Pickup Records — status log</a:t>
            </a:r>
            <a:endParaRPr lang="en-US" sz="1000" dirty="0"/>
          </a:p>
        </p:txBody>
      </p:sp>
      <p:sp>
        <p:nvSpPr>
          <p:cNvPr id="36" name="Shape 29"/>
          <p:cNvSpPr/>
          <p:nvPr/>
        </p:nvSpPr>
        <p:spPr>
          <a:xfrm>
            <a:off x="548640" y="5623560"/>
            <a:ext cx="1490864" cy="384048"/>
          </a:xfrm>
          <a:prstGeom prst="roundRect">
            <a:avLst>
              <a:gd name="adj" fmla="val 19048"/>
            </a:avLst>
          </a:prstGeom>
          <a:solidFill>
            <a:srgbClr val="0E1A2E">
              <a:alpha val="90000"/>
            </a:srgbClr>
          </a:solidFill>
          <a:ln w="9525">
            <a:solidFill>
              <a:srgbClr val="21324D"/>
            </a:solidFill>
            <a:prstDash val="solid"/>
          </a:ln>
        </p:spPr>
      </p:sp>
      <p:sp>
        <p:nvSpPr>
          <p:cNvPr id="37" name="Text 30"/>
          <p:cNvSpPr txBox="1"/>
          <p:nvPr/>
        </p:nvSpPr>
        <p:spPr>
          <a:xfrm>
            <a:off x="548640" y="5623560"/>
            <a:ext cx="1490864" cy="384048"/>
          </a:xfrm>
          <a:prstGeom prst="rect">
            <a:avLst/>
          </a:prstGeom>
          <a:noFill/>
          <a:ln/>
        </p:spPr>
        <p:txBody>
          <a:bodyPr wrap="square" lIns="0" tIns="0" rIns="0" bIns="0" rtlCol="0" anchor="ctr"/>
          <a:lstStyle/>
          <a:p>
            <a:pPr algn="ctr" indent="0" marL="0">
              <a:buNone/>
            </a:pPr>
            <a:r>
              <a:rPr lang="en-US" sz="900" b="1" dirty="0">
                <a:solidFill>
                  <a:srgbClr val="93A5C2"/>
                </a:solidFill>
                <a:latin typeface="Calibri" pitchFamily="34" charset="0"/>
                <a:ea typeface="Calibri" pitchFamily="34" charset="-122"/>
                <a:cs typeface="Calibri" pitchFamily="34" charset="-120"/>
              </a:rPr>
              <a:t>View</a:t>
            </a:r>
            <a:endParaRPr lang="en-US" sz="900" dirty="0"/>
          </a:p>
        </p:txBody>
      </p:sp>
      <p:sp>
        <p:nvSpPr>
          <p:cNvPr id="38" name="Shape 31"/>
          <p:cNvSpPr/>
          <p:nvPr/>
        </p:nvSpPr>
        <p:spPr>
          <a:xfrm>
            <a:off x="2149232" y="5623560"/>
            <a:ext cx="1490864" cy="384048"/>
          </a:xfrm>
          <a:prstGeom prst="roundRect">
            <a:avLst>
              <a:gd name="adj" fmla="val 19048"/>
            </a:avLst>
          </a:prstGeom>
          <a:solidFill>
            <a:srgbClr val="0E1A2E">
              <a:alpha val="90000"/>
            </a:srgbClr>
          </a:solidFill>
          <a:ln w="9525">
            <a:solidFill>
              <a:srgbClr val="21324D"/>
            </a:solidFill>
            <a:prstDash val="solid"/>
          </a:ln>
        </p:spPr>
      </p:sp>
      <p:sp>
        <p:nvSpPr>
          <p:cNvPr id="39" name="Text 32"/>
          <p:cNvSpPr txBox="1"/>
          <p:nvPr/>
        </p:nvSpPr>
        <p:spPr>
          <a:xfrm>
            <a:off x="2149232" y="5623560"/>
            <a:ext cx="1490864" cy="384048"/>
          </a:xfrm>
          <a:prstGeom prst="rect">
            <a:avLst/>
          </a:prstGeom>
          <a:noFill/>
          <a:ln/>
        </p:spPr>
        <p:txBody>
          <a:bodyPr wrap="square" lIns="0" tIns="0" rIns="0" bIns="0" rtlCol="0" anchor="ctr"/>
          <a:lstStyle/>
          <a:p>
            <a:pPr algn="ctr" indent="0" marL="0">
              <a:buNone/>
            </a:pPr>
            <a:r>
              <a:rPr lang="en-US" sz="900" b="1" dirty="0">
                <a:solidFill>
                  <a:srgbClr val="93A5C2"/>
                </a:solidFill>
                <a:latin typeface="Calibri" pitchFamily="34" charset="0"/>
                <a:ea typeface="Calibri" pitchFamily="34" charset="-122"/>
                <a:cs typeface="Calibri" pitchFamily="34" charset="-120"/>
              </a:rPr>
              <a:t>Search</a:t>
            </a:r>
            <a:endParaRPr lang="en-US" sz="900" dirty="0"/>
          </a:p>
        </p:txBody>
      </p:sp>
      <p:sp>
        <p:nvSpPr>
          <p:cNvPr id="40" name="Shape 33"/>
          <p:cNvSpPr/>
          <p:nvPr/>
        </p:nvSpPr>
        <p:spPr>
          <a:xfrm>
            <a:off x="3749824" y="5623560"/>
            <a:ext cx="1490864" cy="384048"/>
          </a:xfrm>
          <a:prstGeom prst="roundRect">
            <a:avLst>
              <a:gd name="adj" fmla="val 19048"/>
            </a:avLst>
          </a:prstGeom>
          <a:solidFill>
            <a:srgbClr val="0E1A2E">
              <a:alpha val="90000"/>
            </a:srgbClr>
          </a:solidFill>
          <a:ln w="9525">
            <a:solidFill>
              <a:srgbClr val="21324D"/>
            </a:solidFill>
            <a:prstDash val="solid"/>
          </a:ln>
        </p:spPr>
      </p:sp>
      <p:sp>
        <p:nvSpPr>
          <p:cNvPr id="41" name="Text 34"/>
          <p:cNvSpPr txBox="1"/>
          <p:nvPr/>
        </p:nvSpPr>
        <p:spPr>
          <a:xfrm>
            <a:off x="3749824" y="5623560"/>
            <a:ext cx="1490864" cy="384048"/>
          </a:xfrm>
          <a:prstGeom prst="rect">
            <a:avLst/>
          </a:prstGeom>
          <a:noFill/>
          <a:ln/>
        </p:spPr>
        <p:txBody>
          <a:bodyPr wrap="square" lIns="0" tIns="0" rIns="0" bIns="0" rtlCol="0" anchor="ctr"/>
          <a:lstStyle/>
          <a:p>
            <a:pPr algn="ctr" indent="0" marL="0">
              <a:buNone/>
            </a:pPr>
            <a:r>
              <a:rPr lang="en-US" sz="900" b="1" dirty="0">
                <a:solidFill>
                  <a:srgbClr val="93A5C2"/>
                </a:solidFill>
                <a:latin typeface="Calibri" pitchFamily="34" charset="0"/>
                <a:ea typeface="Calibri" pitchFamily="34" charset="-122"/>
                <a:cs typeface="Calibri" pitchFamily="34" charset="-120"/>
              </a:rPr>
              <a:t>Filter</a:t>
            </a:r>
            <a:endParaRPr lang="en-US" sz="900" dirty="0"/>
          </a:p>
        </p:txBody>
      </p:sp>
      <p:sp>
        <p:nvSpPr>
          <p:cNvPr id="42" name="Shape 35"/>
          <p:cNvSpPr/>
          <p:nvPr/>
        </p:nvSpPr>
        <p:spPr>
          <a:xfrm>
            <a:off x="5350416" y="5623560"/>
            <a:ext cx="1490864" cy="384048"/>
          </a:xfrm>
          <a:prstGeom prst="roundRect">
            <a:avLst>
              <a:gd name="adj" fmla="val 19048"/>
            </a:avLst>
          </a:prstGeom>
          <a:solidFill>
            <a:srgbClr val="0E1A2E">
              <a:alpha val="90000"/>
            </a:srgbClr>
          </a:solidFill>
          <a:ln w="9525">
            <a:solidFill>
              <a:srgbClr val="21324D"/>
            </a:solidFill>
            <a:prstDash val="solid"/>
          </a:ln>
        </p:spPr>
      </p:sp>
      <p:sp>
        <p:nvSpPr>
          <p:cNvPr id="43" name="Text 36"/>
          <p:cNvSpPr txBox="1"/>
          <p:nvPr/>
        </p:nvSpPr>
        <p:spPr>
          <a:xfrm>
            <a:off x="5350416" y="5623560"/>
            <a:ext cx="1490864" cy="384048"/>
          </a:xfrm>
          <a:prstGeom prst="rect">
            <a:avLst/>
          </a:prstGeom>
          <a:noFill/>
          <a:ln/>
        </p:spPr>
        <p:txBody>
          <a:bodyPr wrap="square" lIns="0" tIns="0" rIns="0" bIns="0" rtlCol="0" anchor="ctr"/>
          <a:lstStyle/>
          <a:p>
            <a:pPr algn="ctr" indent="0" marL="0">
              <a:buNone/>
            </a:pPr>
            <a:r>
              <a:rPr lang="en-US" sz="900" b="1" dirty="0">
                <a:solidFill>
                  <a:srgbClr val="93A5C2"/>
                </a:solidFill>
                <a:latin typeface="Calibri" pitchFamily="34" charset="0"/>
                <a:ea typeface="Calibri" pitchFamily="34" charset="-122"/>
                <a:cs typeface="Calibri" pitchFamily="34" charset="-120"/>
              </a:rPr>
              <a:t>Insert</a:t>
            </a:r>
            <a:endParaRPr lang="en-US" sz="900" dirty="0"/>
          </a:p>
        </p:txBody>
      </p:sp>
      <p:sp>
        <p:nvSpPr>
          <p:cNvPr id="44" name="Shape 37"/>
          <p:cNvSpPr/>
          <p:nvPr/>
        </p:nvSpPr>
        <p:spPr>
          <a:xfrm>
            <a:off x="6951008" y="5623560"/>
            <a:ext cx="1490864" cy="384048"/>
          </a:xfrm>
          <a:prstGeom prst="roundRect">
            <a:avLst>
              <a:gd name="adj" fmla="val 19048"/>
            </a:avLst>
          </a:prstGeom>
          <a:solidFill>
            <a:srgbClr val="0E1A2E">
              <a:alpha val="90000"/>
            </a:srgbClr>
          </a:solidFill>
          <a:ln w="9525">
            <a:solidFill>
              <a:srgbClr val="21324D"/>
            </a:solidFill>
            <a:prstDash val="solid"/>
          </a:ln>
        </p:spPr>
      </p:sp>
      <p:sp>
        <p:nvSpPr>
          <p:cNvPr id="45" name="Text 38"/>
          <p:cNvSpPr txBox="1"/>
          <p:nvPr/>
        </p:nvSpPr>
        <p:spPr>
          <a:xfrm>
            <a:off x="6951008" y="5623560"/>
            <a:ext cx="1490864" cy="384048"/>
          </a:xfrm>
          <a:prstGeom prst="rect">
            <a:avLst/>
          </a:prstGeom>
          <a:noFill/>
          <a:ln/>
        </p:spPr>
        <p:txBody>
          <a:bodyPr wrap="square" lIns="0" tIns="0" rIns="0" bIns="0" rtlCol="0" anchor="ctr"/>
          <a:lstStyle/>
          <a:p>
            <a:pPr algn="ctr" indent="0" marL="0">
              <a:buNone/>
            </a:pPr>
            <a:r>
              <a:rPr lang="en-US" sz="900" b="1" dirty="0">
                <a:solidFill>
                  <a:srgbClr val="93A5C2"/>
                </a:solidFill>
                <a:latin typeface="Calibri" pitchFamily="34" charset="0"/>
                <a:ea typeface="Calibri" pitchFamily="34" charset="-122"/>
                <a:cs typeface="Calibri" pitchFamily="34" charset="-120"/>
              </a:rPr>
              <a:t>Delete</a:t>
            </a:r>
            <a:endParaRPr lang="en-US" sz="900" dirty="0"/>
          </a:p>
        </p:txBody>
      </p:sp>
      <p:sp>
        <p:nvSpPr>
          <p:cNvPr id="46" name="Shape 39"/>
          <p:cNvSpPr/>
          <p:nvPr/>
        </p:nvSpPr>
        <p:spPr>
          <a:xfrm>
            <a:off x="8551599" y="5623560"/>
            <a:ext cx="1490864" cy="384048"/>
          </a:xfrm>
          <a:prstGeom prst="roundRect">
            <a:avLst>
              <a:gd name="adj" fmla="val 19048"/>
            </a:avLst>
          </a:prstGeom>
          <a:solidFill>
            <a:srgbClr val="0E1A2E">
              <a:alpha val="90000"/>
            </a:srgbClr>
          </a:solidFill>
          <a:ln w="9525">
            <a:solidFill>
              <a:srgbClr val="21324D"/>
            </a:solidFill>
            <a:prstDash val="solid"/>
          </a:ln>
        </p:spPr>
      </p:sp>
      <p:sp>
        <p:nvSpPr>
          <p:cNvPr id="47" name="Text 40"/>
          <p:cNvSpPr txBox="1"/>
          <p:nvPr/>
        </p:nvSpPr>
        <p:spPr>
          <a:xfrm>
            <a:off x="8551599" y="5623560"/>
            <a:ext cx="1490864" cy="384048"/>
          </a:xfrm>
          <a:prstGeom prst="rect">
            <a:avLst/>
          </a:prstGeom>
          <a:noFill/>
          <a:ln/>
        </p:spPr>
        <p:txBody>
          <a:bodyPr wrap="square" lIns="0" tIns="0" rIns="0" bIns="0" rtlCol="0" anchor="ctr"/>
          <a:lstStyle/>
          <a:p>
            <a:pPr algn="ctr" indent="0" marL="0">
              <a:buNone/>
            </a:pPr>
            <a:r>
              <a:rPr lang="en-US" sz="900" b="1" dirty="0">
                <a:solidFill>
                  <a:srgbClr val="93A5C2"/>
                </a:solidFill>
                <a:latin typeface="Calibri" pitchFamily="34" charset="0"/>
                <a:ea typeface="Calibri" pitchFamily="34" charset="-122"/>
                <a:cs typeface="Calibri" pitchFamily="34" charset="-120"/>
              </a:rPr>
              <a:t>Route Analysis</a:t>
            </a:r>
            <a:endParaRPr lang="en-US" sz="900" dirty="0"/>
          </a:p>
        </p:txBody>
      </p:sp>
      <p:sp>
        <p:nvSpPr>
          <p:cNvPr id="48" name="Shape 41"/>
          <p:cNvSpPr/>
          <p:nvPr/>
        </p:nvSpPr>
        <p:spPr>
          <a:xfrm>
            <a:off x="10152191" y="5623560"/>
            <a:ext cx="1490864" cy="384048"/>
          </a:xfrm>
          <a:prstGeom prst="roundRect">
            <a:avLst>
              <a:gd name="adj" fmla="val 19048"/>
            </a:avLst>
          </a:prstGeom>
          <a:solidFill>
            <a:srgbClr val="0E1A2E">
              <a:alpha val="90000"/>
            </a:srgbClr>
          </a:solidFill>
          <a:ln w="9525">
            <a:solidFill>
              <a:srgbClr val="21324D"/>
            </a:solidFill>
            <a:prstDash val="solid"/>
          </a:ln>
        </p:spPr>
      </p:sp>
      <p:sp>
        <p:nvSpPr>
          <p:cNvPr id="49" name="Text 42"/>
          <p:cNvSpPr txBox="1"/>
          <p:nvPr/>
        </p:nvSpPr>
        <p:spPr>
          <a:xfrm>
            <a:off x="10152191" y="5623560"/>
            <a:ext cx="1490864" cy="384048"/>
          </a:xfrm>
          <a:prstGeom prst="rect">
            <a:avLst/>
          </a:prstGeom>
          <a:noFill/>
          <a:ln/>
        </p:spPr>
        <p:txBody>
          <a:bodyPr wrap="square" lIns="0" tIns="0" rIns="0" bIns="0" rtlCol="0" anchor="ctr"/>
          <a:lstStyle/>
          <a:p>
            <a:pPr algn="ctr" indent="0" marL="0">
              <a:buNone/>
            </a:pPr>
            <a:r>
              <a:rPr lang="en-US" sz="900" b="1" dirty="0">
                <a:solidFill>
                  <a:srgbClr val="93A5C2"/>
                </a:solidFill>
                <a:latin typeface="Calibri" pitchFamily="34" charset="0"/>
                <a:ea typeface="Calibri" pitchFamily="34" charset="-122"/>
                <a:cs typeface="Calibri" pitchFamily="34" charset="-120"/>
              </a:rPr>
              <a:t>Capacity Analysis</a:t>
            </a:r>
            <a:endParaRPr lang="en-US" sz="900" dirty="0"/>
          </a:p>
        </p:txBody>
      </p:sp>
      <p:sp>
        <p:nvSpPr>
          <p:cNvPr id="50" name="Text 43"/>
          <p:cNvSpPr txBox="1"/>
          <p:nvPr/>
        </p:nvSpPr>
        <p:spPr>
          <a:xfrm>
            <a:off x="548640" y="6528816"/>
            <a:ext cx="8229600" cy="237744"/>
          </a:xfrm>
          <a:prstGeom prst="rect">
            <a:avLst/>
          </a:prstGeom>
          <a:noFill/>
          <a:ln/>
        </p:spPr>
        <p:txBody>
          <a:bodyPr wrap="square" lIns="0" tIns="0" rIns="0" bIns="0" rtlCol="0" anchor="ctr"/>
          <a:lstStyle/>
          <a:p>
            <a:pPr algn="l" indent="0" marL="0">
              <a:buNone/>
            </a:pPr>
            <a:r>
              <a:rPr lang="en-US" sz="800" dirty="0">
                <a:solidFill>
                  <a:srgbClr val="56688A"/>
                </a:solidFill>
                <a:latin typeface="Calibri" pitchFamily="34" charset="0"/>
                <a:ea typeface="Calibri" pitchFamily="34" charset="-122"/>
                <a:cs typeface="Calibri" pitchFamily="34" charset="-120"/>
              </a:rPr>
              <a:t>School Transport Route &amp; Student Pickup Management System — Presentation III</a:t>
            </a:r>
            <a:endParaRPr lang="en-US" sz="800" dirty="0"/>
          </a:p>
        </p:txBody>
      </p:sp>
      <p:sp>
        <p:nvSpPr>
          <p:cNvPr id="51" name="Text 44"/>
          <p:cNvSpPr txBox="1"/>
          <p:nvPr/>
        </p:nvSpPr>
        <p:spPr>
          <a:xfrm>
            <a:off x="11185855" y="6528816"/>
            <a:ext cx="457200" cy="237744"/>
          </a:xfrm>
          <a:prstGeom prst="rect">
            <a:avLst/>
          </a:prstGeom>
          <a:noFill/>
          <a:ln/>
        </p:spPr>
        <p:txBody>
          <a:bodyPr wrap="square" lIns="0" tIns="0" rIns="0" bIns="0" rtlCol="0" anchor="ctr"/>
          <a:lstStyle/>
          <a:p>
            <a:pPr algn="r" indent="0" marL="0">
              <a:buNone/>
            </a:pPr>
            <a:r>
              <a:rPr lang="en-US" sz="800" dirty="0">
                <a:solidFill>
                  <a:srgbClr val="56688A"/>
                </a:solidFill>
                <a:latin typeface="Calibri" pitchFamily="34" charset="0"/>
                <a:ea typeface="Calibri" pitchFamily="34" charset="-122"/>
                <a:cs typeface="Calibri" pitchFamily="34" charset="-120"/>
              </a:rPr>
              <a:t>6 / 9</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algn="l" indent="0" marL="0">
              <a:buNone/>
            </a:pPr>
            <a:r>
              <a:rPr lang="en-US" sz="1100" b="1" spc="220" kern="0" dirty="0">
                <a:solidFill>
                  <a:srgbClr val="4FE0D4"/>
                </a:solidFill>
                <a:latin typeface="Calibri" pitchFamily="34" charset="0"/>
                <a:ea typeface="Calibri" pitchFamily="34" charset="-122"/>
                <a:cs typeface="Calibri" pitchFamily="34" charset="-120"/>
              </a:rPr>
              <a:t>THE MOST IMPORTANT SLIDE</a:t>
            </a:r>
            <a:endParaRPr lang="en-US" sz="1100" dirty="0"/>
          </a:p>
        </p:txBody>
      </p:sp>
      <p:sp>
        <p:nvSpPr>
          <p:cNvPr id="3" name="Text 1"/>
          <p:cNvSpPr txBox="1"/>
          <p:nvPr/>
        </p:nvSpPr>
        <p:spPr>
          <a:xfrm>
            <a:off x="548640" y="658368"/>
            <a:ext cx="10515600" cy="594360"/>
          </a:xfrm>
          <a:prstGeom prst="rect">
            <a:avLst/>
          </a:prstGeom>
          <a:noFill/>
          <a:ln/>
        </p:spPr>
        <p:txBody>
          <a:bodyPr wrap="square" lIns="0" tIns="0" rIns="0" bIns="0" rtlCol="0" anchor="ctr"/>
          <a:lstStyle/>
          <a:p>
            <a:pPr algn="l" indent="0" marL="0">
              <a:buNone/>
            </a:pPr>
            <a:r>
              <a:rPr lang="en-US" sz="2700" b="1" dirty="0">
                <a:solidFill>
                  <a:srgbClr val="F4F8FC"/>
                </a:solidFill>
                <a:latin typeface="Cambria" pitchFamily="34" charset="0"/>
                <a:ea typeface="Cambria" pitchFamily="34" charset="-122"/>
                <a:cs typeface="Cambria" pitchFamily="34" charset="-120"/>
              </a:rPr>
              <a:t>Live Demo — UI ↔ MySQL</a:t>
            </a:r>
            <a:endParaRPr lang="en-US" sz="2700" dirty="0"/>
          </a:p>
        </p:txBody>
      </p:sp>
      <p:sp>
        <p:nvSpPr>
          <p:cNvPr id="4" name="Text 2"/>
          <p:cNvSpPr txBox="1"/>
          <p:nvPr/>
        </p:nvSpPr>
        <p:spPr>
          <a:xfrm>
            <a:off x="548640" y="1417320"/>
            <a:ext cx="548640" cy="274320"/>
          </a:xfrm>
          <a:prstGeom prst="rect">
            <a:avLst/>
          </a:prstGeom>
          <a:noFill/>
          <a:ln/>
        </p:spPr>
        <p:txBody>
          <a:bodyPr wrap="square" lIns="0" tIns="0" rIns="0" bIns="0" rtlCol="0" anchor="ctr"/>
          <a:lstStyle/>
          <a:p>
            <a:pPr indent="0" marL="0">
              <a:buNone/>
            </a:pPr>
            <a:r>
              <a:rPr lang="en-US" sz="1300" b="1" dirty="0">
                <a:solidFill>
                  <a:srgbClr val="56688A"/>
                </a:solidFill>
                <a:latin typeface="Cambria" pitchFamily="34" charset="0"/>
                <a:ea typeface="Cambria" pitchFamily="34" charset="-122"/>
                <a:cs typeface="Cambria" pitchFamily="34" charset="-120"/>
              </a:rPr>
              <a:t>01</a:t>
            </a:r>
            <a:endParaRPr lang="en-US" sz="1300" dirty="0"/>
          </a:p>
        </p:txBody>
      </p:sp>
      <p:sp>
        <p:nvSpPr>
          <p:cNvPr id="5" name="Text 3"/>
          <p:cNvSpPr txBox="1"/>
          <p:nvPr/>
        </p:nvSpPr>
        <p:spPr>
          <a:xfrm>
            <a:off x="1005840" y="1417320"/>
            <a:ext cx="1554480" cy="274320"/>
          </a:xfrm>
          <a:prstGeom prst="rect">
            <a:avLst/>
          </a:prstGeom>
          <a:noFill/>
          <a:ln/>
        </p:spPr>
        <p:txBody>
          <a:bodyPr wrap="square" lIns="0" tIns="0" rIns="0" bIns="0" rtlCol="0" anchor="ctr"/>
          <a:lstStyle/>
          <a:p>
            <a:pPr algn="l" indent="0" marL="0">
              <a:buNone/>
            </a:pPr>
            <a:r>
              <a:rPr lang="en-US" sz="1200" b="1" spc="100" kern="0" dirty="0">
                <a:solidFill>
                  <a:srgbClr val="4FE0D4"/>
                </a:solidFill>
                <a:latin typeface="Calibri" pitchFamily="34" charset="0"/>
                <a:ea typeface="Calibri" pitchFamily="34" charset="-122"/>
                <a:cs typeface="Calibri" pitchFamily="34" charset="-120"/>
              </a:rPr>
              <a:t>VIEW</a:t>
            </a:r>
            <a:endParaRPr lang="en-US" sz="1200" dirty="0"/>
          </a:p>
        </p:txBody>
      </p:sp>
      <p:sp>
        <p:nvSpPr>
          <p:cNvPr id="6" name="Shape 4"/>
          <p:cNvSpPr/>
          <p:nvPr/>
        </p:nvSpPr>
        <p:spPr>
          <a:xfrm>
            <a:off x="548640" y="1746504"/>
            <a:ext cx="2011680" cy="1301405"/>
          </a:xfrm>
          <a:prstGeom prst="roundRect">
            <a:avLst>
              <a:gd name="adj" fmla="val 6324"/>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7" name="Shape 5"/>
          <p:cNvSpPr/>
          <p:nvPr/>
        </p:nvSpPr>
        <p:spPr>
          <a:xfrm>
            <a:off x="658368" y="1819656"/>
            <a:ext cx="73152" cy="73152"/>
          </a:xfrm>
          <a:prstGeom prst="ellipse">
            <a:avLst/>
          </a:prstGeom>
          <a:solidFill>
            <a:srgbClr val="FF6B6B"/>
          </a:solidFill>
          <a:ln w="12700">
            <a:solidFill>
              <a:srgbClr val="333333"/>
            </a:solidFill>
            <a:prstDash val="solid"/>
          </a:ln>
        </p:spPr>
      </p:sp>
      <p:sp>
        <p:nvSpPr>
          <p:cNvPr id="8" name="Shape 6"/>
          <p:cNvSpPr/>
          <p:nvPr/>
        </p:nvSpPr>
        <p:spPr>
          <a:xfrm>
            <a:off x="804672" y="1819656"/>
            <a:ext cx="73152" cy="73152"/>
          </a:xfrm>
          <a:prstGeom prst="ellipse">
            <a:avLst/>
          </a:prstGeom>
          <a:solidFill>
            <a:srgbClr val="FFC75B"/>
          </a:solidFill>
          <a:ln w="12700">
            <a:solidFill>
              <a:srgbClr val="333333"/>
            </a:solidFill>
            <a:prstDash val="solid"/>
          </a:ln>
        </p:spPr>
      </p:sp>
      <p:sp>
        <p:nvSpPr>
          <p:cNvPr id="9" name="Shape 7"/>
          <p:cNvSpPr/>
          <p:nvPr/>
        </p:nvSpPr>
        <p:spPr>
          <a:xfrm>
            <a:off x="950976" y="1819656"/>
            <a:ext cx="73152" cy="73152"/>
          </a:xfrm>
          <a:prstGeom prst="ellipse">
            <a:avLst/>
          </a:prstGeom>
          <a:solidFill>
            <a:srgbClr val="4FE0D4"/>
          </a:solidFill>
          <a:ln w="12700">
            <a:solidFill>
              <a:srgbClr val="333333"/>
            </a:solidFill>
            <a:prstDash val="solid"/>
          </a:ln>
        </p:spPr>
      </p:sp>
      <p:pic>
        <p:nvPicPr>
          <p:cNvPr id="10" name="Image 0" descr="/mnt/user-data/uploads/Screenshot_2026-10-04_164528.png">    </p:cNvPr>
          <p:cNvPicPr>
            <a:picLocks noChangeAspect="1"/>
          </p:cNvPicPr>
          <p:nvPr/>
        </p:nvPicPr>
        <p:blipFill>
          <a:blip r:embed="rId2"/>
          <a:stretch>
            <a:fillRect/>
          </a:stretch>
        </p:blipFill>
        <p:spPr>
          <a:xfrm>
            <a:off x="548640" y="1965960"/>
            <a:ext cx="2011680" cy="1081949"/>
          </a:xfrm>
          <a:prstGeom prst="rect">
            <a:avLst/>
          </a:prstGeom>
        </p:spPr>
      </p:pic>
      <p:sp>
        <p:nvSpPr>
          <p:cNvPr id="11" name="Text 8"/>
          <p:cNvSpPr txBox="1"/>
          <p:nvPr/>
        </p:nvSpPr>
        <p:spPr>
          <a:xfrm>
            <a:off x="548640" y="3209544"/>
            <a:ext cx="2011680" cy="457200"/>
          </a:xfrm>
          <a:prstGeom prst="rect">
            <a:avLst/>
          </a:prstGeom>
          <a:noFill/>
          <a:ln/>
        </p:spPr>
        <p:txBody>
          <a:bodyPr wrap="square" lIns="0" tIns="0" rIns="0" bIns="0" rtlCol="0" anchor="ctr"/>
          <a:lstStyle/>
          <a:p>
            <a:pPr algn="ctr" indent="0" marL="0">
              <a:lnSpc>
                <a:spcPct val="110000"/>
              </a:lnSpc>
              <a:buNone/>
            </a:pPr>
            <a:r>
              <a:rPr lang="en-US" sz="900" dirty="0">
                <a:solidFill>
                  <a:srgbClr val="93A5C2"/>
                </a:solidFill>
                <a:latin typeface="Calibri" pitchFamily="34" charset="0"/>
                <a:ea typeface="Calibri" pitchFamily="34" charset="-122"/>
                <a:cs typeface="Calibri" pitchFamily="34" charset="-120"/>
              </a:rPr>
              <a:t>285 students visible</a:t>
            </a:r>
            <a:endParaRPr lang="en-US" sz="900" dirty="0"/>
          </a:p>
        </p:txBody>
      </p:sp>
      <p:sp>
        <p:nvSpPr>
          <p:cNvPr id="12" name="Shape 9"/>
          <p:cNvSpPr/>
          <p:nvPr/>
        </p:nvSpPr>
        <p:spPr>
          <a:xfrm>
            <a:off x="2560320" y="2455164"/>
            <a:ext cx="259004" cy="0"/>
          </a:xfrm>
          <a:prstGeom prst="line">
            <a:avLst/>
          </a:prstGeom>
          <a:noFill/>
          <a:ln w="25400">
            <a:solidFill>
              <a:srgbClr val="4C9BFF"/>
            </a:solidFill>
            <a:prstDash val="solid"/>
            <a:tailEnd type="triangle"/>
          </a:ln>
        </p:spPr>
      </p:sp>
      <p:sp>
        <p:nvSpPr>
          <p:cNvPr id="13" name="Text 10"/>
          <p:cNvSpPr txBox="1"/>
          <p:nvPr/>
        </p:nvSpPr>
        <p:spPr>
          <a:xfrm>
            <a:off x="2819324" y="1417320"/>
            <a:ext cx="548640" cy="274320"/>
          </a:xfrm>
          <a:prstGeom prst="rect">
            <a:avLst/>
          </a:prstGeom>
          <a:noFill/>
          <a:ln/>
        </p:spPr>
        <p:txBody>
          <a:bodyPr wrap="square" lIns="0" tIns="0" rIns="0" bIns="0" rtlCol="0" anchor="ctr"/>
          <a:lstStyle/>
          <a:p>
            <a:pPr indent="0" marL="0">
              <a:buNone/>
            </a:pPr>
            <a:r>
              <a:rPr lang="en-US" sz="1300" b="1" dirty="0">
                <a:solidFill>
                  <a:srgbClr val="56688A"/>
                </a:solidFill>
                <a:latin typeface="Cambria" pitchFamily="34" charset="0"/>
                <a:ea typeface="Cambria" pitchFamily="34" charset="-122"/>
                <a:cs typeface="Cambria" pitchFamily="34" charset="-120"/>
              </a:rPr>
              <a:t>02</a:t>
            </a:r>
            <a:endParaRPr lang="en-US" sz="1300" dirty="0"/>
          </a:p>
        </p:txBody>
      </p:sp>
      <p:sp>
        <p:nvSpPr>
          <p:cNvPr id="14" name="Text 11"/>
          <p:cNvSpPr txBox="1"/>
          <p:nvPr/>
        </p:nvSpPr>
        <p:spPr>
          <a:xfrm>
            <a:off x="3276524" y="1417320"/>
            <a:ext cx="1554480" cy="274320"/>
          </a:xfrm>
          <a:prstGeom prst="rect">
            <a:avLst/>
          </a:prstGeom>
          <a:noFill/>
          <a:ln/>
        </p:spPr>
        <p:txBody>
          <a:bodyPr wrap="square" lIns="0" tIns="0" rIns="0" bIns="0" rtlCol="0" anchor="ctr"/>
          <a:lstStyle/>
          <a:p>
            <a:pPr algn="l" indent="0" marL="0">
              <a:buNone/>
            </a:pPr>
            <a:r>
              <a:rPr lang="en-US" sz="1200" b="1" spc="100" kern="0" dirty="0">
                <a:solidFill>
                  <a:srgbClr val="4FE0D4"/>
                </a:solidFill>
                <a:latin typeface="Calibri" pitchFamily="34" charset="0"/>
                <a:ea typeface="Calibri" pitchFamily="34" charset="-122"/>
                <a:cs typeface="Calibri" pitchFamily="34" charset="-120"/>
              </a:rPr>
              <a:t>INSERT</a:t>
            </a:r>
            <a:endParaRPr lang="en-US" sz="1200" dirty="0"/>
          </a:p>
        </p:txBody>
      </p:sp>
      <p:sp>
        <p:nvSpPr>
          <p:cNvPr id="15" name="Shape 12"/>
          <p:cNvSpPr/>
          <p:nvPr/>
        </p:nvSpPr>
        <p:spPr>
          <a:xfrm>
            <a:off x="2819324" y="1746504"/>
            <a:ext cx="2011680" cy="636974"/>
          </a:xfrm>
          <a:prstGeom prst="roundRect">
            <a:avLst>
              <a:gd name="adj" fmla="val 12920"/>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6" name="Shape 13"/>
          <p:cNvSpPr/>
          <p:nvPr/>
        </p:nvSpPr>
        <p:spPr>
          <a:xfrm>
            <a:off x="2929052" y="1819656"/>
            <a:ext cx="73152" cy="73152"/>
          </a:xfrm>
          <a:prstGeom prst="ellipse">
            <a:avLst/>
          </a:prstGeom>
          <a:solidFill>
            <a:srgbClr val="FF6B6B"/>
          </a:solidFill>
          <a:ln w="12700">
            <a:solidFill>
              <a:srgbClr val="333333"/>
            </a:solidFill>
            <a:prstDash val="solid"/>
          </a:ln>
        </p:spPr>
      </p:sp>
      <p:sp>
        <p:nvSpPr>
          <p:cNvPr id="17" name="Shape 14"/>
          <p:cNvSpPr/>
          <p:nvPr/>
        </p:nvSpPr>
        <p:spPr>
          <a:xfrm>
            <a:off x="3075356" y="1819656"/>
            <a:ext cx="73152" cy="73152"/>
          </a:xfrm>
          <a:prstGeom prst="ellipse">
            <a:avLst/>
          </a:prstGeom>
          <a:solidFill>
            <a:srgbClr val="FFC75B"/>
          </a:solidFill>
          <a:ln w="12700">
            <a:solidFill>
              <a:srgbClr val="333333"/>
            </a:solidFill>
            <a:prstDash val="solid"/>
          </a:ln>
        </p:spPr>
      </p:sp>
      <p:sp>
        <p:nvSpPr>
          <p:cNvPr id="18" name="Shape 15"/>
          <p:cNvSpPr/>
          <p:nvPr/>
        </p:nvSpPr>
        <p:spPr>
          <a:xfrm>
            <a:off x="3221660" y="1819656"/>
            <a:ext cx="73152" cy="73152"/>
          </a:xfrm>
          <a:prstGeom prst="ellipse">
            <a:avLst/>
          </a:prstGeom>
          <a:solidFill>
            <a:srgbClr val="4FE0D4"/>
          </a:solidFill>
          <a:ln w="12700">
            <a:solidFill>
              <a:srgbClr val="333333"/>
            </a:solidFill>
            <a:prstDash val="solid"/>
          </a:ln>
        </p:spPr>
      </p:sp>
      <p:pic>
        <p:nvPicPr>
          <p:cNvPr id="19" name="Image 1" descr="/mnt/user-data/uploads/Screenshot_2026-10-04_164155.png">    </p:cNvPr>
          <p:cNvPicPr>
            <a:picLocks noChangeAspect="1"/>
          </p:cNvPicPr>
          <p:nvPr/>
        </p:nvPicPr>
        <p:blipFill>
          <a:blip r:embed="rId3"/>
          <a:stretch>
            <a:fillRect/>
          </a:stretch>
        </p:blipFill>
        <p:spPr>
          <a:xfrm>
            <a:off x="2819324" y="1965960"/>
            <a:ext cx="2011680" cy="417518"/>
          </a:xfrm>
          <a:prstGeom prst="rect">
            <a:avLst/>
          </a:prstGeom>
        </p:spPr>
      </p:pic>
      <p:sp>
        <p:nvSpPr>
          <p:cNvPr id="20" name="Text 16"/>
          <p:cNvSpPr txBox="1"/>
          <p:nvPr/>
        </p:nvSpPr>
        <p:spPr>
          <a:xfrm>
            <a:off x="2819324" y="3209544"/>
            <a:ext cx="2011680" cy="457200"/>
          </a:xfrm>
          <a:prstGeom prst="rect">
            <a:avLst/>
          </a:prstGeom>
          <a:noFill/>
          <a:ln/>
        </p:spPr>
        <p:txBody>
          <a:bodyPr wrap="square" lIns="0" tIns="0" rIns="0" bIns="0" rtlCol="0" anchor="ctr"/>
          <a:lstStyle/>
          <a:p>
            <a:pPr algn="ctr" indent="0" marL="0">
              <a:lnSpc>
                <a:spcPct val="110000"/>
              </a:lnSpc>
              <a:buNone/>
            </a:pPr>
            <a:r>
              <a:rPr lang="en-US" sz="900" dirty="0">
                <a:solidFill>
                  <a:srgbClr val="93A5C2"/>
                </a:solidFill>
                <a:latin typeface="Calibri" pitchFamily="34" charset="0"/>
                <a:ea typeface="Calibri" pitchFamily="34" charset="-122"/>
                <a:cs typeface="Calibri" pitchFamily="34" charset="-120"/>
              </a:rPr>
              <a:t>S286 — Trilochan Demo</a:t>
            </a:r>
            <a:endParaRPr lang="en-US" sz="900" dirty="0"/>
          </a:p>
        </p:txBody>
      </p:sp>
      <p:sp>
        <p:nvSpPr>
          <p:cNvPr id="21" name="Shape 17"/>
          <p:cNvSpPr/>
          <p:nvPr/>
        </p:nvSpPr>
        <p:spPr>
          <a:xfrm>
            <a:off x="4831004" y="2455164"/>
            <a:ext cx="259004" cy="0"/>
          </a:xfrm>
          <a:prstGeom prst="line">
            <a:avLst/>
          </a:prstGeom>
          <a:noFill/>
          <a:ln w="25400">
            <a:solidFill>
              <a:srgbClr val="4C9BFF"/>
            </a:solidFill>
            <a:prstDash val="solid"/>
            <a:tailEnd type="triangle"/>
          </a:ln>
        </p:spPr>
      </p:sp>
      <p:sp>
        <p:nvSpPr>
          <p:cNvPr id="22" name="Text 18"/>
          <p:cNvSpPr txBox="1"/>
          <p:nvPr/>
        </p:nvSpPr>
        <p:spPr>
          <a:xfrm>
            <a:off x="5090008" y="1417320"/>
            <a:ext cx="548640" cy="274320"/>
          </a:xfrm>
          <a:prstGeom prst="rect">
            <a:avLst/>
          </a:prstGeom>
          <a:noFill/>
          <a:ln/>
        </p:spPr>
        <p:txBody>
          <a:bodyPr wrap="square" lIns="0" tIns="0" rIns="0" bIns="0" rtlCol="0" anchor="ctr"/>
          <a:lstStyle/>
          <a:p>
            <a:pPr indent="0" marL="0">
              <a:buNone/>
            </a:pPr>
            <a:r>
              <a:rPr lang="en-US" sz="1300" b="1" dirty="0">
                <a:solidFill>
                  <a:srgbClr val="56688A"/>
                </a:solidFill>
                <a:latin typeface="Cambria" pitchFamily="34" charset="0"/>
                <a:ea typeface="Cambria" pitchFamily="34" charset="-122"/>
                <a:cs typeface="Cambria" pitchFamily="34" charset="-120"/>
              </a:rPr>
              <a:t>03</a:t>
            </a:r>
            <a:endParaRPr lang="en-US" sz="1300" dirty="0"/>
          </a:p>
        </p:txBody>
      </p:sp>
      <p:sp>
        <p:nvSpPr>
          <p:cNvPr id="23" name="Text 19"/>
          <p:cNvSpPr txBox="1"/>
          <p:nvPr/>
        </p:nvSpPr>
        <p:spPr>
          <a:xfrm>
            <a:off x="5547208" y="1417320"/>
            <a:ext cx="1554480" cy="274320"/>
          </a:xfrm>
          <a:prstGeom prst="rect">
            <a:avLst/>
          </a:prstGeom>
          <a:noFill/>
          <a:ln/>
        </p:spPr>
        <p:txBody>
          <a:bodyPr wrap="square" lIns="0" tIns="0" rIns="0" bIns="0" rtlCol="0" anchor="ctr"/>
          <a:lstStyle/>
          <a:p>
            <a:pPr algn="l" indent="0" marL="0">
              <a:buNone/>
            </a:pPr>
            <a:r>
              <a:rPr lang="en-US" sz="1200" b="1" spc="100" kern="0" dirty="0">
                <a:solidFill>
                  <a:srgbClr val="4FE0D4"/>
                </a:solidFill>
                <a:latin typeface="Calibri" pitchFamily="34" charset="0"/>
                <a:ea typeface="Calibri" pitchFamily="34" charset="-122"/>
                <a:cs typeface="Calibri" pitchFamily="34" charset="-120"/>
              </a:rPr>
              <a:t>VERIFY</a:t>
            </a:r>
            <a:endParaRPr lang="en-US" sz="1200" dirty="0"/>
          </a:p>
        </p:txBody>
      </p:sp>
      <p:sp>
        <p:nvSpPr>
          <p:cNvPr id="24" name="Shape 20"/>
          <p:cNvSpPr/>
          <p:nvPr/>
        </p:nvSpPr>
        <p:spPr>
          <a:xfrm>
            <a:off x="5090008" y="1746504"/>
            <a:ext cx="2011680" cy="691211"/>
          </a:xfrm>
          <a:prstGeom prst="roundRect">
            <a:avLst>
              <a:gd name="adj" fmla="val 11906"/>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25" name="Shape 21"/>
          <p:cNvSpPr/>
          <p:nvPr/>
        </p:nvSpPr>
        <p:spPr>
          <a:xfrm>
            <a:off x="5199736" y="1819656"/>
            <a:ext cx="73152" cy="73152"/>
          </a:xfrm>
          <a:prstGeom prst="ellipse">
            <a:avLst/>
          </a:prstGeom>
          <a:solidFill>
            <a:srgbClr val="FF6B6B"/>
          </a:solidFill>
          <a:ln w="12700">
            <a:solidFill>
              <a:srgbClr val="333333"/>
            </a:solidFill>
            <a:prstDash val="solid"/>
          </a:ln>
        </p:spPr>
      </p:sp>
      <p:sp>
        <p:nvSpPr>
          <p:cNvPr id="26" name="Shape 22"/>
          <p:cNvSpPr/>
          <p:nvPr/>
        </p:nvSpPr>
        <p:spPr>
          <a:xfrm>
            <a:off x="5346040" y="1819656"/>
            <a:ext cx="73152" cy="73152"/>
          </a:xfrm>
          <a:prstGeom prst="ellipse">
            <a:avLst/>
          </a:prstGeom>
          <a:solidFill>
            <a:srgbClr val="FFC75B"/>
          </a:solidFill>
          <a:ln w="12700">
            <a:solidFill>
              <a:srgbClr val="333333"/>
            </a:solidFill>
            <a:prstDash val="solid"/>
          </a:ln>
        </p:spPr>
      </p:sp>
      <p:sp>
        <p:nvSpPr>
          <p:cNvPr id="27" name="Shape 23"/>
          <p:cNvSpPr/>
          <p:nvPr/>
        </p:nvSpPr>
        <p:spPr>
          <a:xfrm>
            <a:off x="5492344" y="1819656"/>
            <a:ext cx="73152" cy="73152"/>
          </a:xfrm>
          <a:prstGeom prst="ellipse">
            <a:avLst/>
          </a:prstGeom>
          <a:solidFill>
            <a:srgbClr val="4FE0D4"/>
          </a:solidFill>
          <a:ln w="12700">
            <a:solidFill>
              <a:srgbClr val="333333"/>
            </a:solidFill>
            <a:prstDash val="solid"/>
          </a:ln>
        </p:spPr>
      </p:sp>
      <p:pic>
        <p:nvPicPr>
          <p:cNvPr id="28" name="Image 2" descr="/mnt/user-data/uploads/Screenshot_2026-10-04_164118.png">    </p:cNvPr>
          <p:cNvPicPr>
            <a:picLocks noChangeAspect="1"/>
          </p:cNvPicPr>
          <p:nvPr/>
        </p:nvPicPr>
        <p:blipFill>
          <a:blip r:embed="rId4"/>
          <a:stretch>
            <a:fillRect/>
          </a:stretch>
        </p:blipFill>
        <p:spPr>
          <a:xfrm>
            <a:off x="5090008" y="1965960"/>
            <a:ext cx="2011680" cy="471755"/>
          </a:xfrm>
          <a:prstGeom prst="rect">
            <a:avLst/>
          </a:prstGeom>
        </p:spPr>
      </p:pic>
      <p:sp>
        <p:nvSpPr>
          <p:cNvPr id="29" name="Text 24"/>
          <p:cNvSpPr txBox="1"/>
          <p:nvPr/>
        </p:nvSpPr>
        <p:spPr>
          <a:xfrm>
            <a:off x="5090008" y="3209544"/>
            <a:ext cx="2011680" cy="457200"/>
          </a:xfrm>
          <a:prstGeom prst="rect">
            <a:avLst/>
          </a:prstGeom>
          <a:noFill/>
          <a:ln/>
        </p:spPr>
        <p:txBody>
          <a:bodyPr wrap="square" lIns="0" tIns="0" rIns="0" bIns="0" rtlCol="0" anchor="ctr"/>
          <a:lstStyle/>
          <a:p>
            <a:pPr algn="ctr" indent="0" marL="0">
              <a:lnSpc>
                <a:spcPct val="110000"/>
              </a:lnSpc>
              <a:buNone/>
            </a:pPr>
            <a:r>
              <a:rPr lang="en-US" sz="900" dirty="0">
                <a:solidFill>
                  <a:srgbClr val="93A5C2"/>
                </a:solidFill>
                <a:latin typeface="Calibri" pitchFamily="34" charset="0"/>
                <a:ea typeface="Calibri" pitchFamily="34" charset="-122"/>
                <a:cs typeface="Calibri" pitchFamily="34" charset="-120"/>
              </a:rPr>
              <a:t>MySQL: 1 row found</a:t>
            </a:r>
            <a:endParaRPr lang="en-US" sz="900" dirty="0"/>
          </a:p>
        </p:txBody>
      </p:sp>
      <p:sp>
        <p:nvSpPr>
          <p:cNvPr id="30" name="Shape 25"/>
          <p:cNvSpPr/>
          <p:nvPr/>
        </p:nvSpPr>
        <p:spPr>
          <a:xfrm>
            <a:off x="7101688" y="2455164"/>
            <a:ext cx="259004" cy="0"/>
          </a:xfrm>
          <a:prstGeom prst="line">
            <a:avLst/>
          </a:prstGeom>
          <a:noFill/>
          <a:ln w="25400">
            <a:solidFill>
              <a:srgbClr val="4C9BFF"/>
            </a:solidFill>
            <a:prstDash val="solid"/>
            <a:tailEnd type="triangle"/>
          </a:ln>
        </p:spPr>
      </p:sp>
      <p:sp>
        <p:nvSpPr>
          <p:cNvPr id="31" name="Text 26"/>
          <p:cNvSpPr txBox="1"/>
          <p:nvPr/>
        </p:nvSpPr>
        <p:spPr>
          <a:xfrm>
            <a:off x="7360691" y="1417320"/>
            <a:ext cx="548640" cy="274320"/>
          </a:xfrm>
          <a:prstGeom prst="rect">
            <a:avLst/>
          </a:prstGeom>
          <a:noFill/>
          <a:ln/>
        </p:spPr>
        <p:txBody>
          <a:bodyPr wrap="square" lIns="0" tIns="0" rIns="0" bIns="0" rtlCol="0" anchor="ctr"/>
          <a:lstStyle/>
          <a:p>
            <a:pPr indent="0" marL="0">
              <a:buNone/>
            </a:pPr>
            <a:r>
              <a:rPr lang="en-US" sz="1300" b="1" dirty="0">
                <a:solidFill>
                  <a:srgbClr val="56688A"/>
                </a:solidFill>
                <a:latin typeface="Cambria" pitchFamily="34" charset="0"/>
                <a:ea typeface="Cambria" pitchFamily="34" charset="-122"/>
                <a:cs typeface="Cambria" pitchFamily="34" charset="-120"/>
              </a:rPr>
              <a:t>04</a:t>
            </a:r>
            <a:endParaRPr lang="en-US" sz="1300" dirty="0"/>
          </a:p>
        </p:txBody>
      </p:sp>
      <p:sp>
        <p:nvSpPr>
          <p:cNvPr id="32" name="Text 27"/>
          <p:cNvSpPr txBox="1"/>
          <p:nvPr/>
        </p:nvSpPr>
        <p:spPr>
          <a:xfrm>
            <a:off x="7817891" y="1417320"/>
            <a:ext cx="1554480" cy="274320"/>
          </a:xfrm>
          <a:prstGeom prst="rect">
            <a:avLst/>
          </a:prstGeom>
          <a:noFill/>
          <a:ln/>
        </p:spPr>
        <p:txBody>
          <a:bodyPr wrap="square" lIns="0" tIns="0" rIns="0" bIns="0" rtlCol="0" anchor="ctr"/>
          <a:lstStyle/>
          <a:p>
            <a:pPr algn="l" indent="0" marL="0">
              <a:buNone/>
            </a:pPr>
            <a:r>
              <a:rPr lang="en-US" sz="1200" b="1" spc="100" kern="0" dirty="0">
                <a:solidFill>
                  <a:srgbClr val="4FE0D4"/>
                </a:solidFill>
                <a:latin typeface="Calibri" pitchFamily="34" charset="0"/>
                <a:ea typeface="Calibri" pitchFamily="34" charset="-122"/>
                <a:cs typeface="Calibri" pitchFamily="34" charset="-120"/>
              </a:rPr>
              <a:t>DELETE</a:t>
            </a:r>
            <a:endParaRPr lang="en-US" sz="1200" dirty="0"/>
          </a:p>
        </p:txBody>
      </p:sp>
      <p:sp>
        <p:nvSpPr>
          <p:cNvPr id="33" name="Shape 28"/>
          <p:cNvSpPr/>
          <p:nvPr/>
        </p:nvSpPr>
        <p:spPr>
          <a:xfrm>
            <a:off x="7360691" y="1746504"/>
            <a:ext cx="2011680" cy="1012125"/>
          </a:xfrm>
          <a:prstGeom prst="roundRect">
            <a:avLst>
              <a:gd name="adj" fmla="val 8131"/>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34" name="Shape 29"/>
          <p:cNvSpPr/>
          <p:nvPr/>
        </p:nvSpPr>
        <p:spPr>
          <a:xfrm>
            <a:off x="7470419" y="1819656"/>
            <a:ext cx="73152" cy="73152"/>
          </a:xfrm>
          <a:prstGeom prst="ellipse">
            <a:avLst/>
          </a:prstGeom>
          <a:solidFill>
            <a:srgbClr val="FF6B6B"/>
          </a:solidFill>
          <a:ln w="12700">
            <a:solidFill>
              <a:srgbClr val="333333"/>
            </a:solidFill>
            <a:prstDash val="solid"/>
          </a:ln>
        </p:spPr>
      </p:sp>
      <p:sp>
        <p:nvSpPr>
          <p:cNvPr id="35" name="Shape 30"/>
          <p:cNvSpPr/>
          <p:nvPr/>
        </p:nvSpPr>
        <p:spPr>
          <a:xfrm>
            <a:off x="7616723" y="1819656"/>
            <a:ext cx="73152" cy="73152"/>
          </a:xfrm>
          <a:prstGeom prst="ellipse">
            <a:avLst/>
          </a:prstGeom>
          <a:solidFill>
            <a:srgbClr val="FFC75B"/>
          </a:solidFill>
          <a:ln w="12700">
            <a:solidFill>
              <a:srgbClr val="333333"/>
            </a:solidFill>
            <a:prstDash val="solid"/>
          </a:ln>
        </p:spPr>
      </p:sp>
      <p:sp>
        <p:nvSpPr>
          <p:cNvPr id="36" name="Shape 31"/>
          <p:cNvSpPr/>
          <p:nvPr/>
        </p:nvSpPr>
        <p:spPr>
          <a:xfrm>
            <a:off x="7763027" y="1819656"/>
            <a:ext cx="73152" cy="73152"/>
          </a:xfrm>
          <a:prstGeom prst="ellipse">
            <a:avLst/>
          </a:prstGeom>
          <a:solidFill>
            <a:srgbClr val="4FE0D4"/>
          </a:solidFill>
          <a:ln w="12700">
            <a:solidFill>
              <a:srgbClr val="333333"/>
            </a:solidFill>
            <a:prstDash val="solid"/>
          </a:ln>
        </p:spPr>
      </p:sp>
      <p:pic>
        <p:nvPicPr>
          <p:cNvPr id="37" name="Image 3" descr="/mnt/user-data/uploads/Screenshot_2026-10-04_164303.png">    </p:cNvPr>
          <p:cNvPicPr>
            <a:picLocks noChangeAspect="1"/>
          </p:cNvPicPr>
          <p:nvPr/>
        </p:nvPicPr>
        <p:blipFill>
          <a:blip r:embed="rId5"/>
          <a:stretch>
            <a:fillRect/>
          </a:stretch>
        </p:blipFill>
        <p:spPr>
          <a:xfrm>
            <a:off x="7360691" y="1965960"/>
            <a:ext cx="2011680" cy="792669"/>
          </a:xfrm>
          <a:prstGeom prst="rect">
            <a:avLst/>
          </a:prstGeom>
        </p:spPr>
      </p:pic>
      <p:sp>
        <p:nvSpPr>
          <p:cNvPr id="38" name="Text 32"/>
          <p:cNvSpPr txBox="1"/>
          <p:nvPr/>
        </p:nvSpPr>
        <p:spPr>
          <a:xfrm>
            <a:off x="7360691" y="3209544"/>
            <a:ext cx="2011680" cy="457200"/>
          </a:xfrm>
          <a:prstGeom prst="rect">
            <a:avLst/>
          </a:prstGeom>
          <a:noFill/>
          <a:ln/>
        </p:spPr>
        <p:txBody>
          <a:bodyPr wrap="square" lIns="0" tIns="0" rIns="0" bIns="0" rtlCol="0" anchor="ctr"/>
          <a:lstStyle/>
          <a:p>
            <a:pPr algn="ctr" indent="0" marL="0">
              <a:lnSpc>
                <a:spcPct val="110000"/>
              </a:lnSpc>
              <a:buNone/>
            </a:pPr>
            <a:r>
              <a:rPr lang="en-US" sz="900" dirty="0">
                <a:solidFill>
                  <a:srgbClr val="93A5C2"/>
                </a:solidFill>
                <a:latin typeface="Calibri" pitchFamily="34" charset="0"/>
                <a:ea typeface="Calibri" pitchFamily="34" charset="-122"/>
                <a:cs typeface="Calibri" pitchFamily="34" charset="-120"/>
              </a:rPr>
              <a:t>Confirm &amp; remove S286</a:t>
            </a:r>
            <a:endParaRPr lang="en-US" sz="900" dirty="0"/>
          </a:p>
        </p:txBody>
      </p:sp>
      <p:sp>
        <p:nvSpPr>
          <p:cNvPr id="39" name="Shape 33"/>
          <p:cNvSpPr/>
          <p:nvPr/>
        </p:nvSpPr>
        <p:spPr>
          <a:xfrm>
            <a:off x="9372371" y="2455164"/>
            <a:ext cx="259004" cy="0"/>
          </a:xfrm>
          <a:prstGeom prst="line">
            <a:avLst/>
          </a:prstGeom>
          <a:noFill/>
          <a:ln w="25400">
            <a:solidFill>
              <a:srgbClr val="4C9BFF"/>
            </a:solidFill>
            <a:prstDash val="solid"/>
            <a:tailEnd type="triangle"/>
          </a:ln>
        </p:spPr>
      </p:sp>
      <p:sp>
        <p:nvSpPr>
          <p:cNvPr id="40" name="Text 34"/>
          <p:cNvSpPr txBox="1"/>
          <p:nvPr/>
        </p:nvSpPr>
        <p:spPr>
          <a:xfrm>
            <a:off x="9631375" y="1417320"/>
            <a:ext cx="548640" cy="274320"/>
          </a:xfrm>
          <a:prstGeom prst="rect">
            <a:avLst/>
          </a:prstGeom>
          <a:noFill/>
          <a:ln/>
        </p:spPr>
        <p:txBody>
          <a:bodyPr wrap="square" lIns="0" tIns="0" rIns="0" bIns="0" rtlCol="0" anchor="ctr"/>
          <a:lstStyle/>
          <a:p>
            <a:pPr indent="0" marL="0">
              <a:buNone/>
            </a:pPr>
            <a:r>
              <a:rPr lang="en-US" sz="1300" b="1" dirty="0">
                <a:solidFill>
                  <a:srgbClr val="56688A"/>
                </a:solidFill>
                <a:latin typeface="Cambria" pitchFamily="34" charset="0"/>
                <a:ea typeface="Cambria" pitchFamily="34" charset="-122"/>
                <a:cs typeface="Cambria" pitchFamily="34" charset="-120"/>
              </a:rPr>
              <a:t>05</a:t>
            </a:r>
            <a:endParaRPr lang="en-US" sz="1300" dirty="0"/>
          </a:p>
        </p:txBody>
      </p:sp>
      <p:sp>
        <p:nvSpPr>
          <p:cNvPr id="41" name="Text 35"/>
          <p:cNvSpPr txBox="1"/>
          <p:nvPr/>
        </p:nvSpPr>
        <p:spPr>
          <a:xfrm>
            <a:off x="10088575" y="1417320"/>
            <a:ext cx="1554480" cy="274320"/>
          </a:xfrm>
          <a:prstGeom prst="rect">
            <a:avLst/>
          </a:prstGeom>
          <a:noFill/>
          <a:ln/>
        </p:spPr>
        <p:txBody>
          <a:bodyPr wrap="square" lIns="0" tIns="0" rIns="0" bIns="0" rtlCol="0" anchor="ctr"/>
          <a:lstStyle/>
          <a:p>
            <a:pPr algn="l" indent="0" marL="0">
              <a:buNone/>
            </a:pPr>
            <a:r>
              <a:rPr lang="en-US" sz="1200" b="1" spc="100" kern="0" dirty="0">
                <a:solidFill>
                  <a:srgbClr val="4FE0D4"/>
                </a:solidFill>
                <a:latin typeface="Calibri" pitchFamily="34" charset="0"/>
                <a:ea typeface="Calibri" pitchFamily="34" charset="-122"/>
                <a:cs typeface="Calibri" pitchFamily="34" charset="-120"/>
              </a:rPr>
              <a:t>VERIFY</a:t>
            </a:r>
            <a:endParaRPr lang="en-US" sz="1200" dirty="0"/>
          </a:p>
        </p:txBody>
      </p:sp>
      <p:sp>
        <p:nvSpPr>
          <p:cNvPr id="42" name="Shape 36"/>
          <p:cNvSpPr/>
          <p:nvPr/>
        </p:nvSpPr>
        <p:spPr>
          <a:xfrm>
            <a:off x="9631375" y="1746504"/>
            <a:ext cx="2011680" cy="787727"/>
          </a:xfrm>
          <a:prstGeom prst="roundRect">
            <a:avLst>
              <a:gd name="adj" fmla="val 10447"/>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43" name="Shape 37"/>
          <p:cNvSpPr/>
          <p:nvPr/>
        </p:nvSpPr>
        <p:spPr>
          <a:xfrm>
            <a:off x="9741103" y="1819656"/>
            <a:ext cx="73152" cy="73152"/>
          </a:xfrm>
          <a:prstGeom prst="ellipse">
            <a:avLst/>
          </a:prstGeom>
          <a:solidFill>
            <a:srgbClr val="FF6B6B"/>
          </a:solidFill>
          <a:ln w="12700">
            <a:solidFill>
              <a:srgbClr val="333333"/>
            </a:solidFill>
            <a:prstDash val="solid"/>
          </a:ln>
        </p:spPr>
      </p:sp>
      <p:sp>
        <p:nvSpPr>
          <p:cNvPr id="44" name="Shape 38"/>
          <p:cNvSpPr/>
          <p:nvPr/>
        </p:nvSpPr>
        <p:spPr>
          <a:xfrm>
            <a:off x="9887407" y="1819656"/>
            <a:ext cx="73152" cy="73152"/>
          </a:xfrm>
          <a:prstGeom prst="ellipse">
            <a:avLst/>
          </a:prstGeom>
          <a:solidFill>
            <a:srgbClr val="FFC75B"/>
          </a:solidFill>
          <a:ln w="12700">
            <a:solidFill>
              <a:srgbClr val="333333"/>
            </a:solidFill>
            <a:prstDash val="solid"/>
          </a:ln>
        </p:spPr>
      </p:sp>
      <p:sp>
        <p:nvSpPr>
          <p:cNvPr id="45" name="Shape 39"/>
          <p:cNvSpPr/>
          <p:nvPr/>
        </p:nvSpPr>
        <p:spPr>
          <a:xfrm>
            <a:off x="10033711" y="1819656"/>
            <a:ext cx="73152" cy="73152"/>
          </a:xfrm>
          <a:prstGeom prst="ellipse">
            <a:avLst/>
          </a:prstGeom>
          <a:solidFill>
            <a:srgbClr val="4FE0D4"/>
          </a:solidFill>
          <a:ln w="12700">
            <a:solidFill>
              <a:srgbClr val="333333"/>
            </a:solidFill>
            <a:prstDash val="solid"/>
          </a:ln>
        </p:spPr>
      </p:sp>
      <p:pic>
        <p:nvPicPr>
          <p:cNvPr id="46" name="Image 4" descr="/mnt/user-data/uploads/Screenshot_2026-10-04_164341.png">    </p:cNvPr>
          <p:cNvPicPr>
            <a:picLocks noChangeAspect="1"/>
          </p:cNvPicPr>
          <p:nvPr/>
        </p:nvPicPr>
        <p:blipFill>
          <a:blip r:embed="rId6"/>
          <a:stretch>
            <a:fillRect/>
          </a:stretch>
        </p:blipFill>
        <p:spPr>
          <a:xfrm>
            <a:off x="9631375" y="1965960"/>
            <a:ext cx="2011680" cy="568271"/>
          </a:xfrm>
          <a:prstGeom prst="rect">
            <a:avLst/>
          </a:prstGeom>
        </p:spPr>
      </p:pic>
      <p:sp>
        <p:nvSpPr>
          <p:cNvPr id="47" name="Text 40"/>
          <p:cNvSpPr txBox="1"/>
          <p:nvPr/>
        </p:nvSpPr>
        <p:spPr>
          <a:xfrm>
            <a:off x="9631375" y="3209544"/>
            <a:ext cx="2011680" cy="457200"/>
          </a:xfrm>
          <a:prstGeom prst="rect">
            <a:avLst/>
          </a:prstGeom>
          <a:noFill/>
          <a:ln/>
        </p:spPr>
        <p:txBody>
          <a:bodyPr wrap="square" lIns="0" tIns="0" rIns="0" bIns="0" rtlCol="0" anchor="ctr"/>
          <a:lstStyle/>
          <a:p>
            <a:pPr algn="ctr" indent="0" marL="0">
              <a:lnSpc>
                <a:spcPct val="110000"/>
              </a:lnSpc>
              <a:buNone/>
            </a:pPr>
            <a:r>
              <a:rPr lang="en-US" sz="900" dirty="0">
                <a:solidFill>
                  <a:srgbClr val="93A5C2"/>
                </a:solidFill>
                <a:latin typeface="Calibri" pitchFamily="34" charset="0"/>
                <a:ea typeface="Calibri" pitchFamily="34" charset="-122"/>
                <a:cs typeface="Calibri" pitchFamily="34" charset="-120"/>
              </a:rPr>
              <a:t>MySQL: Empty set</a:t>
            </a:r>
            <a:endParaRPr lang="en-US" sz="900" dirty="0"/>
          </a:p>
        </p:txBody>
      </p:sp>
      <p:sp>
        <p:nvSpPr>
          <p:cNvPr id="48" name="Shape 41"/>
          <p:cNvSpPr/>
          <p:nvPr/>
        </p:nvSpPr>
        <p:spPr>
          <a:xfrm>
            <a:off x="548640" y="5486400"/>
            <a:ext cx="11094415" cy="548640"/>
          </a:xfrm>
          <a:prstGeom prst="roundRect">
            <a:avLst>
              <a:gd name="adj" fmla="val 50000"/>
            </a:avLst>
          </a:prstGeom>
          <a:solidFill>
            <a:srgbClr val="15396E">
              <a:alpha val="80000"/>
            </a:srgbClr>
          </a:solidFill>
          <a:ln w="12700">
            <a:solidFill>
              <a:srgbClr val="4C9BFF"/>
            </a:solidFill>
            <a:prstDash val="solid"/>
          </a:ln>
          <a:effectLst>
            <a:outerShdw sx="100000" sy="100000" kx="0" ky="0" algn="bl" rotWithShape="0" blurRad="127000" dist="38100" dir="5400000">
              <a:srgbClr val="000000">
                <a:alpha val="45000"/>
              </a:srgbClr>
            </a:outerShdw>
          </a:effectLst>
        </p:spPr>
      </p:sp>
      <p:sp>
        <p:nvSpPr>
          <p:cNvPr id="49" name="Text 42"/>
          <p:cNvSpPr txBox="1"/>
          <p:nvPr/>
        </p:nvSpPr>
        <p:spPr>
          <a:xfrm>
            <a:off x="548640" y="5486400"/>
            <a:ext cx="11094415" cy="548640"/>
          </a:xfrm>
          <a:prstGeom prst="rect">
            <a:avLst/>
          </a:prstGeom>
          <a:noFill/>
          <a:ln/>
        </p:spPr>
        <p:txBody>
          <a:bodyPr wrap="square" lIns="0" tIns="0" rIns="0" bIns="0" rtlCol="0" anchor="ctr"/>
          <a:lstStyle/>
          <a:p>
            <a:pPr algn="ctr" indent="0" marL="0">
              <a:buNone/>
            </a:pPr>
            <a:r>
              <a:rPr lang="en-US" sz="1300" b="1" spc="100" kern="0" dirty="0">
                <a:solidFill>
                  <a:srgbClr val="F4F8FC"/>
                </a:solidFill>
                <a:latin typeface="Consolas" pitchFamily="34" charset="0"/>
                <a:ea typeface="Consolas" pitchFamily="34" charset="-122"/>
                <a:cs typeface="Consolas" pitchFamily="34" charset="-120"/>
              </a:rPr>
              <a:t>UI ACTION   →   API   →   MYSQL   →   DATABASE UPDATED</a:t>
            </a:r>
            <a:endParaRPr lang="en-US" sz="1300" dirty="0"/>
          </a:p>
        </p:txBody>
      </p:sp>
      <p:sp>
        <p:nvSpPr>
          <p:cNvPr id="50" name="Text 43"/>
          <p:cNvSpPr txBox="1"/>
          <p:nvPr/>
        </p:nvSpPr>
        <p:spPr>
          <a:xfrm>
            <a:off x="548640" y="6172200"/>
            <a:ext cx="11094415" cy="274320"/>
          </a:xfrm>
          <a:prstGeom prst="rect">
            <a:avLst/>
          </a:prstGeom>
          <a:noFill/>
          <a:ln/>
        </p:spPr>
        <p:txBody>
          <a:bodyPr wrap="square" lIns="0" tIns="0" rIns="0" bIns="0" rtlCol="0" anchor="ctr"/>
          <a:lstStyle/>
          <a:p>
            <a:pPr algn="ctr" indent="0" marL="0">
              <a:buNone/>
            </a:pPr>
            <a:r>
              <a:rPr lang="en-US" sz="1000" i="1" dirty="0">
                <a:solidFill>
                  <a:srgbClr val="56688A"/>
                </a:solidFill>
                <a:latin typeface="Calibri" pitchFamily="34" charset="0"/>
                <a:ea typeface="Calibri" pitchFamily="34" charset="-122"/>
                <a:cs typeface="Calibri" pitchFamily="34" charset="-120"/>
              </a:rPr>
              <a:t>Temporary demo record S286 — inserted and deleted live, final count returns to 285.</a:t>
            </a:r>
            <a:endParaRPr lang="en-US" sz="1000" dirty="0"/>
          </a:p>
        </p:txBody>
      </p:sp>
      <p:sp>
        <p:nvSpPr>
          <p:cNvPr id="51" name="Text 44"/>
          <p:cNvSpPr txBox="1"/>
          <p:nvPr/>
        </p:nvSpPr>
        <p:spPr>
          <a:xfrm>
            <a:off x="548640" y="6528816"/>
            <a:ext cx="8229600" cy="237744"/>
          </a:xfrm>
          <a:prstGeom prst="rect">
            <a:avLst/>
          </a:prstGeom>
          <a:noFill/>
          <a:ln/>
        </p:spPr>
        <p:txBody>
          <a:bodyPr wrap="square" lIns="0" tIns="0" rIns="0" bIns="0" rtlCol="0" anchor="ctr"/>
          <a:lstStyle/>
          <a:p>
            <a:pPr algn="l" indent="0" marL="0">
              <a:buNone/>
            </a:pPr>
            <a:r>
              <a:rPr lang="en-US" sz="800" dirty="0">
                <a:solidFill>
                  <a:srgbClr val="56688A"/>
                </a:solidFill>
                <a:latin typeface="Calibri" pitchFamily="34" charset="0"/>
                <a:ea typeface="Calibri" pitchFamily="34" charset="-122"/>
                <a:cs typeface="Calibri" pitchFamily="34" charset="-120"/>
              </a:rPr>
              <a:t>School Transport Route &amp; Student Pickup Management System — Presentation III</a:t>
            </a:r>
            <a:endParaRPr lang="en-US" sz="800" dirty="0"/>
          </a:p>
        </p:txBody>
      </p:sp>
      <p:sp>
        <p:nvSpPr>
          <p:cNvPr id="52" name="Text 45"/>
          <p:cNvSpPr txBox="1"/>
          <p:nvPr/>
        </p:nvSpPr>
        <p:spPr>
          <a:xfrm>
            <a:off x="11185855" y="6528816"/>
            <a:ext cx="457200" cy="237744"/>
          </a:xfrm>
          <a:prstGeom prst="rect">
            <a:avLst/>
          </a:prstGeom>
          <a:noFill/>
          <a:ln/>
        </p:spPr>
        <p:txBody>
          <a:bodyPr wrap="square" lIns="0" tIns="0" rIns="0" bIns="0" rtlCol="0" anchor="ctr"/>
          <a:lstStyle/>
          <a:p>
            <a:pPr algn="r" indent="0" marL="0">
              <a:buNone/>
            </a:pPr>
            <a:r>
              <a:rPr lang="en-US" sz="800" dirty="0">
                <a:solidFill>
                  <a:srgbClr val="56688A"/>
                </a:solidFill>
                <a:latin typeface="Calibri" pitchFamily="34" charset="0"/>
                <a:ea typeface="Calibri" pitchFamily="34" charset="-122"/>
                <a:cs typeface="Calibri" pitchFamily="34" charset="-120"/>
              </a:rPr>
              <a:t>7 / 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algn="l" indent="0" marL="0">
              <a:buNone/>
            </a:pPr>
            <a:r>
              <a:rPr lang="en-US" sz="1100" b="1" spc="220" kern="0" dirty="0">
                <a:solidFill>
                  <a:srgbClr val="4C9BFF"/>
                </a:solidFill>
                <a:latin typeface="Calibri" pitchFamily="34" charset="0"/>
                <a:ea typeface="Calibri" pitchFamily="34" charset="-122"/>
                <a:cs typeface="Calibri" pitchFamily="34" charset="-120"/>
              </a:rPr>
              <a:t>QUERIES &amp; ANALYSIS</a:t>
            </a:r>
            <a:endParaRPr lang="en-US" sz="1100" dirty="0"/>
          </a:p>
        </p:txBody>
      </p:sp>
      <p:sp>
        <p:nvSpPr>
          <p:cNvPr id="3" name="Text 1"/>
          <p:cNvSpPr txBox="1"/>
          <p:nvPr/>
        </p:nvSpPr>
        <p:spPr>
          <a:xfrm>
            <a:off x="548640" y="658368"/>
            <a:ext cx="10515600" cy="594360"/>
          </a:xfrm>
          <a:prstGeom prst="rect">
            <a:avLst/>
          </a:prstGeom>
          <a:noFill/>
          <a:ln/>
        </p:spPr>
        <p:txBody>
          <a:bodyPr wrap="square" lIns="0" tIns="0" rIns="0" bIns="0" rtlCol="0" anchor="ctr"/>
          <a:lstStyle/>
          <a:p>
            <a:pPr algn="l" indent="0" marL="0">
              <a:buNone/>
            </a:pPr>
            <a:r>
              <a:rPr lang="en-US" sz="2700" b="1" dirty="0">
                <a:solidFill>
                  <a:srgbClr val="F4F8FC"/>
                </a:solidFill>
                <a:latin typeface="Cambria" pitchFamily="34" charset="0"/>
                <a:ea typeface="Cambria" pitchFamily="34" charset="-122"/>
                <a:cs typeface="Cambria" pitchFamily="34" charset="-120"/>
              </a:rPr>
              <a:t>From Raw Data to Useful Decisions</a:t>
            </a:r>
            <a:endParaRPr lang="en-US" sz="2700" dirty="0"/>
          </a:p>
        </p:txBody>
      </p:sp>
      <p:sp>
        <p:nvSpPr>
          <p:cNvPr id="4" name="Shape 2"/>
          <p:cNvSpPr/>
          <p:nvPr/>
        </p:nvSpPr>
        <p:spPr>
          <a:xfrm>
            <a:off x="548640" y="1371600"/>
            <a:ext cx="5440680" cy="2331720"/>
          </a:xfrm>
          <a:prstGeom prst="roundRect">
            <a:avLst>
              <a:gd name="adj" fmla="val 3922"/>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5" name="Text 3"/>
          <p:cNvSpPr txBox="1"/>
          <p:nvPr/>
        </p:nvSpPr>
        <p:spPr>
          <a:xfrm>
            <a:off x="694944" y="1463040"/>
            <a:ext cx="5148072" cy="274320"/>
          </a:xfrm>
          <a:prstGeom prst="rect">
            <a:avLst/>
          </a:prstGeom>
          <a:noFill/>
          <a:ln/>
        </p:spPr>
        <p:txBody>
          <a:bodyPr wrap="square" lIns="0" tIns="0" rIns="0" bIns="0" rtlCol="0" anchor="ctr"/>
          <a:lstStyle/>
          <a:p>
            <a:pPr indent="0" marL="0">
              <a:buNone/>
            </a:pPr>
            <a:r>
              <a:rPr lang="en-US" sz="1150" b="1" dirty="0">
                <a:solidFill>
                  <a:srgbClr val="4FE0D4"/>
                </a:solidFill>
                <a:latin typeface="Calibri" pitchFamily="34" charset="0"/>
                <a:ea typeface="Calibri" pitchFamily="34" charset="-122"/>
                <a:cs typeface="Calibri" pitchFamily="34" charset="-120"/>
              </a:rPr>
              <a:t>Students Under a Driver</a:t>
            </a:r>
            <a:endParaRPr lang="en-US" sz="1150" dirty="0"/>
          </a:p>
        </p:txBody>
      </p:sp>
      <p:sp>
        <p:nvSpPr>
          <p:cNvPr id="6" name="Text 4"/>
          <p:cNvSpPr txBox="1"/>
          <p:nvPr/>
        </p:nvSpPr>
        <p:spPr>
          <a:xfrm>
            <a:off x="694944" y="1792224"/>
            <a:ext cx="5148072" cy="1554480"/>
          </a:xfrm>
          <a:prstGeom prst="rect">
            <a:avLst/>
          </a:prstGeom>
          <a:noFill/>
          <a:ln/>
        </p:spPr>
        <p:txBody>
          <a:bodyPr wrap="square" lIns="0" tIns="0" rIns="0" bIns="0" rtlCol="0" anchor="ctr"/>
          <a:lstStyle/>
          <a:p>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SELECT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s.student_name, d.driver_name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FROM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student_transport st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JOIN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pickup_point pp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ON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pp.pickup_id=st.pickup_id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JOIN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route r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ON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r.route_id=pp.route_id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JOIN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bus b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ON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b.bus_id=r.bus_id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JOIN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driver 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ON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d.driver_id=b.driver_id;</a:t>
            </a:r>
            <a:endParaRPr lang="en-US" sz="930" dirty="0"/>
          </a:p>
        </p:txBody>
      </p:sp>
      <p:sp>
        <p:nvSpPr>
          <p:cNvPr id="7" name="Shape 5"/>
          <p:cNvSpPr/>
          <p:nvPr/>
        </p:nvSpPr>
        <p:spPr>
          <a:xfrm>
            <a:off x="694944" y="3355848"/>
            <a:ext cx="5148072" cy="0"/>
          </a:xfrm>
          <a:prstGeom prst="line">
            <a:avLst/>
          </a:prstGeom>
          <a:noFill/>
          <a:ln w="9525">
            <a:solidFill>
              <a:srgbClr val="21324D"/>
            </a:solidFill>
            <a:prstDash val="solid"/>
          </a:ln>
        </p:spPr>
      </p:sp>
      <p:sp>
        <p:nvSpPr>
          <p:cNvPr id="8" name="Text 6"/>
          <p:cNvSpPr txBox="1"/>
          <p:nvPr/>
        </p:nvSpPr>
        <p:spPr>
          <a:xfrm>
            <a:off x="694944" y="3401568"/>
            <a:ext cx="5148072" cy="256032"/>
          </a:xfrm>
          <a:prstGeom prst="rect">
            <a:avLst/>
          </a:prstGeom>
          <a:noFill/>
          <a:ln/>
        </p:spPr>
        <p:txBody>
          <a:bodyPr wrap="square" lIns="0" tIns="0" rIns="0" bIns="0" rtlCol="0" anchor="ctr"/>
          <a:lstStyle/>
          <a:p>
            <a:pPr indent="0" marL="0">
              <a:buNone/>
            </a:pPr>
            <a:r>
              <a:rPr lang="en-US" sz="950" b="1" i="1" dirty="0">
                <a:solidFill>
                  <a:srgbClr val="93A5C2"/>
                </a:solidFill>
                <a:latin typeface="Calibri" pitchFamily="34" charset="0"/>
                <a:ea typeface="Calibri" pitchFamily="34" charset="-122"/>
                <a:cs typeface="Calibri" pitchFamily="34" charset="-120"/>
              </a:rPr>
              <a:t>Traces every student back to their assigned driver</a:t>
            </a:r>
            <a:endParaRPr lang="en-US" sz="950" dirty="0"/>
          </a:p>
        </p:txBody>
      </p:sp>
      <p:sp>
        <p:nvSpPr>
          <p:cNvPr id="9" name="Shape 7"/>
          <p:cNvSpPr/>
          <p:nvPr/>
        </p:nvSpPr>
        <p:spPr>
          <a:xfrm>
            <a:off x="6217920" y="1371600"/>
            <a:ext cx="5440680" cy="2331720"/>
          </a:xfrm>
          <a:prstGeom prst="roundRect">
            <a:avLst>
              <a:gd name="adj" fmla="val 3922"/>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0" name="Text 8"/>
          <p:cNvSpPr txBox="1"/>
          <p:nvPr/>
        </p:nvSpPr>
        <p:spPr>
          <a:xfrm>
            <a:off x="6364224" y="1463040"/>
            <a:ext cx="5148072" cy="274320"/>
          </a:xfrm>
          <a:prstGeom prst="rect">
            <a:avLst/>
          </a:prstGeom>
          <a:noFill/>
          <a:ln/>
        </p:spPr>
        <p:txBody>
          <a:bodyPr wrap="square" lIns="0" tIns="0" rIns="0" bIns="0" rtlCol="0" anchor="ctr"/>
          <a:lstStyle/>
          <a:p>
            <a:pPr indent="0" marL="0">
              <a:buNone/>
            </a:pPr>
            <a:r>
              <a:rPr lang="en-US" sz="1150" b="1" dirty="0">
                <a:solidFill>
                  <a:srgbClr val="4FE0D4"/>
                </a:solidFill>
                <a:latin typeface="Calibri" pitchFamily="34" charset="0"/>
                <a:ea typeface="Calibri" pitchFamily="34" charset="-122"/>
                <a:cs typeface="Calibri" pitchFamily="34" charset="-120"/>
              </a:rPr>
              <a:t>Route-wise Student Distribution</a:t>
            </a:r>
            <a:endParaRPr lang="en-US" sz="1150" dirty="0"/>
          </a:p>
        </p:txBody>
      </p:sp>
      <p:sp>
        <p:nvSpPr>
          <p:cNvPr id="11" name="Text 9"/>
          <p:cNvSpPr txBox="1"/>
          <p:nvPr/>
        </p:nvSpPr>
        <p:spPr>
          <a:xfrm>
            <a:off x="6364224" y="1792224"/>
            <a:ext cx="5148072" cy="1554480"/>
          </a:xfrm>
          <a:prstGeom prst="rect">
            <a:avLst/>
          </a:prstGeom>
          <a:noFill/>
          <a:ln/>
        </p:spPr>
        <p:txBody>
          <a:bodyPr wrap="square" lIns="0" tIns="0" rIns="0" bIns="0" rtlCol="0" anchor="ctr"/>
          <a:lstStyle/>
          <a:p>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SELECT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r.route_name, COUNT(st.student_id)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FROM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route r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JOIN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pickup_point pp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ON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r.route_id=pp.route_id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JOIN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student_transport st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ON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pp.pickup_id=st.pickup_id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GROUP BY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r.route_id, r.route_name;</a:t>
            </a:r>
            <a:endParaRPr lang="en-US" sz="930" dirty="0"/>
          </a:p>
        </p:txBody>
      </p:sp>
      <p:sp>
        <p:nvSpPr>
          <p:cNvPr id="12" name="Shape 10"/>
          <p:cNvSpPr/>
          <p:nvPr/>
        </p:nvSpPr>
        <p:spPr>
          <a:xfrm>
            <a:off x="6364224" y="3355848"/>
            <a:ext cx="5148072" cy="0"/>
          </a:xfrm>
          <a:prstGeom prst="line">
            <a:avLst/>
          </a:prstGeom>
          <a:noFill/>
          <a:ln w="9525">
            <a:solidFill>
              <a:srgbClr val="21324D"/>
            </a:solidFill>
            <a:prstDash val="solid"/>
          </a:ln>
        </p:spPr>
      </p:sp>
      <p:sp>
        <p:nvSpPr>
          <p:cNvPr id="13" name="Text 11"/>
          <p:cNvSpPr txBox="1"/>
          <p:nvPr/>
        </p:nvSpPr>
        <p:spPr>
          <a:xfrm>
            <a:off x="6364224" y="3401568"/>
            <a:ext cx="5148072" cy="256032"/>
          </a:xfrm>
          <a:prstGeom prst="rect">
            <a:avLst/>
          </a:prstGeom>
          <a:noFill/>
          <a:ln/>
        </p:spPr>
        <p:txBody>
          <a:bodyPr wrap="square" lIns="0" tIns="0" rIns="0" bIns="0" rtlCol="0" anchor="ctr"/>
          <a:lstStyle/>
          <a:p>
            <a:pPr indent="0" marL="0">
              <a:buNone/>
            </a:pPr>
            <a:r>
              <a:rPr lang="en-US" sz="950" b="1" i="1" dirty="0">
                <a:solidFill>
                  <a:srgbClr val="93A5C2"/>
                </a:solidFill>
                <a:latin typeface="Calibri" pitchFamily="34" charset="0"/>
                <a:ea typeface="Calibri" pitchFamily="34" charset="-122"/>
                <a:cs typeface="Calibri" pitchFamily="34" charset="-120"/>
              </a:rPr>
              <a:t>7 routes · 285 students distributed</a:t>
            </a:r>
            <a:endParaRPr lang="en-US" sz="950" dirty="0"/>
          </a:p>
        </p:txBody>
      </p:sp>
      <p:sp>
        <p:nvSpPr>
          <p:cNvPr id="14" name="Shape 12"/>
          <p:cNvSpPr/>
          <p:nvPr/>
        </p:nvSpPr>
        <p:spPr>
          <a:xfrm>
            <a:off x="548640" y="3886200"/>
            <a:ext cx="5440680" cy="2331720"/>
          </a:xfrm>
          <a:prstGeom prst="roundRect">
            <a:avLst>
              <a:gd name="adj" fmla="val 3922"/>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15" name="Text 13"/>
          <p:cNvSpPr txBox="1"/>
          <p:nvPr/>
        </p:nvSpPr>
        <p:spPr>
          <a:xfrm>
            <a:off x="694944" y="3977640"/>
            <a:ext cx="5148072" cy="274320"/>
          </a:xfrm>
          <a:prstGeom prst="rect">
            <a:avLst/>
          </a:prstGeom>
          <a:noFill/>
          <a:ln/>
        </p:spPr>
        <p:txBody>
          <a:bodyPr wrap="square" lIns="0" tIns="0" rIns="0" bIns="0" rtlCol="0" anchor="ctr"/>
          <a:lstStyle/>
          <a:p>
            <a:pPr indent="0" marL="0">
              <a:buNone/>
            </a:pPr>
            <a:r>
              <a:rPr lang="en-US" sz="1150" b="1" dirty="0">
                <a:solidFill>
                  <a:srgbClr val="4FE0D4"/>
                </a:solidFill>
                <a:latin typeface="Calibri" pitchFamily="34" charset="0"/>
                <a:ea typeface="Calibri" pitchFamily="34" charset="-122"/>
                <a:cs typeface="Calibri" pitchFamily="34" charset="-120"/>
              </a:rPr>
              <a:t>Bus Capacity Utilization</a:t>
            </a:r>
            <a:endParaRPr lang="en-US" sz="1150" dirty="0"/>
          </a:p>
        </p:txBody>
      </p:sp>
      <p:sp>
        <p:nvSpPr>
          <p:cNvPr id="16" name="Text 14"/>
          <p:cNvSpPr txBox="1"/>
          <p:nvPr/>
        </p:nvSpPr>
        <p:spPr>
          <a:xfrm>
            <a:off x="694944" y="4306824"/>
            <a:ext cx="5148072" cy="1554480"/>
          </a:xfrm>
          <a:prstGeom prst="rect">
            <a:avLst/>
          </a:prstGeom>
          <a:noFill/>
          <a:ln/>
        </p:spPr>
        <p:txBody>
          <a:bodyPr wrap="square" lIns="0" tIns="0" rIns="0" bIns="0" rtlCol="0" anchor="ctr"/>
          <a:lstStyle/>
          <a:p>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SELECT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b.bus_number, b.capacity,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  COUNT(st.student_id)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AS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assigned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FROM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bus b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JOIN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route r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ON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r.bus_id=b.bus_id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JOIN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pickup_point pp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ON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pp.route_id=r.route_id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JOIN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student_transport st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ON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st.pickup_id=pp.pickup_id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GROUP BY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b.bus_id;</a:t>
            </a:r>
            <a:endParaRPr lang="en-US" sz="930" dirty="0"/>
          </a:p>
        </p:txBody>
      </p:sp>
      <p:sp>
        <p:nvSpPr>
          <p:cNvPr id="17" name="Shape 15"/>
          <p:cNvSpPr/>
          <p:nvPr/>
        </p:nvSpPr>
        <p:spPr>
          <a:xfrm>
            <a:off x="694944" y="5870448"/>
            <a:ext cx="5148072" cy="0"/>
          </a:xfrm>
          <a:prstGeom prst="line">
            <a:avLst/>
          </a:prstGeom>
          <a:noFill/>
          <a:ln w="9525">
            <a:solidFill>
              <a:srgbClr val="21324D"/>
            </a:solidFill>
            <a:prstDash val="solid"/>
          </a:ln>
        </p:spPr>
      </p:sp>
      <p:sp>
        <p:nvSpPr>
          <p:cNvPr id="18" name="Text 16"/>
          <p:cNvSpPr txBox="1"/>
          <p:nvPr/>
        </p:nvSpPr>
        <p:spPr>
          <a:xfrm>
            <a:off x="694944" y="5916168"/>
            <a:ext cx="5148072" cy="256032"/>
          </a:xfrm>
          <a:prstGeom prst="rect">
            <a:avLst/>
          </a:prstGeom>
          <a:noFill/>
          <a:ln/>
        </p:spPr>
        <p:txBody>
          <a:bodyPr wrap="square" lIns="0" tIns="0" rIns="0" bIns="0" rtlCol="0" anchor="ctr"/>
          <a:lstStyle/>
          <a:p>
            <a:pPr indent="0" marL="0">
              <a:buNone/>
            </a:pPr>
            <a:r>
              <a:rPr lang="en-US" sz="950" b="1" i="1" dirty="0">
                <a:solidFill>
                  <a:srgbClr val="93A5C2"/>
                </a:solidFill>
                <a:latin typeface="Calibri" pitchFamily="34" charset="0"/>
                <a:ea typeface="Calibri" pitchFamily="34" charset="-122"/>
                <a:cs typeface="Calibri" pitchFamily="34" charset="-120"/>
              </a:rPr>
              <a:t>285 / 285 seats · 100% utilization</a:t>
            </a:r>
            <a:endParaRPr lang="en-US" sz="950" dirty="0"/>
          </a:p>
        </p:txBody>
      </p:sp>
      <p:sp>
        <p:nvSpPr>
          <p:cNvPr id="19" name="Shape 17"/>
          <p:cNvSpPr/>
          <p:nvPr/>
        </p:nvSpPr>
        <p:spPr>
          <a:xfrm>
            <a:off x="6217920" y="3886200"/>
            <a:ext cx="5440680" cy="2331720"/>
          </a:xfrm>
          <a:prstGeom prst="roundRect">
            <a:avLst>
              <a:gd name="adj" fmla="val 3922"/>
            </a:avLst>
          </a:prstGeom>
          <a:solidFill>
            <a:srgbClr val="060B14">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20" name="Text 18"/>
          <p:cNvSpPr txBox="1"/>
          <p:nvPr/>
        </p:nvSpPr>
        <p:spPr>
          <a:xfrm>
            <a:off x="6364224" y="3977640"/>
            <a:ext cx="5148072" cy="274320"/>
          </a:xfrm>
          <a:prstGeom prst="rect">
            <a:avLst/>
          </a:prstGeom>
          <a:noFill/>
          <a:ln/>
        </p:spPr>
        <p:txBody>
          <a:bodyPr wrap="square" lIns="0" tIns="0" rIns="0" bIns="0" rtlCol="0" anchor="ctr"/>
          <a:lstStyle/>
          <a:p>
            <a:pPr indent="0" marL="0">
              <a:buNone/>
            </a:pPr>
            <a:r>
              <a:rPr lang="en-US" sz="1150" b="1" dirty="0">
                <a:solidFill>
                  <a:srgbClr val="4FE0D4"/>
                </a:solidFill>
                <a:latin typeface="Calibri" pitchFamily="34" charset="0"/>
                <a:ea typeface="Calibri" pitchFamily="34" charset="-122"/>
                <a:cs typeface="Calibri" pitchFamily="34" charset="-120"/>
              </a:rPr>
              <a:t>Pending Transport Fees</a:t>
            </a:r>
            <a:endParaRPr lang="en-US" sz="1150" dirty="0"/>
          </a:p>
        </p:txBody>
      </p:sp>
      <p:sp>
        <p:nvSpPr>
          <p:cNvPr id="21" name="Text 19"/>
          <p:cNvSpPr txBox="1"/>
          <p:nvPr/>
        </p:nvSpPr>
        <p:spPr>
          <a:xfrm>
            <a:off x="6364224" y="4306824"/>
            <a:ext cx="5148072" cy="1554480"/>
          </a:xfrm>
          <a:prstGeom prst="rect">
            <a:avLst/>
          </a:prstGeom>
          <a:noFill/>
          <a:ln/>
        </p:spPr>
        <p:txBody>
          <a:bodyPr wrap="square" lIns="0" tIns="0" rIns="0" bIns="0" rtlCol="0" anchor="ctr"/>
          <a:lstStyle/>
          <a:p>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SELECT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s.student_name, tf.amount, tf.due_date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FROM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transport_fee tf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JOIN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student s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ON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s.student_id=tf.student_id
</a:t>
            </a:r>
            <a:pPr indent="0" marL="0">
              <a:lnSpc>
                <a:spcPct val="125000"/>
              </a:lnSpc>
              <a:buNone/>
            </a:pPr>
            <a:r>
              <a:rPr lang="en-US" sz="930" dirty="0">
                <a:solidFill>
                  <a:srgbClr val="4C9BFF"/>
                </a:solidFill>
                <a:latin typeface="Consolas" pitchFamily="34" charset="0"/>
                <a:ea typeface="Consolas" pitchFamily="34" charset="-122"/>
                <a:cs typeface="Consolas" pitchFamily="34" charset="-120"/>
              </a:rPr>
              <a:t>WHERE </a:t>
            </a:r>
            <a:pPr indent="0" marL="0">
              <a:lnSpc>
                <a:spcPct val="125000"/>
              </a:lnSpc>
              <a:buNone/>
            </a:pPr>
            <a:r>
              <a:rPr lang="en-US" sz="930" dirty="0">
                <a:solidFill>
                  <a:srgbClr val="F4F8FC"/>
                </a:solidFill>
                <a:latin typeface="Consolas" pitchFamily="34" charset="0"/>
                <a:ea typeface="Consolas" pitchFamily="34" charset="-122"/>
                <a:cs typeface="Consolas" pitchFamily="34" charset="-120"/>
              </a:rPr>
              <a:t>tf.payment_status='Pending';</a:t>
            </a:r>
            <a:endParaRPr lang="en-US" sz="930" dirty="0"/>
          </a:p>
        </p:txBody>
      </p:sp>
      <p:sp>
        <p:nvSpPr>
          <p:cNvPr id="22" name="Shape 20"/>
          <p:cNvSpPr/>
          <p:nvPr/>
        </p:nvSpPr>
        <p:spPr>
          <a:xfrm>
            <a:off x="6364224" y="5870448"/>
            <a:ext cx="5148072" cy="0"/>
          </a:xfrm>
          <a:prstGeom prst="line">
            <a:avLst/>
          </a:prstGeom>
          <a:noFill/>
          <a:ln w="9525">
            <a:solidFill>
              <a:srgbClr val="21324D"/>
            </a:solidFill>
            <a:prstDash val="solid"/>
          </a:ln>
        </p:spPr>
      </p:sp>
      <p:sp>
        <p:nvSpPr>
          <p:cNvPr id="23" name="Text 21"/>
          <p:cNvSpPr txBox="1"/>
          <p:nvPr/>
        </p:nvSpPr>
        <p:spPr>
          <a:xfrm>
            <a:off x="6364224" y="5916168"/>
            <a:ext cx="5148072" cy="256032"/>
          </a:xfrm>
          <a:prstGeom prst="rect">
            <a:avLst/>
          </a:prstGeom>
          <a:noFill/>
          <a:ln/>
        </p:spPr>
        <p:txBody>
          <a:bodyPr wrap="square" lIns="0" tIns="0" rIns="0" bIns="0" rtlCol="0" anchor="ctr"/>
          <a:lstStyle/>
          <a:p>
            <a:pPr indent="0" marL="0">
              <a:buNone/>
            </a:pPr>
            <a:r>
              <a:rPr lang="en-US" sz="950" b="1" i="1" dirty="0">
                <a:solidFill>
                  <a:srgbClr val="93A5C2"/>
                </a:solidFill>
                <a:latin typeface="Calibri" pitchFamily="34" charset="0"/>
                <a:ea typeface="Calibri" pitchFamily="34" charset="-122"/>
                <a:cs typeface="Calibri" pitchFamily="34" charset="-120"/>
              </a:rPr>
              <a:t>Flags unpaid fees across 285 records</a:t>
            </a:r>
            <a:endParaRPr lang="en-US" sz="950" dirty="0"/>
          </a:p>
        </p:txBody>
      </p:sp>
      <p:sp>
        <p:nvSpPr>
          <p:cNvPr id="24" name="Text 22"/>
          <p:cNvSpPr txBox="1"/>
          <p:nvPr/>
        </p:nvSpPr>
        <p:spPr>
          <a:xfrm>
            <a:off x="548640" y="6528816"/>
            <a:ext cx="8229600" cy="237744"/>
          </a:xfrm>
          <a:prstGeom prst="rect">
            <a:avLst/>
          </a:prstGeom>
          <a:noFill/>
          <a:ln/>
        </p:spPr>
        <p:txBody>
          <a:bodyPr wrap="square" lIns="0" tIns="0" rIns="0" bIns="0" rtlCol="0" anchor="ctr"/>
          <a:lstStyle/>
          <a:p>
            <a:pPr algn="l" indent="0" marL="0">
              <a:buNone/>
            </a:pPr>
            <a:r>
              <a:rPr lang="en-US" sz="800" dirty="0">
                <a:solidFill>
                  <a:srgbClr val="56688A"/>
                </a:solidFill>
                <a:latin typeface="Calibri" pitchFamily="34" charset="0"/>
                <a:ea typeface="Calibri" pitchFamily="34" charset="-122"/>
                <a:cs typeface="Calibri" pitchFamily="34" charset="-120"/>
              </a:rPr>
              <a:t>School Transport Route &amp; Student Pickup Management System — Presentation III</a:t>
            </a:r>
            <a:endParaRPr lang="en-US" sz="800" dirty="0"/>
          </a:p>
        </p:txBody>
      </p:sp>
      <p:sp>
        <p:nvSpPr>
          <p:cNvPr id="25" name="Text 23"/>
          <p:cNvSpPr txBox="1"/>
          <p:nvPr/>
        </p:nvSpPr>
        <p:spPr>
          <a:xfrm>
            <a:off x="11185855" y="6528816"/>
            <a:ext cx="457200" cy="237744"/>
          </a:xfrm>
          <a:prstGeom prst="rect">
            <a:avLst/>
          </a:prstGeom>
          <a:noFill/>
          <a:ln/>
        </p:spPr>
        <p:txBody>
          <a:bodyPr wrap="square" lIns="0" tIns="0" rIns="0" bIns="0" rtlCol="0" anchor="ctr"/>
          <a:lstStyle/>
          <a:p>
            <a:pPr algn="r" indent="0" marL="0">
              <a:buNone/>
            </a:pPr>
            <a:r>
              <a:rPr lang="en-US" sz="800" dirty="0">
                <a:solidFill>
                  <a:srgbClr val="56688A"/>
                </a:solidFill>
                <a:latin typeface="Calibri" pitchFamily="34" charset="0"/>
                <a:ea typeface="Calibri" pitchFamily="34" charset="-122"/>
                <a:cs typeface="Calibri" pitchFamily="34" charset="-120"/>
              </a:rPr>
              <a:t>8 / 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algn="l" indent="0" marL="0">
              <a:buNone/>
            </a:pPr>
            <a:r>
              <a:rPr lang="en-US" sz="1100" b="1" spc="220" kern="0" dirty="0">
                <a:solidFill>
                  <a:srgbClr val="4C9BFF"/>
                </a:solidFill>
                <a:latin typeface="Calibri" pitchFamily="34" charset="0"/>
                <a:ea typeface="Calibri" pitchFamily="34" charset="-122"/>
                <a:cs typeface="Calibri" pitchFamily="34" charset="-120"/>
              </a:rPr>
              <a:t>TESTING &amp; CONCLUSION</a:t>
            </a:r>
            <a:endParaRPr lang="en-US" sz="1100" dirty="0"/>
          </a:p>
        </p:txBody>
      </p:sp>
      <p:sp>
        <p:nvSpPr>
          <p:cNvPr id="3" name="Text 1"/>
          <p:cNvSpPr txBox="1"/>
          <p:nvPr/>
        </p:nvSpPr>
        <p:spPr>
          <a:xfrm>
            <a:off x="548640" y="658368"/>
            <a:ext cx="10515600" cy="594360"/>
          </a:xfrm>
          <a:prstGeom prst="rect">
            <a:avLst/>
          </a:prstGeom>
          <a:noFill/>
          <a:ln/>
        </p:spPr>
        <p:txBody>
          <a:bodyPr wrap="square" lIns="0" tIns="0" rIns="0" bIns="0" rtlCol="0" anchor="ctr"/>
          <a:lstStyle/>
          <a:p>
            <a:pPr algn="l" indent="0" marL="0">
              <a:buNone/>
            </a:pPr>
            <a:r>
              <a:rPr lang="en-US" sz="2500" b="1" dirty="0">
                <a:solidFill>
                  <a:srgbClr val="F4F8FC"/>
                </a:solidFill>
                <a:latin typeface="Cambria" pitchFamily="34" charset="0"/>
                <a:ea typeface="Cambria" pitchFamily="34" charset="-122"/>
                <a:cs typeface="Cambria" pitchFamily="34" charset="-120"/>
              </a:rPr>
              <a:t>Tested. Connected. Ready.</a:t>
            </a:r>
            <a:endParaRPr lang="en-US" sz="2500" dirty="0"/>
          </a:p>
        </p:txBody>
      </p:sp>
      <p:sp>
        <p:nvSpPr>
          <p:cNvPr id="4" name="Shape 2"/>
          <p:cNvSpPr/>
          <p:nvPr/>
        </p:nvSpPr>
        <p:spPr>
          <a:xfrm>
            <a:off x="525780" y="1275588"/>
            <a:ext cx="320040" cy="320040"/>
          </a:xfrm>
          <a:prstGeom prst="ellipse">
            <a:avLst/>
          </a:prstGeom>
          <a:solidFill>
            <a:srgbClr val="000000">
              <a:alpha val="25000"/>
            </a:srgbClr>
          </a:solidFill>
          <a:ln/>
        </p:spPr>
      </p:sp>
      <p:pic>
        <p:nvPicPr>
          <p:cNvPr id="5" name="Image 0" descr="preencoded.png">    </p:cNvPr>
          <p:cNvPicPr>
            <a:picLocks noChangeAspect="1"/>
          </p:cNvPicPr>
          <p:nvPr/>
        </p:nvPicPr>
        <p:blipFill>
          <a:blip r:embed="rId2"/>
          <a:stretch>
            <a:fillRect/>
          </a:stretch>
        </p:blipFill>
        <p:spPr>
          <a:xfrm>
            <a:off x="548640" y="1298448"/>
            <a:ext cx="274320" cy="274320"/>
          </a:xfrm>
          <a:prstGeom prst="rect">
            <a:avLst/>
          </a:prstGeom>
        </p:spPr>
      </p:pic>
      <p:pic>
        <p:nvPicPr>
          <p:cNvPr id="6" name="Image 1" descr="preencoded.png">    </p:cNvPr>
          <p:cNvPicPr>
            <a:picLocks noChangeAspect="1"/>
          </p:cNvPicPr>
          <p:nvPr/>
        </p:nvPicPr>
        <p:blipFill>
          <a:blip r:embed="rId3"/>
          <a:stretch>
            <a:fillRect/>
          </a:stretch>
        </p:blipFill>
        <p:spPr>
          <a:xfrm>
            <a:off x="610362" y="1360170"/>
            <a:ext cx="150876" cy="150876"/>
          </a:xfrm>
          <a:prstGeom prst="rect">
            <a:avLst/>
          </a:prstGeom>
        </p:spPr>
      </p:pic>
      <p:sp>
        <p:nvSpPr>
          <p:cNvPr id="7" name="Text 3"/>
          <p:cNvSpPr txBox="1"/>
          <p:nvPr/>
        </p:nvSpPr>
        <p:spPr>
          <a:xfrm>
            <a:off x="914400" y="1280160"/>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MySQL connection</a:t>
            </a:r>
            <a:endParaRPr lang="en-US" sz="1050" dirty="0"/>
          </a:p>
        </p:txBody>
      </p:sp>
      <p:sp>
        <p:nvSpPr>
          <p:cNvPr id="8" name="Shape 4"/>
          <p:cNvSpPr/>
          <p:nvPr/>
        </p:nvSpPr>
        <p:spPr>
          <a:xfrm>
            <a:off x="4247388" y="1275588"/>
            <a:ext cx="320040" cy="320040"/>
          </a:xfrm>
          <a:prstGeom prst="ellipse">
            <a:avLst/>
          </a:prstGeom>
          <a:solidFill>
            <a:srgbClr val="000000">
              <a:alpha val="25000"/>
            </a:srgbClr>
          </a:solidFill>
          <a:ln/>
        </p:spPr>
      </p:sp>
      <p:pic>
        <p:nvPicPr>
          <p:cNvPr id="9" name="Image 2" descr="preencoded.png">    </p:cNvPr>
          <p:cNvPicPr>
            <a:picLocks noChangeAspect="1"/>
          </p:cNvPicPr>
          <p:nvPr/>
        </p:nvPicPr>
        <p:blipFill>
          <a:blip r:embed="rId4"/>
          <a:stretch>
            <a:fillRect/>
          </a:stretch>
        </p:blipFill>
        <p:spPr>
          <a:xfrm>
            <a:off x="4270248" y="1298448"/>
            <a:ext cx="274320" cy="274320"/>
          </a:xfrm>
          <a:prstGeom prst="rect">
            <a:avLst/>
          </a:prstGeom>
        </p:spPr>
      </p:pic>
      <p:pic>
        <p:nvPicPr>
          <p:cNvPr id="10" name="Image 3" descr="preencoded.png">    </p:cNvPr>
          <p:cNvPicPr>
            <a:picLocks noChangeAspect="1"/>
          </p:cNvPicPr>
          <p:nvPr/>
        </p:nvPicPr>
        <p:blipFill>
          <a:blip r:embed="rId5"/>
          <a:stretch>
            <a:fillRect/>
          </a:stretch>
        </p:blipFill>
        <p:spPr>
          <a:xfrm>
            <a:off x="4331970" y="1360170"/>
            <a:ext cx="150876" cy="150876"/>
          </a:xfrm>
          <a:prstGeom prst="rect">
            <a:avLst/>
          </a:prstGeom>
        </p:spPr>
      </p:pic>
      <p:sp>
        <p:nvSpPr>
          <p:cNvPr id="11" name="Text 5"/>
          <p:cNvSpPr txBox="1"/>
          <p:nvPr/>
        </p:nvSpPr>
        <p:spPr>
          <a:xfrm>
            <a:off x="4636008" y="1280160"/>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Dashboard data loading</a:t>
            </a:r>
            <a:endParaRPr lang="en-US" sz="1050" dirty="0"/>
          </a:p>
        </p:txBody>
      </p:sp>
      <p:sp>
        <p:nvSpPr>
          <p:cNvPr id="12" name="Shape 6"/>
          <p:cNvSpPr/>
          <p:nvPr/>
        </p:nvSpPr>
        <p:spPr>
          <a:xfrm>
            <a:off x="7968996" y="1275588"/>
            <a:ext cx="320040" cy="320040"/>
          </a:xfrm>
          <a:prstGeom prst="ellipse">
            <a:avLst/>
          </a:prstGeom>
          <a:solidFill>
            <a:srgbClr val="000000">
              <a:alpha val="25000"/>
            </a:srgbClr>
          </a:solidFill>
          <a:ln/>
        </p:spPr>
      </p:sp>
      <p:pic>
        <p:nvPicPr>
          <p:cNvPr id="13" name="Image 4" descr="preencoded.png">    </p:cNvPr>
          <p:cNvPicPr>
            <a:picLocks noChangeAspect="1"/>
          </p:cNvPicPr>
          <p:nvPr/>
        </p:nvPicPr>
        <p:blipFill>
          <a:blip r:embed="rId6"/>
          <a:stretch>
            <a:fillRect/>
          </a:stretch>
        </p:blipFill>
        <p:spPr>
          <a:xfrm>
            <a:off x="7991856" y="1298448"/>
            <a:ext cx="274320" cy="274320"/>
          </a:xfrm>
          <a:prstGeom prst="rect">
            <a:avLst/>
          </a:prstGeom>
        </p:spPr>
      </p:pic>
      <p:pic>
        <p:nvPicPr>
          <p:cNvPr id="14" name="Image 5" descr="preencoded.png">    </p:cNvPr>
          <p:cNvPicPr>
            <a:picLocks noChangeAspect="1"/>
          </p:cNvPicPr>
          <p:nvPr/>
        </p:nvPicPr>
        <p:blipFill>
          <a:blip r:embed="rId7"/>
          <a:stretch>
            <a:fillRect/>
          </a:stretch>
        </p:blipFill>
        <p:spPr>
          <a:xfrm>
            <a:off x="8053578" y="1360170"/>
            <a:ext cx="150876" cy="150876"/>
          </a:xfrm>
          <a:prstGeom prst="rect">
            <a:avLst/>
          </a:prstGeom>
        </p:spPr>
      </p:pic>
      <p:sp>
        <p:nvSpPr>
          <p:cNvPr id="15" name="Text 7"/>
          <p:cNvSpPr txBox="1"/>
          <p:nvPr/>
        </p:nvSpPr>
        <p:spPr>
          <a:xfrm>
            <a:off x="8357616" y="1280160"/>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Student insertion</a:t>
            </a:r>
            <a:endParaRPr lang="en-US" sz="1050" dirty="0"/>
          </a:p>
        </p:txBody>
      </p:sp>
      <p:sp>
        <p:nvSpPr>
          <p:cNvPr id="16" name="Shape 8"/>
          <p:cNvSpPr/>
          <p:nvPr/>
        </p:nvSpPr>
        <p:spPr>
          <a:xfrm>
            <a:off x="525780" y="1677924"/>
            <a:ext cx="320040" cy="320040"/>
          </a:xfrm>
          <a:prstGeom prst="ellipse">
            <a:avLst/>
          </a:prstGeom>
          <a:solidFill>
            <a:srgbClr val="000000">
              <a:alpha val="25000"/>
            </a:srgbClr>
          </a:solidFill>
          <a:ln/>
        </p:spPr>
      </p:sp>
      <p:pic>
        <p:nvPicPr>
          <p:cNvPr id="17" name="Image 6" descr="preencoded.png">    </p:cNvPr>
          <p:cNvPicPr>
            <a:picLocks noChangeAspect="1"/>
          </p:cNvPicPr>
          <p:nvPr/>
        </p:nvPicPr>
        <p:blipFill>
          <a:blip r:embed="rId8"/>
          <a:stretch>
            <a:fillRect/>
          </a:stretch>
        </p:blipFill>
        <p:spPr>
          <a:xfrm>
            <a:off x="548640" y="1700784"/>
            <a:ext cx="274320" cy="274320"/>
          </a:xfrm>
          <a:prstGeom prst="rect">
            <a:avLst/>
          </a:prstGeom>
        </p:spPr>
      </p:pic>
      <p:pic>
        <p:nvPicPr>
          <p:cNvPr id="18" name="Image 7" descr="preencoded.png">    </p:cNvPr>
          <p:cNvPicPr>
            <a:picLocks noChangeAspect="1"/>
          </p:cNvPicPr>
          <p:nvPr/>
        </p:nvPicPr>
        <p:blipFill>
          <a:blip r:embed="rId9"/>
          <a:stretch>
            <a:fillRect/>
          </a:stretch>
        </p:blipFill>
        <p:spPr>
          <a:xfrm>
            <a:off x="610362" y="1762506"/>
            <a:ext cx="150876" cy="150876"/>
          </a:xfrm>
          <a:prstGeom prst="rect">
            <a:avLst/>
          </a:prstGeom>
        </p:spPr>
      </p:pic>
      <p:sp>
        <p:nvSpPr>
          <p:cNvPr id="19" name="Text 9"/>
          <p:cNvSpPr txBox="1"/>
          <p:nvPr/>
        </p:nvSpPr>
        <p:spPr>
          <a:xfrm>
            <a:off x="914400" y="1682496"/>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Student deletion</a:t>
            </a:r>
            <a:endParaRPr lang="en-US" sz="1050" dirty="0"/>
          </a:p>
        </p:txBody>
      </p:sp>
      <p:sp>
        <p:nvSpPr>
          <p:cNvPr id="20" name="Shape 10"/>
          <p:cNvSpPr/>
          <p:nvPr/>
        </p:nvSpPr>
        <p:spPr>
          <a:xfrm>
            <a:off x="4247388" y="1677924"/>
            <a:ext cx="320040" cy="320040"/>
          </a:xfrm>
          <a:prstGeom prst="ellipse">
            <a:avLst/>
          </a:prstGeom>
          <a:solidFill>
            <a:srgbClr val="000000">
              <a:alpha val="25000"/>
            </a:srgbClr>
          </a:solidFill>
          <a:ln/>
        </p:spPr>
      </p:sp>
      <p:pic>
        <p:nvPicPr>
          <p:cNvPr id="21" name="Image 8" descr="preencoded.png">    </p:cNvPr>
          <p:cNvPicPr>
            <a:picLocks noChangeAspect="1"/>
          </p:cNvPicPr>
          <p:nvPr/>
        </p:nvPicPr>
        <p:blipFill>
          <a:blip r:embed="rId10"/>
          <a:stretch>
            <a:fillRect/>
          </a:stretch>
        </p:blipFill>
        <p:spPr>
          <a:xfrm>
            <a:off x="4270248" y="1700784"/>
            <a:ext cx="274320" cy="274320"/>
          </a:xfrm>
          <a:prstGeom prst="rect">
            <a:avLst/>
          </a:prstGeom>
        </p:spPr>
      </p:pic>
      <p:pic>
        <p:nvPicPr>
          <p:cNvPr id="22" name="Image 9" descr="preencoded.png">    </p:cNvPr>
          <p:cNvPicPr>
            <a:picLocks noChangeAspect="1"/>
          </p:cNvPicPr>
          <p:nvPr/>
        </p:nvPicPr>
        <p:blipFill>
          <a:blip r:embed="rId11"/>
          <a:stretch>
            <a:fillRect/>
          </a:stretch>
        </p:blipFill>
        <p:spPr>
          <a:xfrm>
            <a:off x="4331970" y="1762506"/>
            <a:ext cx="150876" cy="150876"/>
          </a:xfrm>
          <a:prstGeom prst="rect">
            <a:avLst/>
          </a:prstGeom>
        </p:spPr>
      </p:pic>
      <p:sp>
        <p:nvSpPr>
          <p:cNvPr id="23" name="Text 11"/>
          <p:cNvSpPr txBox="1"/>
          <p:nvPr/>
        </p:nvSpPr>
        <p:spPr>
          <a:xfrm>
            <a:off x="4636008" y="1682496"/>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Student viewing</a:t>
            </a:r>
            <a:endParaRPr lang="en-US" sz="1050" dirty="0"/>
          </a:p>
        </p:txBody>
      </p:sp>
      <p:sp>
        <p:nvSpPr>
          <p:cNvPr id="24" name="Shape 12"/>
          <p:cNvSpPr/>
          <p:nvPr/>
        </p:nvSpPr>
        <p:spPr>
          <a:xfrm>
            <a:off x="7968996" y="1677924"/>
            <a:ext cx="320040" cy="320040"/>
          </a:xfrm>
          <a:prstGeom prst="ellipse">
            <a:avLst/>
          </a:prstGeom>
          <a:solidFill>
            <a:srgbClr val="000000">
              <a:alpha val="25000"/>
            </a:srgbClr>
          </a:solidFill>
          <a:ln/>
        </p:spPr>
      </p:sp>
      <p:pic>
        <p:nvPicPr>
          <p:cNvPr id="25" name="Image 10" descr="preencoded.png">    </p:cNvPr>
          <p:cNvPicPr>
            <a:picLocks noChangeAspect="1"/>
          </p:cNvPicPr>
          <p:nvPr/>
        </p:nvPicPr>
        <p:blipFill>
          <a:blip r:embed="rId12"/>
          <a:stretch>
            <a:fillRect/>
          </a:stretch>
        </p:blipFill>
        <p:spPr>
          <a:xfrm>
            <a:off x="7991856" y="1700784"/>
            <a:ext cx="274320" cy="274320"/>
          </a:xfrm>
          <a:prstGeom prst="rect">
            <a:avLst/>
          </a:prstGeom>
        </p:spPr>
      </p:pic>
      <p:pic>
        <p:nvPicPr>
          <p:cNvPr id="26" name="Image 11" descr="preencoded.png">    </p:cNvPr>
          <p:cNvPicPr>
            <a:picLocks noChangeAspect="1"/>
          </p:cNvPicPr>
          <p:nvPr/>
        </p:nvPicPr>
        <p:blipFill>
          <a:blip r:embed="rId13"/>
          <a:stretch>
            <a:fillRect/>
          </a:stretch>
        </p:blipFill>
        <p:spPr>
          <a:xfrm>
            <a:off x="8053578" y="1762506"/>
            <a:ext cx="150876" cy="150876"/>
          </a:xfrm>
          <a:prstGeom prst="rect">
            <a:avLst/>
          </a:prstGeom>
        </p:spPr>
      </p:pic>
      <p:sp>
        <p:nvSpPr>
          <p:cNvPr id="27" name="Text 13"/>
          <p:cNvSpPr txBox="1"/>
          <p:nvPr/>
        </p:nvSpPr>
        <p:spPr>
          <a:xfrm>
            <a:off x="8357616" y="1682496"/>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Search and filtering</a:t>
            </a:r>
            <a:endParaRPr lang="en-US" sz="1050" dirty="0"/>
          </a:p>
        </p:txBody>
      </p:sp>
      <p:sp>
        <p:nvSpPr>
          <p:cNvPr id="28" name="Shape 14"/>
          <p:cNvSpPr/>
          <p:nvPr/>
        </p:nvSpPr>
        <p:spPr>
          <a:xfrm>
            <a:off x="525780" y="2080260"/>
            <a:ext cx="320040" cy="320040"/>
          </a:xfrm>
          <a:prstGeom prst="ellipse">
            <a:avLst/>
          </a:prstGeom>
          <a:solidFill>
            <a:srgbClr val="000000">
              <a:alpha val="25000"/>
            </a:srgbClr>
          </a:solidFill>
          <a:ln/>
        </p:spPr>
      </p:sp>
      <p:pic>
        <p:nvPicPr>
          <p:cNvPr id="29" name="Image 12" descr="preencoded.png">    </p:cNvPr>
          <p:cNvPicPr>
            <a:picLocks noChangeAspect="1"/>
          </p:cNvPicPr>
          <p:nvPr/>
        </p:nvPicPr>
        <p:blipFill>
          <a:blip r:embed="rId14"/>
          <a:stretch>
            <a:fillRect/>
          </a:stretch>
        </p:blipFill>
        <p:spPr>
          <a:xfrm>
            <a:off x="548640" y="2103120"/>
            <a:ext cx="274320" cy="274320"/>
          </a:xfrm>
          <a:prstGeom prst="rect">
            <a:avLst/>
          </a:prstGeom>
        </p:spPr>
      </p:pic>
      <p:pic>
        <p:nvPicPr>
          <p:cNvPr id="30" name="Image 13" descr="preencoded.png">    </p:cNvPr>
          <p:cNvPicPr>
            <a:picLocks noChangeAspect="1"/>
          </p:cNvPicPr>
          <p:nvPr/>
        </p:nvPicPr>
        <p:blipFill>
          <a:blip r:embed="rId15"/>
          <a:stretch>
            <a:fillRect/>
          </a:stretch>
        </p:blipFill>
        <p:spPr>
          <a:xfrm>
            <a:off x="610362" y="2164842"/>
            <a:ext cx="150876" cy="150876"/>
          </a:xfrm>
          <a:prstGeom prst="rect">
            <a:avLst/>
          </a:prstGeom>
        </p:spPr>
      </p:pic>
      <p:sp>
        <p:nvSpPr>
          <p:cNvPr id="31" name="Text 15"/>
          <p:cNvSpPr txBox="1"/>
          <p:nvPr/>
        </p:nvSpPr>
        <p:spPr>
          <a:xfrm>
            <a:off x="914400" y="2084832"/>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Transport joins</a:t>
            </a:r>
            <a:endParaRPr lang="en-US" sz="1050" dirty="0"/>
          </a:p>
        </p:txBody>
      </p:sp>
      <p:sp>
        <p:nvSpPr>
          <p:cNvPr id="32" name="Shape 16"/>
          <p:cNvSpPr/>
          <p:nvPr/>
        </p:nvSpPr>
        <p:spPr>
          <a:xfrm>
            <a:off x="4247388" y="2080260"/>
            <a:ext cx="320040" cy="320040"/>
          </a:xfrm>
          <a:prstGeom prst="ellipse">
            <a:avLst/>
          </a:prstGeom>
          <a:solidFill>
            <a:srgbClr val="000000">
              <a:alpha val="25000"/>
            </a:srgbClr>
          </a:solidFill>
          <a:ln/>
        </p:spPr>
      </p:sp>
      <p:pic>
        <p:nvPicPr>
          <p:cNvPr id="33" name="Image 14" descr="preencoded.png">    </p:cNvPr>
          <p:cNvPicPr>
            <a:picLocks noChangeAspect="1"/>
          </p:cNvPicPr>
          <p:nvPr/>
        </p:nvPicPr>
        <p:blipFill>
          <a:blip r:embed="rId16"/>
          <a:stretch>
            <a:fillRect/>
          </a:stretch>
        </p:blipFill>
        <p:spPr>
          <a:xfrm>
            <a:off x="4270248" y="2103120"/>
            <a:ext cx="274320" cy="274320"/>
          </a:xfrm>
          <a:prstGeom prst="rect">
            <a:avLst/>
          </a:prstGeom>
        </p:spPr>
      </p:pic>
      <p:pic>
        <p:nvPicPr>
          <p:cNvPr id="34" name="Image 15" descr="preencoded.png">    </p:cNvPr>
          <p:cNvPicPr>
            <a:picLocks noChangeAspect="1"/>
          </p:cNvPicPr>
          <p:nvPr/>
        </p:nvPicPr>
        <p:blipFill>
          <a:blip r:embed="rId17"/>
          <a:stretch>
            <a:fillRect/>
          </a:stretch>
        </p:blipFill>
        <p:spPr>
          <a:xfrm>
            <a:off x="4331970" y="2164842"/>
            <a:ext cx="150876" cy="150876"/>
          </a:xfrm>
          <a:prstGeom prst="rect">
            <a:avLst/>
          </a:prstGeom>
        </p:spPr>
      </p:pic>
      <p:sp>
        <p:nvSpPr>
          <p:cNvPr id="35" name="Text 17"/>
          <p:cNvSpPr txBox="1"/>
          <p:nvPr/>
        </p:nvSpPr>
        <p:spPr>
          <a:xfrm>
            <a:off x="4636008" y="2084832"/>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Route information</a:t>
            </a:r>
            <a:endParaRPr lang="en-US" sz="1050" dirty="0"/>
          </a:p>
        </p:txBody>
      </p:sp>
      <p:sp>
        <p:nvSpPr>
          <p:cNvPr id="36" name="Shape 18"/>
          <p:cNvSpPr/>
          <p:nvPr/>
        </p:nvSpPr>
        <p:spPr>
          <a:xfrm>
            <a:off x="7968996" y="2080260"/>
            <a:ext cx="320040" cy="320040"/>
          </a:xfrm>
          <a:prstGeom prst="ellipse">
            <a:avLst/>
          </a:prstGeom>
          <a:solidFill>
            <a:srgbClr val="000000">
              <a:alpha val="25000"/>
            </a:srgbClr>
          </a:solidFill>
          <a:ln/>
        </p:spPr>
      </p:sp>
      <p:pic>
        <p:nvPicPr>
          <p:cNvPr id="37" name="Image 16" descr="preencoded.png">    </p:cNvPr>
          <p:cNvPicPr>
            <a:picLocks noChangeAspect="1"/>
          </p:cNvPicPr>
          <p:nvPr/>
        </p:nvPicPr>
        <p:blipFill>
          <a:blip r:embed="rId18"/>
          <a:stretch>
            <a:fillRect/>
          </a:stretch>
        </p:blipFill>
        <p:spPr>
          <a:xfrm>
            <a:off x="7991856" y="2103120"/>
            <a:ext cx="274320" cy="274320"/>
          </a:xfrm>
          <a:prstGeom prst="rect">
            <a:avLst/>
          </a:prstGeom>
        </p:spPr>
      </p:pic>
      <p:pic>
        <p:nvPicPr>
          <p:cNvPr id="38" name="Image 17" descr="preencoded.png">    </p:cNvPr>
          <p:cNvPicPr>
            <a:picLocks noChangeAspect="1"/>
          </p:cNvPicPr>
          <p:nvPr/>
        </p:nvPicPr>
        <p:blipFill>
          <a:blip r:embed="rId19"/>
          <a:stretch>
            <a:fillRect/>
          </a:stretch>
        </p:blipFill>
        <p:spPr>
          <a:xfrm>
            <a:off x="8053578" y="2164842"/>
            <a:ext cx="150876" cy="150876"/>
          </a:xfrm>
          <a:prstGeom prst="rect">
            <a:avLst/>
          </a:prstGeom>
        </p:spPr>
      </p:pic>
      <p:sp>
        <p:nvSpPr>
          <p:cNvPr id="39" name="Text 19"/>
          <p:cNvSpPr txBox="1"/>
          <p:nvPr/>
        </p:nvSpPr>
        <p:spPr>
          <a:xfrm>
            <a:off x="8357616" y="2084832"/>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Bus capacity</a:t>
            </a:r>
            <a:endParaRPr lang="en-US" sz="1050" dirty="0"/>
          </a:p>
        </p:txBody>
      </p:sp>
      <p:sp>
        <p:nvSpPr>
          <p:cNvPr id="40" name="Shape 20"/>
          <p:cNvSpPr/>
          <p:nvPr/>
        </p:nvSpPr>
        <p:spPr>
          <a:xfrm>
            <a:off x="525780" y="2482596"/>
            <a:ext cx="320040" cy="320040"/>
          </a:xfrm>
          <a:prstGeom prst="ellipse">
            <a:avLst/>
          </a:prstGeom>
          <a:solidFill>
            <a:srgbClr val="000000">
              <a:alpha val="25000"/>
            </a:srgbClr>
          </a:solidFill>
          <a:ln/>
        </p:spPr>
      </p:sp>
      <p:pic>
        <p:nvPicPr>
          <p:cNvPr id="41" name="Image 18" descr="preencoded.png">    </p:cNvPr>
          <p:cNvPicPr>
            <a:picLocks noChangeAspect="1"/>
          </p:cNvPicPr>
          <p:nvPr/>
        </p:nvPicPr>
        <p:blipFill>
          <a:blip r:embed="rId20"/>
          <a:stretch>
            <a:fillRect/>
          </a:stretch>
        </p:blipFill>
        <p:spPr>
          <a:xfrm>
            <a:off x="548640" y="2505456"/>
            <a:ext cx="274320" cy="274320"/>
          </a:xfrm>
          <a:prstGeom prst="rect">
            <a:avLst/>
          </a:prstGeom>
        </p:spPr>
      </p:pic>
      <p:pic>
        <p:nvPicPr>
          <p:cNvPr id="42" name="Image 19" descr="preencoded.png">    </p:cNvPr>
          <p:cNvPicPr>
            <a:picLocks noChangeAspect="1"/>
          </p:cNvPicPr>
          <p:nvPr/>
        </p:nvPicPr>
        <p:blipFill>
          <a:blip r:embed="rId21"/>
          <a:stretch>
            <a:fillRect/>
          </a:stretch>
        </p:blipFill>
        <p:spPr>
          <a:xfrm>
            <a:off x="610362" y="2567178"/>
            <a:ext cx="150876" cy="150876"/>
          </a:xfrm>
          <a:prstGeom prst="rect">
            <a:avLst/>
          </a:prstGeom>
        </p:spPr>
      </p:pic>
      <p:sp>
        <p:nvSpPr>
          <p:cNvPr id="43" name="Text 21"/>
          <p:cNvSpPr txBox="1"/>
          <p:nvPr/>
        </p:nvSpPr>
        <p:spPr>
          <a:xfrm>
            <a:off x="914400" y="2487168"/>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Pickup records</a:t>
            </a:r>
            <a:endParaRPr lang="en-US" sz="1050" dirty="0"/>
          </a:p>
        </p:txBody>
      </p:sp>
      <p:sp>
        <p:nvSpPr>
          <p:cNvPr id="44" name="Shape 22"/>
          <p:cNvSpPr/>
          <p:nvPr/>
        </p:nvSpPr>
        <p:spPr>
          <a:xfrm>
            <a:off x="4247388" y="2482596"/>
            <a:ext cx="320040" cy="320040"/>
          </a:xfrm>
          <a:prstGeom prst="ellipse">
            <a:avLst/>
          </a:prstGeom>
          <a:solidFill>
            <a:srgbClr val="000000">
              <a:alpha val="25000"/>
            </a:srgbClr>
          </a:solidFill>
          <a:ln/>
        </p:spPr>
      </p:sp>
      <p:pic>
        <p:nvPicPr>
          <p:cNvPr id="45" name="Image 20" descr="preencoded.png">    </p:cNvPr>
          <p:cNvPicPr>
            <a:picLocks noChangeAspect="1"/>
          </p:cNvPicPr>
          <p:nvPr/>
        </p:nvPicPr>
        <p:blipFill>
          <a:blip r:embed="rId22"/>
          <a:stretch>
            <a:fillRect/>
          </a:stretch>
        </p:blipFill>
        <p:spPr>
          <a:xfrm>
            <a:off x="4270248" y="2505456"/>
            <a:ext cx="274320" cy="274320"/>
          </a:xfrm>
          <a:prstGeom prst="rect">
            <a:avLst/>
          </a:prstGeom>
        </p:spPr>
      </p:pic>
      <p:pic>
        <p:nvPicPr>
          <p:cNvPr id="46" name="Image 21" descr="preencoded.png">    </p:cNvPr>
          <p:cNvPicPr>
            <a:picLocks noChangeAspect="1"/>
          </p:cNvPicPr>
          <p:nvPr/>
        </p:nvPicPr>
        <p:blipFill>
          <a:blip r:embed="rId23"/>
          <a:stretch>
            <a:fillRect/>
          </a:stretch>
        </p:blipFill>
        <p:spPr>
          <a:xfrm>
            <a:off x="4331970" y="2567178"/>
            <a:ext cx="150876" cy="150876"/>
          </a:xfrm>
          <a:prstGeom prst="rect">
            <a:avLst/>
          </a:prstGeom>
        </p:spPr>
      </p:pic>
      <p:sp>
        <p:nvSpPr>
          <p:cNvPr id="47" name="Text 23"/>
          <p:cNvSpPr txBox="1"/>
          <p:nvPr/>
        </p:nvSpPr>
        <p:spPr>
          <a:xfrm>
            <a:off x="4636008" y="2487168"/>
            <a:ext cx="3246120" cy="329184"/>
          </a:xfrm>
          <a:prstGeom prst="rect">
            <a:avLst/>
          </a:prstGeom>
          <a:noFill/>
          <a:ln/>
        </p:spPr>
        <p:txBody>
          <a:bodyPr wrap="square" lIns="0" tIns="0" rIns="0" bIns="0" rtlCol="0" anchor="ctr"/>
          <a:lstStyle/>
          <a:p>
            <a:pPr indent="0" marL="0">
              <a:buNone/>
            </a:pPr>
            <a:r>
              <a:rPr lang="en-US" sz="1050" dirty="0">
                <a:solidFill>
                  <a:srgbClr val="F4F8FC"/>
                </a:solidFill>
                <a:latin typeface="Calibri" pitchFamily="34" charset="0"/>
                <a:ea typeface="Calibri" pitchFamily="34" charset="-122"/>
                <a:cs typeface="Calibri" pitchFamily="34" charset="-120"/>
              </a:rPr>
              <a:t>Transport fees</a:t>
            </a:r>
            <a:endParaRPr lang="en-US" sz="1050" dirty="0"/>
          </a:p>
        </p:txBody>
      </p:sp>
      <p:sp>
        <p:nvSpPr>
          <p:cNvPr id="48" name="Shape 24"/>
          <p:cNvSpPr/>
          <p:nvPr/>
        </p:nvSpPr>
        <p:spPr>
          <a:xfrm>
            <a:off x="548640" y="2880360"/>
            <a:ext cx="1490864" cy="713232"/>
          </a:xfrm>
          <a:prstGeom prst="roundRect">
            <a:avLst>
              <a:gd name="adj" fmla="val 12821"/>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49" name="Text 25"/>
          <p:cNvSpPr txBox="1"/>
          <p:nvPr/>
        </p:nvSpPr>
        <p:spPr>
          <a:xfrm>
            <a:off x="548640" y="2953512"/>
            <a:ext cx="1490864" cy="329184"/>
          </a:xfrm>
          <a:prstGeom prst="rect">
            <a:avLst/>
          </a:prstGeom>
          <a:noFill/>
          <a:ln/>
        </p:spPr>
        <p:txBody>
          <a:bodyPr wrap="square" lIns="0" tIns="0" rIns="0" bIns="0" rtlCol="0" anchor="ctr"/>
          <a:lstStyle/>
          <a:p>
            <a:pPr algn="ctr" indent="0" marL="0">
              <a:buNone/>
            </a:pPr>
            <a:r>
              <a:rPr lang="en-US" sz="1500" b="1" dirty="0">
                <a:solidFill>
                  <a:srgbClr val="4C9BFF"/>
                </a:solidFill>
                <a:latin typeface="Cambria" pitchFamily="34" charset="0"/>
                <a:ea typeface="Cambria" pitchFamily="34" charset="-122"/>
                <a:cs typeface="Cambria" pitchFamily="34" charset="-120"/>
              </a:rPr>
              <a:t>285</a:t>
            </a:r>
            <a:endParaRPr lang="en-US" sz="1500" dirty="0"/>
          </a:p>
        </p:txBody>
      </p:sp>
      <p:sp>
        <p:nvSpPr>
          <p:cNvPr id="50" name="Text 26"/>
          <p:cNvSpPr txBox="1"/>
          <p:nvPr/>
        </p:nvSpPr>
        <p:spPr>
          <a:xfrm>
            <a:off x="548640" y="3300984"/>
            <a:ext cx="1490864" cy="237744"/>
          </a:xfrm>
          <a:prstGeom prst="rect">
            <a:avLst/>
          </a:prstGeom>
          <a:noFill/>
          <a:ln/>
        </p:spPr>
        <p:txBody>
          <a:bodyPr wrap="square" lIns="0" tIns="0" rIns="0" bIns="0" rtlCol="0" anchor="ctr"/>
          <a:lstStyle/>
          <a:p>
            <a:pPr algn="ctr" indent="0" marL="0">
              <a:buNone/>
            </a:pPr>
            <a:r>
              <a:rPr lang="en-US" sz="750" dirty="0">
                <a:solidFill>
                  <a:srgbClr val="56688A"/>
                </a:solidFill>
                <a:latin typeface="Calibri" pitchFamily="34" charset="0"/>
                <a:ea typeface="Calibri" pitchFamily="34" charset="-122"/>
                <a:cs typeface="Calibri" pitchFamily="34" charset="-120"/>
              </a:rPr>
              <a:t>Students</a:t>
            </a:r>
            <a:endParaRPr lang="en-US" sz="750" dirty="0"/>
          </a:p>
        </p:txBody>
      </p:sp>
      <p:sp>
        <p:nvSpPr>
          <p:cNvPr id="51" name="Shape 27"/>
          <p:cNvSpPr/>
          <p:nvPr/>
        </p:nvSpPr>
        <p:spPr>
          <a:xfrm>
            <a:off x="2149232" y="2880360"/>
            <a:ext cx="1490864" cy="713232"/>
          </a:xfrm>
          <a:prstGeom prst="roundRect">
            <a:avLst>
              <a:gd name="adj" fmla="val 12821"/>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52" name="Text 28"/>
          <p:cNvSpPr txBox="1"/>
          <p:nvPr/>
        </p:nvSpPr>
        <p:spPr>
          <a:xfrm>
            <a:off x="2149232" y="2953512"/>
            <a:ext cx="1490864" cy="329184"/>
          </a:xfrm>
          <a:prstGeom prst="rect">
            <a:avLst/>
          </a:prstGeom>
          <a:noFill/>
          <a:ln/>
        </p:spPr>
        <p:txBody>
          <a:bodyPr wrap="square" lIns="0" tIns="0" rIns="0" bIns="0" rtlCol="0" anchor="ctr"/>
          <a:lstStyle/>
          <a:p>
            <a:pPr algn="ctr" indent="0" marL="0">
              <a:buNone/>
            </a:pPr>
            <a:r>
              <a:rPr lang="en-US" sz="1500" b="1" dirty="0">
                <a:solidFill>
                  <a:srgbClr val="4C9BFF"/>
                </a:solidFill>
                <a:latin typeface="Cambria" pitchFamily="34" charset="0"/>
                <a:ea typeface="Cambria" pitchFamily="34" charset="-122"/>
                <a:cs typeface="Cambria" pitchFamily="34" charset="-120"/>
              </a:rPr>
              <a:t>7</a:t>
            </a:r>
            <a:endParaRPr lang="en-US" sz="1500" dirty="0"/>
          </a:p>
        </p:txBody>
      </p:sp>
      <p:sp>
        <p:nvSpPr>
          <p:cNvPr id="53" name="Text 29"/>
          <p:cNvSpPr txBox="1"/>
          <p:nvPr/>
        </p:nvSpPr>
        <p:spPr>
          <a:xfrm>
            <a:off x="2149232" y="3300984"/>
            <a:ext cx="1490864" cy="237744"/>
          </a:xfrm>
          <a:prstGeom prst="rect">
            <a:avLst/>
          </a:prstGeom>
          <a:noFill/>
          <a:ln/>
        </p:spPr>
        <p:txBody>
          <a:bodyPr wrap="square" lIns="0" tIns="0" rIns="0" bIns="0" rtlCol="0" anchor="ctr"/>
          <a:lstStyle/>
          <a:p>
            <a:pPr algn="ctr" indent="0" marL="0">
              <a:buNone/>
            </a:pPr>
            <a:r>
              <a:rPr lang="en-US" sz="750" dirty="0">
                <a:solidFill>
                  <a:srgbClr val="56688A"/>
                </a:solidFill>
                <a:latin typeface="Calibri" pitchFamily="34" charset="0"/>
                <a:ea typeface="Calibri" pitchFamily="34" charset="-122"/>
                <a:cs typeface="Calibri" pitchFamily="34" charset="-120"/>
              </a:rPr>
              <a:t>Buses</a:t>
            </a:r>
            <a:endParaRPr lang="en-US" sz="750" dirty="0"/>
          </a:p>
        </p:txBody>
      </p:sp>
      <p:sp>
        <p:nvSpPr>
          <p:cNvPr id="54" name="Shape 30"/>
          <p:cNvSpPr/>
          <p:nvPr/>
        </p:nvSpPr>
        <p:spPr>
          <a:xfrm>
            <a:off x="3749824" y="2880360"/>
            <a:ext cx="1490864" cy="713232"/>
          </a:xfrm>
          <a:prstGeom prst="roundRect">
            <a:avLst>
              <a:gd name="adj" fmla="val 12821"/>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55" name="Text 31"/>
          <p:cNvSpPr txBox="1"/>
          <p:nvPr/>
        </p:nvSpPr>
        <p:spPr>
          <a:xfrm>
            <a:off x="3749824" y="2953512"/>
            <a:ext cx="1490864" cy="329184"/>
          </a:xfrm>
          <a:prstGeom prst="rect">
            <a:avLst/>
          </a:prstGeom>
          <a:noFill/>
          <a:ln/>
        </p:spPr>
        <p:txBody>
          <a:bodyPr wrap="square" lIns="0" tIns="0" rIns="0" bIns="0" rtlCol="0" anchor="ctr"/>
          <a:lstStyle/>
          <a:p>
            <a:pPr algn="ctr" indent="0" marL="0">
              <a:buNone/>
            </a:pPr>
            <a:r>
              <a:rPr lang="en-US" sz="1500" b="1" dirty="0">
                <a:solidFill>
                  <a:srgbClr val="4C9BFF"/>
                </a:solidFill>
                <a:latin typeface="Cambria" pitchFamily="34" charset="0"/>
                <a:ea typeface="Cambria" pitchFamily="34" charset="-122"/>
                <a:cs typeface="Cambria" pitchFamily="34" charset="-120"/>
              </a:rPr>
              <a:t>7</a:t>
            </a:r>
            <a:endParaRPr lang="en-US" sz="1500" dirty="0"/>
          </a:p>
        </p:txBody>
      </p:sp>
      <p:sp>
        <p:nvSpPr>
          <p:cNvPr id="56" name="Text 32"/>
          <p:cNvSpPr txBox="1"/>
          <p:nvPr/>
        </p:nvSpPr>
        <p:spPr>
          <a:xfrm>
            <a:off x="3749824" y="3300984"/>
            <a:ext cx="1490864" cy="237744"/>
          </a:xfrm>
          <a:prstGeom prst="rect">
            <a:avLst/>
          </a:prstGeom>
          <a:noFill/>
          <a:ln/>
        </p:spPr>
        <p:txBody>
          <a:bodyPr wrap="square" lIns="0" tIns="0" rIns="0" bIns="0" rtlCol="0" anchor="ctr"/>
          <a:lstStyle/>
          <a:p>
            <a:pPr algn="ctr" indent="0" marL="0">
              <a:buNone/>
            </a:pPr>
            <a:r>
              <a:rPr lang="en-US" sz="750" dirty="0">
                <a:solidFill>
                  <a:srgbClr val="56688A"/>
                </a:solidFill>
                <a:latin typeface="Calibri" pitchFamily="34" charset="0"/>
                <a:ea typeface="Calibri" pitchFamily="34" charset="-122"/>
                <a:cs typeface="Calibri" pitchFamily="34" charset="-120"/>
              </a:rPr>
              <a:t>Routes</a:t>
            </a:r>
            <a:endParaRPr lang="en-US" sz="750" dirty="0"/>
          </a:p>
        </p:txBody>
      </p:sp>
      <p:sp>
        <p:nvSpPr>
          <p:cNvPr id="57" name="Shape 33"/>
          <p:cNvSpPr/>
          <p:nvPr/>
        </p:nvSpPr>
        <p:spPr>
          <a:xfrm>
            <a:off x="5350416" y="2880360"/>
            <a:ext cx="1490864" cy="713232"/>
          </a:xfrm>
          <a:prstGeom prst="roundRect">
            <a:avLst>
              <a:gd name="adj" fmla="val 12821"/>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58" name="Text 34"/>
          <p:cNvSpPr txBox="1"/>
          <p:nvPr/>
        </p:nvSpPr>
        <p:spPr>
          <a:xfrm>
            <a:off x="5350416" y="2953512"/>
            <a:ext cx="1490864" cy="329184"/>
          </a:xfrm>
          <a:prstGeom prst="rect">
            <a:avLst/>
          </a:prstGeom>
          <a:noFill/>
          <a:ln/>
        </p:spPr>
        <p:txBody>
          <a:bodyPr wrap="square" lIns="0" tIns="0" rIns="0" bIns="0" rtlCol="0" anchor="ctr"/>
          <a:lstStyle/>
          <a:p>
            <a:pPr algn="ctr" indent="0" marL="0">
              <a:buNone/>
            </a:pPr>
            <a:r>
              <a:rPr lang="en-US" sz="1500" b="1" dirty="0">
                <a:solidFill>
                  <a:srgbClr val="4C9BFF"/>
                </a:solidFill>
                <a:latin typeface="Cambria" pitchFamily="34" charset="0"/>
                <a:ea typeface="Cambria" pitchFamily="34" charset="-122"/>
                <a:cs typeface="Cambria" pitchFamily="34" charset="-120"/>
              </a:rPr>
              <a:t>21</a:t>
            </a:r>
            <a:endParaRPr lang="en-US" sz="1500" dirty="0"/>
          </a:p>
        </p:txBody>
      </p:sp>
      <p:sp>
        <p:nvSpPr>
          <p:cNvPr id="59" name="Text 35"/>
          <p:cNvSpPr txBox="1"/>
          <p:nvPr/>
        </p:nvSpPr>
        <p:spPr>
          <a:xfrm>
            <a:off x="5350416" y="3300984"/>
            <a:ext cx="1490864" cy="237744"/>
          </a:xfrm>
          <a:prstGeom prst="rect">
            <a:avLst/>
          </a:prstGeom>
          <a:noFill/>
          <a:ln/>
        </p:spPr>
        <p:txBody>
          <a:bodyPr wrap="square" lIns="0" tIns="0" rIns="0" bIns="0" rtlCol="0" anchor="ctr"/>
          <a:lstStyle/>
          <a:p>
            <a:pPr algn="ctr" indent="0" marL="0">
              <a:buNone/>
            </a:pPr>
            <a:r>
              <a:rPr lang="en-US" sz="750" dirty="0">
                <a:solidFill>
                  <a:srgbClr val="56688A"/>
                </a:solidFill>
                <a:latin typeface="Calibri" pitchFamily="34" charset="0"/>
                <a:ea typeface="Calibri" pitchFamily="34" charset="-122"/>
                <a:cs typeface="Calibri" pitchFamily="34" charset="-120"/>
              </a:rPr>
              <a:t>Pickup Pts</a:t>
            </a:r>
            <a:endParaRPr lang="en-US" sz="750" dirty="0"/>
          </a:p>
        </p:txBody>
      </p:sp>
      <p:sp>
        <p:nvSpPr>
          <p:cNvPr id="60" name="Shape 36"/>
          <p:cNvSpPr/>
          <p:nvPr/>
        </p:nvSpPr>
        <p:spPr>
          <a:xfrm>
            <a:off x="6951008" y="2880360"/>
            <a:ext cx="1490864" cy="713232"/>
          </a:xfrm>
          <a:prstGeom prst="roundRect">
            <a:avLst>
              <a:gd name="adj" fmla="val 12821"/>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61" name="Text 37"/>
          <p:cNvSpPr txBox="1"/>
          <p:nvPr/>
        </p:nvSpPr>
        <p:spPr>
          <a:xfrm>
            <a:off x="6951008" y="2953512"/>
            <a:ext cx="1490864" cy="329184"/>
          </a:xfrm>
          <a:prstGeom prst="rect">
            <a:avLst/>
          </a:prstGeom>
          <a:noFill/>
          <a:ln/>
        </p:spPr>
        <p:txBody>
          <a:bodyPr wrap="square" lIns="0" tIns="0" rIns="0" bIns="0" rtlCol="0" anchor="ctr"/>
          <a:lstStyle/>
          <a:p>
            <a:pPr algn="ctr" indent="0" marL="0">
              <a:buNone/>
            </a:pPr>
            <a:r>
              <a:rPr lang="en-US" sz="1500" b="1" dirty="0">
                <a:solidFill>
                  <a:srgbClr val="4C9BFF"/>
                </a:solidFill>
                <a:latin typeface="Cambria" pitchFamily="34" charset="0"/>
                <a:ea typeface="Cambria" pitchFamily="34" charset="-122"/>
                <a:cs typeface="Cambria" pitchFamily="34" charset="-120"/>
              </a:rPr>
              <a:t>21</a:t>
            </a:r>
            <a:endParaRPr lang="en-US" sz="1500" dirty="0"/>
          </a:p>
        </p:txBody>
      </p:sp>
      <p:sp>
        <p:nvSpPr>
          <p:cNvPr id="62" name="Text 38"/>
          <p:cNvSpPr txBox="1"/>
          <p:nvPr/>
        </p:nvSpPr>
        <p:spPr>
          <a:xfrm>
            <a:off x="6951008" y="3300984"/>
            <a:ext cx="1490864" cy="237744"/>
          </a:xfrm>
          <a:prstGeom prst="rect">
            <a:avLst/>
          </a:prstGeom>
          <a:noFill/>
          <a:ln/>
        </p:spPr>
        <p:txBody>
          <a:bodyPr wrap="square" lIns="0" tIns="0" rIns="0" bIns="0" rtlCol="0" anchor="ctr"/>
          <a:lstStyle/>
          <a:p>
            <a:pPr algn="ctr" indent="0" marL="0">
              <a:buNone/>
            </a:pPr>
            <a:r>
              <a:rPr lang="en-US" sz="750" dirty="0">
                <a:solidFill>
                  <a:srgbClr val="56688A"/>
                </a:solidFill>
                <a:latin typeface="Calibri" pitchFamily="34" charset="0"/>
                <a:ea typeface="Calibri" pitchFamily="34" charset="-122"/>
                <a:cs typeface="Calibri" pitchFamily="34" charset="-120"/>
              </a:rPr>
              <a:t>Drop Pts</a:t>
            </a:r>
            <a:endParaRPr lang="en-US" sz="750" dirty="0"/>
          </a:p>
        </p:txBody>
      </p:sp>
      <p:sp>
        <p:nvSpPr>
          <p:cNvPr id="63" name="Shape 39"/>
          <p:cNvSpPr/>
          <p:nvPr/>
        </p:nvSpPr>
        <p:spPr>
          <a:xfrm>
            <a:off x="8551599" y="2880360"/>
            <a:ext cx="1490864" cy="713232"/>
          </a:xfrm>
          <a:prstGeom prst="roundRect">
            <a:avLst>
              <a:gd name="adj" fmla="val 12821"/>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64" name="Text 40"/>
          <p:cNvSpPr txBox="1"/>
          <p:nvPr/>
        </p:nvSpPr>
        <p:spPr>
          <a:xfrm>
            <a:off x="8551599" y="2953512"/>
            <a:ext cx="1490864" cy="329184"/>
          </a:xfrm>
          <a:prstGeom prst="rect">
            <a:avLst/>
          </a:prstGeom>
          <a:noFill/>
          <a:ln/>
        </p:spPr>
        <p:txBody>
          <a:bodyPr wrap="square" lIns="0" tIns="0" rIns="0" bIns="0" rtlCol="0" anchor="ctr"/>
          <a:lstStyle/>
          <a:p>
            <a:pPr algn="ctr" indent="0" marL="0">
              <a:buNone/>
            </a:pPr>
            <a:r>
              <a:rPr lang="en-US" sz="1500" b="1" dirty="0">
                <a:solidFill>
                  <a:srgbClr val="4C9BFF"/>
                </a:solidFill>
                <a:latin typeface="Cambria" pitchFamily="34" charset="0"/>
                <a:ea typeface="Cambria" pitchFamily="34" charset="-122"/>
                <a:cs typeface="Cambria" pitchFamily="34" charset="-120"/>
              </a:rPr>
              <a:t>1,773</a:t>
            </a:r>
            <a:endParaRPr lang="en-US" sz="1500" dirty="0"/>
          </a:p>
        </p:txBody>
      </p:sp>
      <p:sp>
        <p:nvSpPr>
          <p:cNvPr id="65" name="Text 41"/>
          <p:cNvSpPr txBox="1"/>
          <p:nvPr/>
        </p:nvSpPr>
        <p:spPr>
          <a:xfrm>
            <a:off x="8551599" y="3300984"/>
            <a:ext cx="1490864" cy="237744"/>
          </a:xfrm>
          <a:prstGeom prst="rect">
            <a:avLst/>
          </a:prstGeom>
          <a:noFill/>
          <a:ln/>
        </p:spPr>
        <p:txBody>
          <a:bodyPr wrap="square" lIns="0" tIns="0" rIns="0" bIns="0" rtlCol="0" anchor="ctr"/>
          <a:lstStyle/>
          <a:p>
            <a:pPr algn="ctr" indent="0" marL="0">
              <a:buNone/>
            </a:pPr>
            <a:r>
              <a:rPr lang="en-US" sz="750" dirty="0">
                <a:solidFill>
                  <a:srgbClr val="56688A"/>
                </a:solidFill>
                <a:latin typeface="Calibri" pitchFamily="34" charset="0"/>
                <a:ea typeface="Calibri" pitchFamily="34" charset="-122"/>
                <a:cs typeface="Calibri" pitchFamily="34" charset="-120"/>
              </a:rPr>
              <a:t>Records</a:t>
            </a:r>
            <a:endParaRPr lang="en-US" sz="750" dirty="0"/>
          </a:p>
        </p:txBody>
      </p:sp>
      <p:sp>
        <p:nvSpPr>
          <p:cNvPr id="66" name="Shape 42"/>
          <p:cNvSpPr/>
          <p:nvPr/>
        </p:nvSpPr>
        <p:spPr>
          <a:xfrm>
            <a:off x="10152191" y="2880360"/>
            <a:ext cx="1490864" cy="713232"/>
          </a:xfrm>
          <a:prstGeom prst="roundRect">
            <a:avLst>
              <a:gd name="adj" fmla="val 12821"/>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67" name="Text 43"/>
          <p:cNvSpPr txBox="1"/>
          <p:nvPr/>
        </p:nvSpPr>
        <p:spPr>
          <a:xfrm>
            <a:off x="10152191" y="2953512"/>
            <a:ext cx="1490864" cy="329184"/>
          </a:xfrm>
          <a:prstGeom prst="rect">
            <a:avLst/>
          </a:prstGeom>
          <a:noFill/>
          <a:ln/>
        </p:spPr>
        <p:txBody>
          <a:bodyPr wrap="square" lIns="0" tIns="0" rIns="0" bIns="0" rtlCol="0" anchor="ctr"/>
          <a:lstStyle/>
          <a:p>
            <a:pPr algn="ctr" indent="0" marL="0">
              <a:buNone/>
            </a:pPr>
            <a:r>
              <a:rPr lang="en-US" sz="1500" b="1" dirty="0">
                <a:solidFill>
                  <a:srgbClr val="4C9BFF"/>
                </a:solidFill>
                <a:latin typeface="Cambria" pitchFamily="34" charset="0"/>
                <a:ea typeface="Cambria" pitchFamily="34" charset="-122"/>
                <a:cs typeface="Cambria" pitchFamily="34" charset="-120"/>
              </a:rPr>
              <a:t>100%</a:t>
            </a:r>
            <a:endParaRPr lang="en-US" sz="1500" dirty="0"/>
          </a:p>
        </p:txBody>
      </p:sp>
      <p:sp>
        <p:nvSpPr>
          <p:cNvPr id="68" name="Text 44"/>
          <p:cNvSpPr txBox="1"/>
          <p:nvPr/>
        </p:nvSpPr>
        <p:spPr>
          <a:xfrm>
            <a:off x="10152191" y="3300984"/>
            <a:ext cx="1490864" cy="237744"/>
          </a:xfrm>
          <a:prstGeom prst="rect">
            <a:avLst/>
          </a:prstGeom>
          <a:noFill/>
          <a:ln/>
        </p:spPr>
        <p:txBody>
          <a:bodyPr wrap="square" lIns="0" tIns="0" rIns="0" bIns="0" rtlCol="0" anchor="ctr"/>
          <a:lstStyle/>
          <a:p>
            <a:pPr algn="ctr" indent="0" marL="0">
              <a:buNone/>
            </a:pPr>
            <a:r>
              <a:rPr lang="en-US" sz="750" dirty="0">
                <a:solidFill>
                  <a:srgbClr val="56688A"/>
                </a:solidFill>
                <a:latin typeface="Calibri" pitchFamily="34" charset="0"/>
                <a:ea typeface="Calibri" pitchFamily="34" charset="-122"/>
                <a:cs typeface="Calibri" pitchFamily="34" charset="-120"/>
              </a:rPr>
              <a:t>Utilization</a:t>
            </a:r>
            <a:endParaRPr lang="en-US" sz="750" dirty="0"/>
          </a:p>
        </p:txBody>
      </p:sp>
      <p:sp>
        <p:nvSpPr>
          <p:cNvPr id="69" name="Shape 45"/>
          <p:cNvSpPr/>
          <p:nvPr/>
        </p:nvSpPr>
        <p:spPr>
          <a:xfrm>
            <a:off x="548640" y="3840480"/>
            <a:ext cx="5486400" cy="1691640"/>
          </a:xfrm>
          <a:prstGeom prst="roundRect">
            <a:avLst>
              <a:gd name="adj" fmla="val 5405"/>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70" name="Text 46"/>
          <p:cNvSpPr txBox="1"/>
          <p:nvPr/>
        </p:nvSpPr>
        <p:spPr>
          <a:xfrm>
            <a:off x="713232" y="3968496"/>
            <a:ext cx="5120640" cy="237744"/>
          </a:xfrm>
          <a:prstGeom prst="rect">
            <a:avLst/>
          </a:prstGeom>
          <a:noFill/>
          <a:ln/>
        </p:spPr>
        <p:txBody>
          <a:bodyPr wrap="square" lIns="0" tIns="0" rIns="0" bIns="0" rtlCol="0" anchor="ctr"/>
          <a:lstStyle/>
          <a:p>
            <a:pPr indent="0" marL="0">
              <a:buNone/>
            </a:pPr>
            <a:r>
              <a:rPr lang="en-US" sz="1000" b="1" spc="150" kern="0" dirty="0">
                <a:solidFill>
                  <a:srgbClr val="4FE0D4"/>
                </a:solidFill>
                <a:latin typeface="Calibri" pitchFamily="34" charset="0"/>
                <a:ea typeface="Calibri" pitchFamily="34" charset="-122"/>
                <a:cs typeface="Calibri" pitchFamily="34" charset="-120"/>
              </a:rPr>
              <a:t>CONCLUSION</a:t>
            </a:r>
            <a:endParaRPr lang="en-US" sz="1000" dirty="0"/>
          </a:p>
        </p:txBody>
      </p:sp>
      <p:sp>
        <p:nvSpPr>
          <p:cNvPr id="71" name="Text 47"/>
          <p:cNvSpPr txBox="1"/>
          <p:nvPr/>
        </p:nvSpPr>
        <p:spPr>
          <a:xfrm>
            <a:off x="713232" y="4261104"/>
            <a:ext cx="5120640" cy="1143000"/>
          </a:xfrm>
          <a:prstGeom prst="rect">
            <a:avLst/>
          </a:prstGeom>
          <a:noFill/>
          <a:ln/>
        </p:spPr>
        <p:txBody>
          <a:bodyPr wrap="square" lIns="0" tIns="0" rIns="0" bIns="0" rtlCol="0" anchor="ctr"/>
          <a:lstStyle/>
          <a:p>
            <a:pPr indent="0" marL="0">
              <a:lnSpc>
                <a:spcPct val="125000"/>
              </a:lnSpc>
              <a:buNone/>
            </a:pPr>
            <a:r>
              <a:rPr lang="en-US" sz="1100" dirty="0">
                <a:solidFill>
                  <a:srgbClr val="93A5C2"/>
                </a:solidFill>
                <a:latin typeface="Calibri" pitchFamily="34" charset="0"/>
                <a:ea typeface="Calibri" pitchFamily="34" charset="-122"/>
                <a:cs typeface="Calibri" pitchFamily="34" charset="-120"/>
              </a:rPr>
              <a:t>The system successfully integrates a relational MySQL database with a modern web interface to manage student transport data, routes, buses, pickup/drop points and transport records.</a:t>
            </a:r>
            <a:endParaRPr lang="en-US" sz="1100" dirty="0"/>
          </a:p>
        </p:txBody>
      </p:sp>
      <p:sp>
        <p:nvSpPr>
          <p:cNvPr id="72" name="Shape 48"/>
          <p:cNvSpPr/>
          <p:nvPr/>
        </p:nvSpPr>
        <p:spPr>
          <a:xfrm>
            <a:off x="6172200" y="3840480"/>
            <a:ext cx="5486400" cy="1691640"/>
          </a:xfrm>
          <a:prstGeom prst="roundRect">
            <a:avLst>
              <a:gd name="adj" fmla="val 5405"/>
            </a:avLst>
          </a:prstGeom>
          <a:solidFill>
            <a:srgbClr val="0E1A2E">
              <a:alpha val="90000"/>
            </a:srgbClr>
          </a:solidFill>
          <a:ln w="12700">
            <a:solidFill>
              <a:srgbClr val="21324D"/>
            </a:solidFill>
            <a:prstDash val="solid"/>
          </a:ln>
          <a:effectLst>
            <a:outerShdw sx="100000" sy="100000" kx="0" ky="0" algn="bl" rotWithShape="0" blurRad="127000" dist="38100" dir="5400000">
              <a:srgbClr val="000000">
                <a:alpha val="45000"/>
              </a:srgbClr>
            </a:outerShdw>
          </a:effectLst>
        </p:spPr>
      </p:sp>
      <p:sp>
        <p:nvSpPr>
          <p:cNvPr id="73" name="Text 49"/>
          <p:cNvSpPr txBox="1"/>
          <p:nvPr/>
        </p:nvSpPr>
        <p:spPr>
          <a:xfrm>
            <a:off x="6336792" y="3968496"/>
            <a:ext cx="5120640" cy="237744"/>
          </a:xfrm>
          <a:prstGeom prst="rect">
            <a:avLst/>
          </a:prstGeom>
          <a:noFill/>
          <a:ln/>
        </p:spPr>
        <p:txBody>
          <a:bodyPr wrap="square" lIns="0" tIns="0" rIns="0" bIns="0" rtlCol="0" anchor="ctr"/>
          <a:lstStyle/>
          <a:p>
            <a:pPr indent="0" marL="0">
              <a:buNone/>
            </a:pPr>
            <a:r>
              <a:rPr lang="en-US" sz="1000" b="1" spc="150" kern="0" dirty="0">
                <a:solidFill>
                  <a:srgbClr val="4FE0D4"/>
                </a:solidFill>
                <a:latin typeface="Calibri" pitchFamily="34" charset="0"/>
                <a:ea typeface="Calibri" pitchFamily="34" charset="-122"/>
                <a:cs typeface="Calibri" pitchFamily="34" charset="-120"/>
              </a:rPr>
              <a:t>FUTURE SCOPE</a:t>
            </a:r>
            <a:endParaRPr lang="en-US" sz="1000" dirty="0"/>
          </a:p>
        </p:txBody>
      </p:sp>
      <p:sp>
        <p:nvSpPr>
          <p:cNvPr id="74" name="Text 50"/>
          <p:cNvSpPr txBox="1"/>
          <p:nvPr/>
        </p:nvSpPr>
        <p:spPr>
          <a:xfrm>
            <a:off x="6336792" y="4297680"/>
            <a:ext cx="2514600" cy="365760"/>
          </a:xfrm>
          <a:prstGeom prst="rect">
            <a:avLst/>
          </a:prstGeom>
          <a:noFill/>
          <a:ln/>
        </p:spPr>
        <p:txBody>
          <a:bodyPr wrap="square" lIns="0" tIns="0" rIns="0" bIns="0" rtlCol="0" anchor="ctr"/>
          <a:lstStyle/>
          <a:p>
            <a:pPr indent="0" marL="0">
              <a:lnSpc>
                <a:spcPct val="105000"/>
              </a:lnSpc>
              <a:buNone/>
            </a:pPr>
            <a:r>
              <a:rPr lang="en-US" sz="950" dirty="0">
                <a:solidFill>
                  <a:srgbClr val="93A5C2"/>
                </a:solidFill>
                <a:latin typeface="Calibri" pitchFamily="34" charset="0"/>
                <a:ea typeface="Calibri" pitchFamily="34" charset="-122"/>
                <a:cs typeface="Calibri" pitchFamily="34" charset="-120"/>
              </a:rPr>
              <a:t>•  Authentication &amp; role-based access</a:t>
            </a:r>
            <a:endParaRPr lang="en-US" sz="950" dirty="0"/>
          </a:p>
        </p:txBody>
      </p:sp>
      <p:sp>
        <p:nvSpPr>
          <p:cNvPr id="75" name="Text 51"/>
          <p:cNvSpPr txBox="1"/>
          <p:nvPr/>
        </p:nvSpPr>
        <p:spPr>
          <a:xfrm>
            <a:off x="8942832" y="4297680"/>
            <a:ext cx="2514600" cy="365760"/>
          </a:xfrm>
          <a:prstGeom prst="rect">
            <a:avLst/>
          </a:prstGeom>
          <a:noFill/>
          <a:ln/>
        </p:spPr>
        <p:txBody>
          <a:bodyPr wrap="square" lIns="0" tIns="0" rIns="0" bIns="0" rtlCol="0" anchor="ctr"/>
          <a:lstStyle/>
          <a:p>
            <a:pPr indent="0" marL="0">
              <a:lnSpc>
                <a:spcPct val="105000"/>
              </a:lnSpc>
              <a:buNone/>
            </a:pPr>
            <a:r>
              <a:rPr lang="en-US" sz="950" dirty="0">
                <a:solidFill>
                  <a:srgbClr val="93A5C2"/>
                </a:solidFill>
                <a:latin typeface="Calibri" pitchFamily="34" charset="0"/>
                <a:ea typeface="Calibri" pitchFamily="34" charset="-122"/>
                <a:cs typeface="Calibri" pitchFamily="34" charset="-120"/>
              </a:rPr>
              <a:t>•  Live GPS tracking</a:t>
            </a:r>
            <a:endParaRPr lang="en-US" sz="950" dirty="0"/>
          </a:p>
        </p:txBody>
      </p:sp>
      <p:sp>
        <p:nvSpPr>
          <p:cNvPr id="76" name="Text 52"/>
          <p:cNvSpPr txBox="1"/>
          <p:nvPr/>
        </p:nvSpPr>
        <p:spPr>
          <a:xfrm>
            <a:off x="6336792" y="4681728"/>
            <a:ext cx="2514600" cy="365760"/>
          </a:xfrm>
          <a:prstGeom prst="rect">
            <a:avLst/>
          </a:prstGeom>
          <a:noFill/>
          <a:ln/>
        </p:spPr>
        <p:txBody>
          <a:bodyPr wrap="square" lIns="0" tIns="0" rIns="0" bIns="0" rtlCol="0" anchor="ctr"/>
          <a:lstStyle/>
          <a:p>
            <a:pPr indent="0" marL="0">
              <a:lnSpc>
                <a:spcPct val="105000"/>
              </a:lnSpc>
              <a:buNone/>
            </a:pPr>
            <a:r>
              <a:rPr lang="en-US" sz="950" dirty="0">
                <a:solidFill>
                  <a:srgbClr val="93A5C2"/>
                </a:solidFill>
                <a:latin typeface="Calibri" pitchFamily="34" charset="0"/>
                <a:ea typeface="Calibri" pitchFamily="34" charset="-122"/>
                <a:cs typeface="Calibri" pitchFamily="34" charset="-120"/>
              </a:rPr>
              <a:t>•  Automated notifications</a:t>
            </a:r>
            <a:endParaRPr lang="en-US" sz="950" dirty="0"/>
          </a:p>
        </p:txBody>
      </p:sp>
      <p:sp>
        <p:nvSpPr>
          <p:cNvPr id="77" name="Text 53"/>
          <p:cNvSpPr txBox="1"/>
          <p:nvPr/>
        </p:nvSpPr>
        <p:spPr>
          <a:xfrm>
            <a:off x="8942832" y="4681728"/>
            <a:ext cx="2514600" cy="365760"/>
          </a:xfrm>
          <a:prstGeom prst="rect">
            <a:avLst/>
          </a:prstGeom>
          <a:noFill/>
          <a:ln/>
        </p:spPr>
        <p:txBody>
          <a:bodyPr wrap="square" lIns="0" tIns="0" rIns="0" bIns="0" rtlCol="0" anchor="ctr"/>
          <a:lstStyle/>
          <a:p>
            <a:pPr indent="0" marL="0">
              <a:lnSpc>
                <a:spcPct val="105000"/>
              </a:lnSpc>
              <a:buNone/>
            </a:pPr>
            <a:r>
              <a:rPr lang="en-US" sz="950" dirty="0">
                <a:solidFill>
                  <a:srgbClr val="93A5C2"/>
                </a:solidFill>
                <a:latin typeface="Calibri" pitchFamily="34" charset="0"/>
                <a:ea typeface="Calibri" pitchFamily="34" charset="-122"/>
                <a:cs typeface="Calibri" pitchFamily="34" charset="-120"/>
              </a:rPr>
              <a:t>•  Mobile application</a:t>
            </a:r>
            <a:endParaRPr lang="en-US" sz="950" dirty="0"/>
          </a:p>
        </p:txBody>
      </p:sp>
      <p:sp>
        <p:nvSpPr>
          <p:cNvPr id="78" name="Text 54"/>
          <p:cNvSpPr txBox="1"/>
          <p:nvPr/>
        </p:nvSpPr>
        <p:spPr>
          <a:xfrm>
            <a:off x="6336792" y="5065776"/>
            <a:ext cx="2514600" cy="365760"/>
          </a:xfrm>
          <a:prstGeom prst="rect">
            <a:avLst/>
          </a:prstGeom>
          <a:noFill/>
          <a:ln/>
        </p:spPr>
        <p:txBody>
          <a:bodyPr wrap="square" lIns="0" tIns="0" rIns="0" bIns="0" rtlCol="0" anchor="ctr"/>
          <a:lstStyle/>
          <a:p>
            <a:pPr indent="0" marL="0">
              <a:lnSpc>
                <a:spcPct val="105000"/>
              </a:lnSpc>
              <a:buNone/>
            </a:pPr>
            <a:r>
              <a:rPr lang="en-US" sz="950" dirty="0">
                <a:solidFill>
                  <a:srgbClr val="93A5C2"/>
                </a:solidFill>
                <a:latin typeface="Calibri" pitchFamily="34" charset="0"/>
                <a:ea typeface="Calibri" pitchFamily="34" charset="-122"/>
                <a:cs typeface="Calibri" pitchFamily="34" charset="-120"/>
              </a:rPr>
              <a:t>•  Predictive route optimization</a:t>
            </a:r>
            <a:endParaRPr lang="en-US" sz="950" dirty="0"/>
          </a:p>
        </p:txBody>
      </p:sp>
      <p:sp>
        <p:nvSpPr>
          <p:cNvPr id="79" name="Text 55"/>
          <p:cNvSpPr txBox="1"/>
          <p:nvPr/>
        </p:nvSpPr>
        <p:spPr>
          <a:xfrm>
            <a:off x="8942832" y="5065776"/>
            <a:ext cx="2514600" cy="365760"/>
          </a:xfrm>
          <a:prstGeom prst="rect">
            <a:avLst/>
          </a:prstGeom>
          <a:noFill/>
          <a:ln/>
        </p:spPr>
        <p:txBody>
          <a:bodyPr wrap="square" lIns="0" tIns="0" rIns="0" bIns="0" rtlCol="0" anchor="ctr"/>
          <a:lstStyle/>
          <a:p>
            <a:pPr indent="0" marL="0">
              <a:lnSpc>
                <a:spcPct val="105000"/>
              </a:lnSpc>
              <a:buNone/>
            </a:pPr>
            <a:r>
              <a:rPr lang="en-US" sz="950" dirty="0">
                <a:solidFill>
                  <a:srgbClr val="93A5C2"/>
                </a:solidFill>
                <a:latin typeface="Calibri" pitchFamily="34" charset="0"/>
                <a:ea typeface="Calibri" pitchFamily="34" charset="-122"/>
                <a:cs typeface="Calibri" pitchFamily="34" charset="-120"/>
              </a:rPr>
              <a:t>•  Automated fee reminders</a:t>
            </a:r>
            <a:endParaRPr lang="en-US" sz="950" dirty="0"/>
          </a:p>
        </p:txBody>
      </p:sp>
      <p:sp>
        <p:nvSpPr>
          <p:cNvPr id="80" name="Text 56"/>
          <p:cNvSpPr txBox="1"/>
          <p:nvPr/>
        </p:nvSpPr>
        <p:spPr>
          <a:xfrm>
            <a:off x="548640" y="5760720"/>
            <a:ext cx="11094415" cy="411480"/>
          </a:xfrm>
          <a:prstGeom prst="rect">
            <a:avLst/>
          </a:prstGeom>
          <a:noFill/>
          <a:ln/>
        </p:spPr>
        <p:txBody>
          <a:bodyPr wrap="square" lIns="0" tIns="0" rIns="0" bIns="0" rtlCol="0" anchor="ctr"/>
          <a:lstStyle/>
          <a:p>
            <a:pPr algn="ctr" indent="0" marL="0">
              <a:buNone/>
            </a:pPr>
            <a:r>
              <a:rPr lang="en-US" sz="1900" b="1" spc="100" kern="0" dirty="0">
                <a:solidFill>
                  <a:srgbClr val="F4F8FC"/>
                </a:solidFill>
                <a:latin typeface="Cambria" pitchFamily="34" charset="0"/>
                <a:ea typeface="Cambria" pitchFamily="34" charset="-122"/>
                <a:cs typeface="Cambria" pitchFamily="34" charset="-120"/>
              </a:rPr>
              <a:t>ONE SYSTEM. EVERY STUDENT. EVERY ROUTE.</a:t>
            </a:r>
            <a:endParaRPr lang="en-US" sz="1900" dirty="0"/>
          </a:p>
        </p:txBody>
      </p:sp>
      <p:sp>
        <p:nvSpPr>
          <p:cNvPr id="81" name="Text 57"/>
          <p:cNvSpPr txBox="1"/>
          <p:nvPr/>
        </p:nvSpPr>
        <p:spPr>
          <a:xfrm>
            <a:off x="548640" y="6199632"/>
            <a:ext cx="11094415" cy="320040"/>
          </a:xfrm>
          <a:prstGeom prst="rect">
            <a:avLst/>
          </a:prstGeom>
          <a:noFill/>
          <a:ln/>
        </p:spPr>
        <p:txBody>
          <a:bodyPr wrap="square" lIns="0" tIns="0" rIns="0" bIns="0" rtlCol="0" anchor="ctr"/>
          <a:lstStyle/>
          <a:p>
            <a:pPr algn="ctr" indent="0" marL="0">
              <a:buNone/>
            </a:pPr>
            <a:r>
              <a:rPr lang="en-US" sz="1300" i="1" dirty="0">
                <a:solidFill>
                  <a:srgbClr val="4C9BFF"/>
                </a:solidFill>
                <a:latin typeface="Calibri" pitchFamily="34" charset="0"/>
                <a:ea typeface="Calibri" pitchFamily="34" charset="-122"/>
                <a:cs typeface="Calibri" pitchFamily="34" charset="-120"/>
              </a:rPr>
              <a:t>Thank You.</a:t>
            </a:r>
            <a:endParaRPr lang="en-US" sz="1300" dirty="0"/>
          </a:p>
        </p:txBody>
      </p:sp>
      <p:sp>
        <p:nvSpPr>
          <p:cNvPr id="82" name="Text 58"/>
          <p:cNvSpPr txBox="1"/>
          <p:nvPr/>
        </p:nvSpPr>
        <p:spPr>
          <a:xfrm>
            <a:off x="548640" y="6528816"/>
            <a:ext cx="8229600" cy="237744"/>
          </a:xfrm>
          <a:prstGeom prst="rect">
            <a:avLst/>
          </a:prstGeom>
          <a:noFill/>
          <a:ln/>
        </p:spPr>
        <p:txBody>
          <a:bodyPr wrap="square" lIns="0" tIns="0" rIns="0" bIns="0" rtlCol="0" anchor="ctr"/>
          <a:lstStyle/>
          <a:p>
            <a:pPr algn="l" indent="0" marL="0">
              <a:buNone/>
            </a:pPr>
            <a:r>
              <a:rPr lang="en-US" sz="800" dirty="0">
                <a:solidFill>
                  <a:srgbClr val="56688A"/>
                </a:solidFill>
                <a:latin typeface="Calibri" pitchFamily="34" charset="0"/>
                <a:ea typeface="Calibri" pitchFamily="34" charset="-122"/>
                <a:cs typeface="Calibri" pitchFamily="34" charset="-120"/>
              </a:rPr>
              <a:t>School Transport Route &amp; Student Pickup Management System — Presentation III</a:t>
            </a:r>
            <a:endParaRPr lang="en-US" sz="800" dirty="0"/>
          </a:p>
        </p:txBody>
      </p:sp>
      <p:sp>
        <p:nvSpPr>
          <p:cNvPr id="83" name="Text 59"/>
          <p:cNvSpPr txBox="1"/>
          <p:nvPr/>
        </p:nvSpPr>
        <p:spPr>
          <a:xfrm>
            <a:off x="11185855" y="6528816"/>
            <a:ext cx="457200" cy="237744"/>
          </a:xfrm>
          <a:prstGeom prst="rect">
            <a:avLst/>
          </a:prstGeom>
          <a:noFill/>
          <a:ln/>
        </p:spPr>
        <p:txBody>
          <a:bodyPr wrap="square" lIns="0" tIns="0" rIns="0" bIns="0" rtlCol="0" anchor="ctr"/>
          <a:lstStyle/>
          <a:p>
            <a:pPr algn="r" indent="0" marL="0">
              <a:buNone/>
            </a:pPr>
            <a:r>
              <a:rPr lang="en-US" sz="800" dirty="0">
                <a:solidFill>
                  <a:srgbClr val="56688A"/>
                </a:solidFill>
                <a:latin typeface="Calibri" pitchFamily="34" charset="0"/>
                <a:ea typeface="Calibri" pitchFamily="34" charset="-122"/>
                <a:cs typeface="Calibri" pitchFamily="34" charset="-120"/>
              </a:rPr>
              <a:t>9 / 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2026-10-04T13:36:44Z</dcterms:created>
  <dcterms:modified xsi:type="dcterms:W3CDTF">2026-10-04T13:36:44Z</dcterms:modified>
</cp:coreProperties>
</file>