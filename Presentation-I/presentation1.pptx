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966960" y="-1188720"/>
            <a:ext cx="3840480" cy="3840480"/>
          </a:xfrm>
          <a:prstGeom prst="ellipse">
            <a:avLst/>
          </a:prstGeom>
          <a:solidFill>
            <a:srgbClr val="263578"/>
          </a:solidFill>
          <a:ln/>
        </p:spPr>
      </p:sp>
      <p:sp>
        <p:nvSpPr>
          <p:cNvPr id="3" name="Shape 1"/>
          <p:cNvSpPr/>
          <p:nvPr/>
        </p:nvSpPr>
        <p:spPr>
          <a:xfrm>
            <a:off x="10881360" y="4846320"/>
            <a:ext cx="2743200" cy="2743200"/>
          </a:xfrm>
          <a:prstGeom prst="ellipse">
            <a:avLst/>
          </a:prstGeom>
          <a:solidFill>
            <a:srgbClr val="263578"/>
          </a:solidFill>
          <a:ln/>
        </p:spPr>
      </p:sp>
      <p:sp>
        <p:nvSpPr>
          <p:cNvPr id="4" name="Shape 2"/>
          <p:cNvSpPr/>
          <p:nvPr/>
        </p:nvSpPr>
        <p:spPr>
          <a:xfrm>
            <a:off x="10561320" y="5166360"/>
            <a:ext cx="1051560" cy="1051560"/>
          </a:xfrm>
          <a:prstGeom prst="ellipse">
            <a:avLst/>
          </a:prstGeom>
          <a:solidFill>
            <a:srgbClr val="F2A93B"/>
          </a:solidFill>
          <a:ln/>
        </p:spPr>
      </p:sp>
      <p:sp>
        <p:nvSpPr>
          <p:cNvPr id="5" name="Text 3"/>
          <p:cNvSpPr txBox="1"/>
          <p:nvPr/>
        </p:nvSpPr>
        <p:spPr>
          <a:xfrm>
            <a:off x="10561320" y="5166360"/>
            <a:ext cx="1051560" cy="1051560"/>
          </a:xfrm>
          <a:prstGeom prst="rect">
            <a:avLst/>
          </a:prstGeom>
          <a:noFill/>
          <a:ln/>
        </p:spPr>
        <p:txBody>
          <a:bodyPr wrap="square" rtlCol="0" anchor="ctr"/>
          <a:lstStyle/>
          <a:p>
            <a:pPr algn="ctr" indent="0" marL="0">
              <a:buNone/>
            </a:pPr>
            <a:r>
              <a:rPr lang="en-US" sz="3400" dirty="0">
                <a:solidFill>
                  <a:srgbClr val="000000"/>
                </a:solidFill>
                <a:latin typeface="Calibri" pitchFamily="34" charset="0"/>
                <a:ea typeface="Calibri" pitchFamily="34" charset="-122"/>
                <a:cs typeface="Calibri" pitchFamily="34" charset="-120"/>
              </a:rPr>
              <a:t>🚌</a:t>
            </a:r>
            <a:endParaRPr lang="en-US" sz="3400" dirty="0"/>
          </a:p>
        </p:txBody>
      </p:sp>
      <p:sp>
        <p:nvSpPr>
          <p:cNvPr id="6" name="Text 4"/>
          <p:cNvSpPr txBox="1"/>
          <p:nvPr/>
        </p:nvSpPr>
        <p:spPr>
          <a:xfrm>
            <a:off x="822960" y="1554480"/>
            <a:ext cx="8229600" cy="365760"/>
          </a:xfrm>
          <a:prstGeom prst="rect">
            <a:avLst/>
          </a:prstGeom>
          <a:noFill/>
          <a:ln/>
        </p:spPr>
        <p:txBody>
          <a:bodyPr wrap="square" rtlCol="0" anchor="ctr"/>
          <a:lstStyle/>
          <a:p>
            <a:pPr indent="0" marL="0">
              <a:buNone/>
            </a:pPr>
            <a:r>
              <a:rPr lang="en-US" sz="1400" b="1" spc="200" kern="0" dirty="0">
                <a:solidFill>
                  <a:srgbClr val="F2A93B"/>
                </a:solidFill>
                <a:latin typeface="Calibri" pitchFamily="34" charset="0"/>
                <a:ea typeface="Calibri" pitchFamily="34" charset="-122"/>
                <a:cs typeface="Calibri" pitchFamily="34" charset="-120"/>
              </a:rPr>
              <a:t>DATABASE MANAGEMENT SYSTEM PROJECT</a:t>
            </a:r>
            <a:endParaRPr lang="en-US" sz="1400" dirty="0"/>
          </a:p>
        </p:txBody>
      </p:sp>
      <p:sp>
        <p:nvSpPr>
          <p:cNvPr id="7" name="Text 5"/>
          <p:cNvSpPr txBox="1"/>
          <p:nvPr/>
        </p:nvSpPr>
        <p:spPr>
          <a:xfrm>
            <a:off x="822960" y="1965960"/>
            <a:ext cx="9692640" cy="1828800"/>
          </a:xfrm>
          <a:prstGeom prst="rect">
            <a:avLst/>
          </a:prstGeom>
          <a:noFill/>
          <a:ln/>
        </p:spPr>
        <p:txBody>
          <a:bodyPr wrap="square"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School Transport Route &amp; Student Pickup Management System</a:t>
            </a:r>
            <a:endParaRPr lang="en-US" sz="3800" dirty="0"/>
          </a:p>
        </p:txBody>
      </p:sp>
      <p:sp>
        <p:nvSpPr>
          <p:cNvPr id="8" name="Text 6"/>
          <p:cNvSpPr txBox="1"/>
          <p:nvPr/>
        </p:nvSpPr>
        <p:spPr>
          <a:xfrm>
            <a:off x="822960" y="3703320"/>
            <a:ext cx="8961120" cy="548640"/>
          </a:xfrm>
          <a:prstGeom prst="rect">
            <a:avLst/>
          </a:prstGeom>
          <a:noFill/>
          <a:ln/>
        </p:spPr>
        <p:txBody>
          <a:bodyPr wrap="square"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Design and Implementation of a Database Management System</a:t>
            </a:r>
            <a:endParaRPr lang="en-US" sz="1800" dirty="0"/>
          </a:p>
        </p:txBody>
      </p:sp>
      <p:sp>
        <p:nvSpPr>
          <p:cNvPr id="9" name="Text 7"/>
          <p:cNvSpPr txBox="1"/>
          <p:nvPr/>
        </p:nvSpPr>
        <p:spPr>
          <a:xfrm>
            <a:off x="822960" y="5257800"/>
            <a:ext cx="5486400" cy="1097280"/>
          </a:xfrm>
          <a:prstGeom prst="rect">
            <a:avLst/>
          </a:prstGeom>
          <a:noFill/>
          <a:ln/>
        </p:spPr>
        <p:txBody>
          <a:bodyPr wrap="square" rtlCol="0" anchor="t"/>
          <a:lstStyle/>
          <a:p>
            <a:pPr indent="0" marL="0">
              <a:lnSpc>
                <a:spcPct val="115000"/>
              </a:lnSpc>
              <a:buNone/>
            </a:pPr>
            <a:r>
              <a:rPr lang="en-US" sz="1200" dirty="0">
                <a:solidFill>
                  <a:srgbClr val="CADCFC"/>
                </a:solidFill>
                <a:latin typeface="Calibri" pitchFamily="34" charset="0"/>
                <a:ea typeface="Calibri" pitchFamily="34" charset="-122"/>
                <a:cs typeface="Calibri" pitchFamily="34" charset="-120"/>
              </a:rPr>
              <a:t>Presented by
</a:t>
            </a:r>
            <a:endParaRPr lang="en-US" sz="1200" dirty="0"/>
          </a:p>
          <a:p>
            <a:pPr indent="0" marL="0">
              <a:lnSpc>
                <a:spcPct val="115000"/>
              </a:lnSpc>
              <a:buNone/>
            </a:pPr>
            <a:r>
              <a:rPr lang="en-US" sz="1800" b="1" dirty="0">
                <a:solidFill>
                  <a:srgbClr val="FFFFFF"/>
                </a:solidFill>
                <a:latin typeface="Calibri" pitchFamily="34" charset="0"/>
                <a:ea typeface="Calibri" pitchFamily="34" charset="-122"/>
                <a:cs typeface="Calibri" pitchFamily="34" charset="-120"/>
              </a:rPr>
              <a:t>Sardar Trilochan Singh
</a:t>
            </a:r>
            <a:endParaRPr lang="en-US" sz="1200" dirty="0"/>
          </a:p>
          <a:p>
            <a:pPr indent="0" marL="0">
              <a:lnSpc>
                <a:spcPct val="115000"/>
              </a:lnSpc>
              <a:buNone/>
            </a:pPr>
            <a:r>
              <a:rPr lang="en-US" sz="1300" dirty="0">
                <a:solidFill>
                  <a:srgbClr val="CADCFC"/>
                </a:solidFill>
                <a:latin typeface="Calibri" pitchFamily="34" charset="0"/>
                <a:ea typeface="Calibri" pitchFamily="34" charset="-122"/>
                <a:cs typeface="Calibri" pitchFamily="34" charset="-120"/>
              </a:rPr>
              <a:t>Roll No: 25WU0102246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WHAT IS THE PROJECT ABOUT?</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My Understanding of the Project</a:t>
            </a:r>
            <a:endParaRPr lang="en-US" sz="3000" dirty="0"/>
          </a:p>
        </p:txBody>
      </p:sp>
      <p:sp>
        <p:nvSpPr>
          <p:cNvPr id="4" name="Shape 2"/>
          <p:cNvSpPr/>
          <p:nvPr/>
        </p:nvSpPr>
        <p:spPr>
          <a:xfrm>
            <a:off x="548640" y="1417320"/>
            <a:ext cx="4160520" cy="4892040"/>
          </a:xfrm>
          <a:prstGeom prst="roundRect">
            <a:avLst>
              <a:gd name="adj" fmla="val 2637"/>
            </a:avLst>
          </a:prstGeom>
          <a:solidFill>
            <a:srgbClr val="1E2761"/>
          </a:solidFill>
          <a:ln/>
        </p:spPr>
      </p:sp>
      <p:sp>
        <p:nvSpPr>
          <p:cNvPr id="5" name="Shape 3"/>
          <p:cNvSpPr/>
          <p:nvPr/>
        </p:nvSpPr>
        <p:spPr>
          <a:xfrm>
            <a:off x="868680" y="1737360"/>
            <a:ext cx="548640" cy="548640"/>
          </a:xfrm>
          <a:prstGeom prst="ellipse">
            <a:avLst/>
          </a:prstGeom>
          <a:solidFill>
            <a:srgbClr val="F2A93B"/>
          </a:solidFill>
          <a:ln/>
        </p:spPr>
      </p:sp>
      <p:sp>
        <p:nvSpPr>
          <p:cNvPr id="6" name="Text 4"/>
          <p:cNvSpPr txBox="1"/>
          <p:nvPr/>
        </p:nvSpPr>
        <p:spPr>
          <a:xfrm>
            <a:off x="868680" y="1737360"/>
            <a:ext cx="548640" cy="54864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868680" y="2468880"/>
            <a:ext cx="3520440" cy="3657600"/>
          </a:xfrm>
          <a:prstGeom prst="rect">
            <a:avLst/>
          </a:prstGeom>
          <a:noFill/>
          <a:ln/>
        </p:spPr>
        <p:txBody>
          <a:bodyPr wrap="square" rtlCol="0" anchor="t"/>
          <a:lstStyle/>
          <a:p>
            <a:pPr indent="0" marL="0">
              <a:lnSpc>
                <a:spcPct val="125000"/>
              </a:lnSpc>
              <a:buNone/>
            </a:pPr>
            <a:r>
              <a:rPr lang="en-US" sz="1450" i="1" dirty="0">
                <a:solidFill>
                  <a:srgbClr val="FFFFFF"/>
                </a:solidFill>
                <a:latin typeface="Calibri" pitchFamily="34" charset="0"/>
                <a:ea typeface="Calibri" pitchFamily="34" charset="-122"/>
                <a:cs typeface="Calibri" pitchFamily="34" charset="-120"/>
              </a:rPr>
              <a:t>The system acts as a centralized database for school transportation. Instead of maintaining student transport details separately, the database connects students with their pickup points, routes and buses. It can also maintain information about drivers and pickup records.</a:t>
            </a:r>
            <a:endParaRPr lang="en-US" sz="1450" dirty="0"/>
          </a:p>
        </p:txBody>
      </p:sp>
      <p:sp>
        <p:nvSpPr>
          <p:cNvPr id="8" name="Shape 6"/>
          <p:cNvSpPr/>
          <p:nvPr/>
        </p:nvSpPr>
        <p:spPr>
          <a:xfrm>
            <a:off x="4983480" y="1417320"/>
            <a:ext cx="3291840" cy="1170432"/>
          </a:xfrm>
          <a:prstGeom prst="roundRect">
            <a:avLst>
              <a:gd name="adj" fmla="val 7031"/>
            </a:avLst>
          </a:prstGeom>
          <a:solidFill>
            <a:srgbClr val="F4F7FD"/>
          </a:solidFill>
          <a:ln/>
        </p:spPr>
      </p:sp>
      <p:sp>
        <p:nvSpPr>
          <p:cNvPr id="9" name="Shape 7"/>
          <p:cNvSpPr/>
          <p:nvPr/>
        </p:nvSpPr>
        <p:spPr>
          <a:xfrm>
            <a:off x="5148072" y="1719072"/>
            <a:ext cx="566928" cy="566928"/>
          </a:xfrm>
          <a:prstGeom prst="ellipse">
            <a:avLst/>
          </a:prstGeom>
          <a:solidFill>
            <a:srgbClr val="CADCFC"/>
          </a:solidFill>
          <a:ln/>
        </p:spPr>
      </p:sp>
      <p:sp>
        <p:nvSpPr>
          <p:cNvPr id="10" name="Text 8"/>
          <p:cNvSpPr txBox="1"/>
          <p:nvPr/>
        </p:nvSpPr>
        <p:spPr>
          <a:xfrm>
            <a:off x="5148072" y="1719072"/>
            <a:ext cx="566928" cy="566928"/>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1" name="Text 9"/>
          <p:cNvSpPr txBox="1"/>
          <p:nvPr/>
        </p:nvSpPr>
        <p:spPr>
          <a:xfrm>
            <a:off x="5852160" y="1417320"/>
            <a:ext cx="2286000" cy="1170432"/>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Students</a:t>
            </a:r>
            <a:endParaRPr lang="en-US" sz="1400" dirty="0"/>
          </a:p>
        </p:txBody>
      </p:sp>
      <p:sp>
        <p:nvSpPr>
          <p:cNvPr id="12" name="Shape 10"/>
          <p:cNvSpPr/>
          <p:nvPr/>
        </p:nvSpPr>
        <p:spPr>
          <a:xfrm>
            <a:off x="8503920" y="1417320"/>
            <a:ext cx="3291840" cy="1170432"/>
          </a:xfrm>
          <a:prstGeom prst="roundRect">
            <a:avLst>
              <a:gd name="adj" fmla="val 7031"/>
            </a:avLst>
          </a:prstGeom>
          <a:solidFill>
            <a:srgbClr val="F4F7FD"/>
          </a:solidFill>
          <a:ln/>
        </p:spPr>
      </p:sp>
      <p:sp>
        <p:nvSpPr>
          <p:cNvPr id="13" name="Shape 11"/>
          <p:cNvSpPr/>
          <p:nvPr/>
        </p:nvSpPr>
        <p:spPr>
          <a:xfrm>
            <a:off x="8668512" y="1719072"/>
            <a:ext cx="566928" cy="566928"/>
          </a:xfrm>
          <a:prstGeom prst="ellipse">
            <a:avLst/>
          </a:prstGeom>
          <a:solidFill>
            <a:srgbClr val="CADCFC"/>
          </a:solidFill>
          <a:ln/>
        </p:spPr>
      </p:sp>
      <p:sp>
        <p:nvSpPr>
          <p:cNvPr id="14" name="Text 12"/>
          <p:cNvSpPr txBox="1"/>
          <p:nvPr/>
        </p:nvSpPr>
        <p:spPr>
          <a:xfrm>
            <a:off x="8668512" y="1719072"/>
            <a:ext cx="566928" cy="566928"/>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5" name="Text 13"/>
          <p:cNvSpPr txBox="1"/>
          <p:nvPr/>
        </p:nvSpPr>
        <p:spPr>
          <a:xfrm>
            <a:off x="9372600" y="1417320"/>
            <a:ext cx="2286000" cy="1170432"/>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School Buses</a:t>
            </a:r>
            <a:endParaRPr lang="en-US" sz="1400" dirty="0"/>
          </a:p>
        </p:txBody>
      </p:sp>
      <p:sp>
        <p:nvSpPr>
          <p:cNvPr id="16" name="Shape 14"/>
          <p:cNvSpPr/>
          <p:nvPr/>
        </p:nvSpPr>
        <p:spPr>
          <a:xfrm>
            <a:off x="4983480" y="2788920"/>
            <a:ext cx="3291840" cy="1170432"/>
          </a:xfrm>
          <a:prstGeom prst="roundRect">
            <a:avLst>
              <a:gd name="adj" fmla="val 7031"/>
            </a:avLst>
          </a:prstGeom>
          <a:solidFill>
            <a:srgbClr val="F4F7FD"/>
          </a:solidFill>
          <a:ln/>
        </p:spPr>
      </p:sp>
      <p:sp>
        <p:nvSpPr>
          <p:cNvPr id="17" name="Shape 15"/>
          <p:cNvSpPr/>
          <p:nvPr/>
        </p:nvSpPr>
        <p:spPr>
          <a:xfrm>
            <a:off x="5148072" y="3090672"/>
            <a:ext cx="566928" cy="566928"/>
          </a:xfrm>
          <a:prstGeom prst="ellipse">
            <a:avLst/>
          </a:prstGeom>
          <a:solidFill>
            <a:srgbClr val="CADCFC"/>
          </a:solidFill>
          <a:ln/>
        </p:spPr>
      </p:sp>
      <p:sp>
        <p:nvSpPr>
          <p:cNvPr id="18" name="Text 16"/>
          <p:cNvSpPr txBox="1"/>
          <p:nvPr/>
        </p:nvSpPr>
        <p:spPr>
          <a:xfrm>
            <a:off x="5148072" y="3090672"/>
            <a:ext cx="566928" cy="566928"/>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9" name="Text 17"/>
          <p:cNvSpPr txBox="1"/>
          <p:nvPr/>
        </p:nvSpPr>
        <p:spPr>
          <a:xfrm>
            <a:off x="5852160" y="2788920"/>
            <a:ext cx="2286000" cy="1170432"/>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Drivers</a:t>
            </a:r>
            <a:endParaRPr lang="en-US" sz="1400" dirty="0"/>
          </a:p>
        </p:txBody>
      </p:sp>
      <p:sp>
        <p:nvSpPr>
          <p:cNvPr id="20" name="Shape 18"/>
          <p:cNvSpPr/>
          <p:nvPr/>
        </p:nvSpPr>
        <p:spPr>
          <a:xfrm>
            <a:off x="8503920" y="2788920"/>
            <a:ext cx="3291840" cy="1170432"/>
          </a:xfrm>
          <a:prstGeom prst="roundRect">
            <a:avLst>
              <a:gd name="adj" fmla="val 7031"/>
            </a:avLst>
          </a:prstGeom>
          <a:solidFill>
            <a:srgbClr val="F4F7FD"/>
          </a:solidFill>
          <a:ln/>
        </p:spPr>
      </p:sp>
      <p:sp>
        <p:nvSpPr>
          <p:cNvPr id="21" name="Shape 19"/>
          <p:cNvSpPr/>
          <p:nvPr/>
        </p:nvSpPr>
        <p:spPr>
          <a:xfrm>
            <a:off x="8668512" y="3090672"/>
            <a:ext cx="566928" cy="566928"/>
          </a:xfrm>
          <a:prstGeom prst="ellipse">
            <a:avLst/>
          </a:prstGeom>
          <a:solidFill>
            <a:srgbClr val="CADCFC"/>
          </a:solidFill>
          <a:ln/>
        </p:spPr>
      </p:sp>
      <p:sp>
        <p:nvSpPr>
          <p:cNvPr id="22" name="Text 20"/>
          <p:cNvSpPr txBox="1"/>
          <p:nvPr/>
        </p:nvSpPr>
        <p:spPr>
          <a:xfrm>
            <a:off x="8668512" y="3090672"/>
            <a:ext cx="566928" cy="566928"/>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3" name="Text 21"/>
          <p:cNvSpPr txBox="1"/>
          <p:nvPr/>
        </p:nvSpPr>
        <p:spPr>
          <a:xfrm>
            <a:off x="9372600" y="2788920"/>
            <a:ext cx="2286000" cy="1170432"/>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Transport Routes</a:t>
            </a:r>
            <a:endParaRPr lang="en-US" sz="1400" dirty="0"/>
          </a:p>
        </p:txBody>
      </p:sp>
      <p:sp>
        <p:nvSpPr>
          <p:cNvPr id="24" name="Shape 22"/>
          <p:cNvSpPr/>
          <p:nvPr/>
        </p:nvSpPr>
        <p:spPr>
          <a:xfrm>
            <a:off x="4983480" y="4160520"/>
            <a:ext cx="3291840" cy="1170432"/>
          </a:xfrm>
          <a:prstGeom prst="roundRect">
            <a:avLst>
              <a:gd name="adj" fmla="val 7031"/>
            </a:avLst>
          </a:prstGeom>
          <a:solidFill>
            <a:srgbClr val="F4F7FD"/>
          </a:solidFill>
          <a:ln/>
        </p:spPr>
      </p:sp>
      <p:sp>
        <p:nvSpPr>
          <p:cNvPr id="25" name="Shape 23"/>
          <p:cNvSpPr/>
          <p:nvPr/>
        </p:nvSpPr>
        <p:spPr>
          <a:xfrm>
            <a:off x="5148072" y="4462272"/>
            <a:ext cx="566928" cy="566928"/>
          </a:xfrm>
          <a:prstGeom prst="ellipse">
            <a:avLst/>
          </a:prstGeom>
          <a:solidFill>
            <a:srgbClr val="CADCFC"/>
          </a:solidFill>
          <a:ln/>
        </p:spPr>
      </p:sp>
      <p:sp>
        <p:nvSpPr>
          <p:cNvPr id="26" name="Text 24"/>
          <p:cNvSpPr txBox="1"/>
          <p:nvPr/>
        </p:nvSpPr>
        <p:spPr>
          <a:xfrm>
            <a:off x="5148072" y="4462272"/>
            <a:ext cx="566928" cy="566928"/>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7" name="Text 25"/>
          <p:cNvSpPr txBox="1"/>
          <p:nvPr/>
        </p:nvSpPr>
        <p:spPr>
          <a:xfrm>
            <a:off x="5852160" y="4160520"/>
            <a:ext cx="2286000" cy="1170432"/>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Pickup Points</a:t>
            </a:r>
            <a:endParaRPr lang="en-US" sz="1400" dirty="0"/>
          </a:p>
        </p:txBody>
      </p:sp>
      <p:sp>
        <p:nvSpPr>
          <p:cNvPr id="28" name="Shape 26"/>
          <p:cNvSpPr/>
          <p:nvPr/>
        </p:nvSpPr>
        <p:spPr>
          <a:xfrm>
            <a:off x="8503920" y="4160520"/>
            <a:ext cx="3291840" cy="1170432"/>
          </a:xfrm>
          <a:prstGeom prst="roundRect">
            <a:avLst>
              <a:gd name="adj" fmla="val 7031"/>
            </a:avLst>
          </a:prstGeom>
          <a:solidFill>
            <a:srgbClr val="F4F7FD"/>
          </a:solidFill>
          <a:ln/>
        </p:spPr>
      </p:sp>
      <p:sp>
        <p:nvSpPr>
          <p:cNvPr id="29" name="Shape 27"/>
          <p:cNvSpPr/>
          <p:nvPr/>
        </p:nvSpPr>
        <p:spPr>
          <a:xfrm>
            <a:off x="8668512" y="4462272"/>
            <a:ext cx="566928" cy="566928"/>
          </a:xfrm>
          <a:prstGeom prst="ellipse">
            <a:avLst/>
          </a:prstGeom>
          <a:solidFill>
            <a:srgbClr val="CADCFC"/>
          </a:solidFill>
          <a:ln/>
        </p:spPr>
      </p:sp>
      <p:sp>
        <p:nvSpPr>
          <p:cNvPr id="30" name="Text 28"/>
          <p:cNvSpPr txBox="1"/>
          <p:nvPr/>
        </p:nvSpPr>
        <p:spPr>
          <a:xfrm>
            <a:off x="8668512" y="4462272"/>
            <a:ext cx="566928" cy="566928"/>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1" name="Text 29"/>
          <p:cNvSpPr txBox="1"/>
          <p:nvPr/>
        </p:nvSpPr>
        <p:spPr>
          <a:xfrm>
            <a:off x="9372600" y="4160520"/>
            <a:ext cx="2286000" cy="1170432"/>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Student-to-Route Assignments</a:t>
            </a:r>
            <a:endParaRPr lang="en-US" sz="1400" dirty="0"/>
          </a:p>
        </p:txBody>
      </p:sp>
      <p:sp>
        <p:nvSpPr>
          <p:cNvPr id="32" name="Shape 30"/>
          <p:cNvSpPr/>
          <p:nvPr/>
        </p:nvSpPr>
        <p:spPr>
          <a:xfrm>
            <a:off x="4983480" y="5532120"/>
            <a:ext cx="3291840" cy="1170432"/>
          </a:xfrm>
          <a:prstGeom prst="roundRect">
            <a:avLst>
              <a:gd name="adj" fmla="val 7031"/>
            </a:avLst>
          </a:prstGeom>
          <a:solidFill>
            <a:srgbClr val="F4F7FD"/>
          </a:solidFill>
          <a:ln/>
        </p:spPr>
      </p:sp>
      <p:sp>
        <p:nvSpPr>
          <p:cNvPr id="33" name="Shape 31"/>
          <p:cNvSpPr/>
          <p:nvPr/>
        </p:nvSpPr>
        <p:spPr>
          <a:xfrm>
            <a:off x="5148072" y="5833872"/>
            <a:ext cx="566928" cy="566928"/>
          </a:xfrm>
          <a:prstGeom prst="ellipse">
            <a:avLst/>
          </a:prstGeom>
          <a:solidFill>
            <a:srgbClr val="CADCFC"/>
          </a:solidFill>
          <a:ln/>
        </p:spPr>
      </p:sp>
      <p:sp>
        <p:nvSpPr>
          <p:cNvPr id="34" name="Text 32"/>
          <p:cNvSpPr txBox="1"/>
          <p:nvPr/>
        </p:nvSpPr>
        <p:spPr>
          <a:xfrm>
            <a:off x="5148072" y="5833872"/>
            <a:ext cx="566928" cy="566928"/>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5" name="Text 33"/>
          <p:cNvSpPr txBox="1"/>
          <p:nvPr/>
        </p:nvSpPr>
        <p:spPr>
          <a:xfrm>
            <a:off x="5852160" y="5532120"/>
            <a:ext cx="2286000" cy="1170432"/>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Student Pickup Records</a:t>
            </a:r>
            <a:endParaRPr lang="en-US" sz="1400" dirty="0"/>
          </a:p>
        </p:txBody>
      </p:sp>
      <p:sp>
        <p:nvSpPr>
          <p:cNvPr id="36" name="Text 34"/>
          <p:cNvSpPr txBox="1"/>
          <p:nvPr/>
        </p:nvSpPr>
        <p:spPr>
          <a:xfrm>
            <a:off x="457200" y="6510528"/>
            <a:ext cx="7315200" cy="274320"/>
          </a:xfrm>
          <a:prstGeom prst="rect">
            <a:avLst/>
          </a:prstGeom>
          <a:noFill/>
          <a:ln/>
        </p:spPr>
        <p:txBody>
          <a:bodyPr wrap="square" rtlCol="0" anchor="ctr"/>
          <a:lstStyle/>
          <a:p>
            <a:pPr indent="0" marL="0">
              <a:buNone/>
            </a:pPr>
            <a:r>
              <a:rPr lang="en-US" sz="900" dirty="0">
                <a:solidFill>
                  <a:srgbClr val="5B6B8C"/>
                </a:solidFill>
                <a:latin typeface="Calibri" pitchFamily="34" charset="0"/>
                <a:ea typeface="Calibri" pitchFamily="34" charset="-122"/>
                <a:cs typeface="Calibri" pitchFamily="34" charset="-120"/>
              </a:rPr>
              <a:t>School Transport Route &amp; Student Pickup Management System</a:t>
            </a:r>
            <a:endParaRPr lang="en-US" sz="900" dirty="0"/>
          </a:p>
        </p:txBody>
      </p:sp>
      <p:sp>
        <p:nvSpPr>
          <p:cNvPr id="37" name="Text 35"/>
          <p:cNvSpPr txBox="1"/>
          <p:nvPr/>
        </p:nvSpPr>
        <p:spPr>
          <a:xfrm>
            <a:off x="11274552" y="6510528"/>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548640" y="1508760"/>
            <a:ext cx="6309360" cy="585216"/>
          </a:xfrm>
          <a:prstGeom prst="roundRect">
            <a:avLst>
              <a:gd name="adj" fmla="val 9375"/>
            </a:avLst>
          </a:prstGeom>
          <a:solidFill>
            <a:srgbClr val="F4F7FD"/>
          </a:solidFill>
          <a:ln/>
        </p:spPr>
      </p:sp>
      <p:sp>
        <p:nvSpPr>
          <p:cNvPr id="5" name="Shape 3"/>
          <p:cNvSpPr/>
          <p:nvPr/>
        </p:nvSpPr>
        <p:spPr>
          <a:xfrm>
            <a:off x="685800" y="1554480"/>
            <a:ext cx="420624" cy="420624"/>
          </a:xfrm>
          <a:prstGeom prst="ellipse">
            <a:avLst/>
          </a:prstGeom>
          <a:solidFill>
            <a:srgbClr val="F2A93B"/>
          </a:solidFill>
          <a:ln/>
        </p:spPr>
      </p:sp>
      <p:sp>
        <p:nvSpPr>
          <p:cNvPr id="6" name="Text 4"/>
          <p:cNvSpPr txBox="1"/>
          <p:nvPr/>
        </p:nvSpPr>
        <p:spPr>
          <a:xfrm>
            <a:off x="685800" y="1554480"/>
            <a:ext cx="420624" cy="420624"/>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1234440" y="1508760"/>
            <a:ext cx="5532120" cy="585216"/>
          </a:xfrm>
          <a:prstGeom prst="rect">
            <a:avLst/>
          </a:prstGeom>
          <a:noFill/>
          <a:ln/>
        </p:spPr>
        <p:txBody>
          <a:bodyPr wrap="square" rtlCol="0" anchor="ctr"/>
          <a:lstStyle/>
          <a:p>
            <a:pPr indent="0" marL="0">
              <a:buNone/>
            </a:pPr>
            <a:r>
              <a:rPr lang="en-US" sz="1300" dirty="0">
                <a:solidFill>
                  <a:srgbClr val="20232B"/>
                </a:solidFill>
                <a:latin typeface="Calibri" pitchFamily="34" charset="0"/>
                <a:ea typeface="Calibri" pitchFamily="34" charset="-122"/>
                <a:cs typeface="Calibri" pitchFamily="34" charset="-120"/>
              </a:rPr>
              <a:t>Difficulty maintaining student transport records</a:t>
            </a:r>
            <a:endParaRPr lang="en-US" sz="1300" dirty="0"/>
          </a:p>
        </p:txBody>
      </p:sp>
      <p:sp>
        <p:nvSpPr>
          <p:cNvPr id="8" name="Shape 6"/>
          <p:cNvSpPr/>
          <p:nvPr/>
        </p:nvSpPr>
        <p:spPr>
          <a:xfrm>
            <a:off x="548640" y="2221992"/>
            <a:ext cx="6309360" cy="585216"/>
          </a:xfrm>
          <a:prstGeom prst="roundRect">
            <a:avLst>
              <a:gd name="adj" fmla="val 9375"/>
            </a:avLst>
          </a:prstGeom>
          <a:solidFill>
            <a:srgbClr val="F4F7FD"/>
          </a:solidFill>
          <a:ln/>
        </p:spPr>
      </p:sp>
      <p:sp>
        <p:nvSpPr>
          <p:cNvPr id="9" name="Shape 7"/>
          <p:cNvSpPr/>
          <p:nvPr/>
        </p:nvSpPr>
        <p:spPr>
          <a:xfrm>
            <a:off x="685800" y="2267712"/>
            <a:ext cx="420624" cy="420624"/>
          </a:xfrm>
          <a:prstGeom prst="ellipse">
            <a:avLst/>
          </a:prstGeom>
          <a:solidFill>
            <a:srgbClr val="F2A93B"/>
          </a:solidFill>
          <a:ln/>
        </p:spPr>
      </p:sp>
      <p:sp>
        <p:nvSpPr>
          <p:cNvPr id="10" name="Text 8"/>
          <p:cNvSpPr txBox="1"/>
          <p:nvPr/>
        </p:nvSpPr>
        <p:spPr>
          <a:xfrm>
            <a:off x="685800" y="2267712"/>
            <a:ext cx="420624" cy="420624"/>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1234440" y="2221992"/>
            <a:ext cx="5532120" cy="585216"/>
          </a:xfrm>
          <a:prstGeom prst="rect">
            <a:avLst/>
          </a:prstGeom>
          <a:noFill/>
          <a:ln/>
        </p:spPr>
        <p:txBody>
          <a:bodyPr wrap="square" rtlCol="0" anchor="ctr"/>
          <a:lstStyle/>
          <a:p>
            <a:pPr indent="0" marL="0">
              <a:buNone/>
            </a:pPr>
            <a:r>
              <a:rPr lang="en-US" sz="1300" dirty="0">
                <a:solidFill>
                  <a:srgbClr val="20232B"/>
                </a:solidFill>
                <a:latin typeface="Calibri" pitchFamily="34" charset="0"/>
                <a:ea typeface="Calibri" pitchFamily="34" charset="-122"/>
                <a:cs typeface="Calibri" pitchFamily="34" charset="-120"/>
              </a:rPr>
              <a:t>Duplicate or inconsistent information</a:t>
            </a:r>
            <a:endParaRPr lang="en-US" sz="1300" dirty="0"/>
          </a:p>
        </p:txBody>
      </p:sp>
      <p:sp>
        <p:nvSpPr>
          <p:cNvPr id="12" name="Shape 10"/>
          <p:cNvSpPr/>
          <p:nvPr/>
        </p:nvSpPr>
        <p:spPr>
          <a:xfrm>
            <a:off x="548640" y="2935224"/>
            <a:ext cx="6309360" cy="585216"/>
          </a:xfrm>
          <a:prstGeom prst="roundRect">
            <a:avLst>
              <a:gd name="adj" fmla="val 9375"/>
            </a:avLst>
          </a:prstGeom>
          <a:solidFill>
            <a:srgbClr val="F4F7FD"/>
          </a:solidFill>
          <a:ln/>
        </p:spPr>
      </p:sp>
      <p:sp>
        <p:nvSpPr>
          <p:cNvPr id="13" name="Shape 11"/>
          <p:cNvSpPr/>
          <p:nvPr/>
        </p:nvSpPr>
        <p:spPr>
          <a:xfrm>
            <a:off x="685800" y="2980944"/>
            <a:ext cx="420624" cy="420624"/>
          </a:xfrm>
          <a:prstGeom prst="ellipse">
            <a:avLst/>
          </a:prstGeom>
          <a:solidFill>
            <a:srgbClr val="F2A93B"/>
          </a:solidFill>
          <a:ln/>
        </p:spPr>
      </p:sp>
      <p:sp>
        <p:nvSpPr>
          <p:cNvPr id="14" name="Text 12"/>
          <p:cNvSpPr txBox="1"/>
          <p:nvPr/>
        </p:nvSpPr>
        <p:spPr>
          <a:xfrm>
            <a:off x="685800" y="2980944"/>
            <a:ext cx="420624" cy="420624"/>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5" name="Text 13"/>
          <p:cNvSpPr txBox="1"/>
          <p:nvPr/>
        </p:nvSpPr>
        <p:spPr>
          <a:xfrm>
            <a:off x="1234440" y="2935224"/>
            <a:ext cx="5532120" cy="585216"/>
          </a:xfrm>
          <a:prstGeom prst="rect">
            <a:avLst/>
          </a:prstGeom>
          <a:noFill/>
          <a:ln/>
        </p:spPr>
        <p:txBody>
          <a:bodyPr wrap="square" rtlCol="0" anchor="ctr"/>
          <a:lstStyle/>
          <a:p>
            <a:pPr indent="0" marL="0">
              <a:buNone/>
            </a:pPr>
            <a:r>
              <a:rPr lang="en-US" sz="1300" dirty="0">
                <a:solidFill>
                  <a:srgbClr val="20232B"/>
                </a:solidFill>
                <a:latin typeface="Calibri" pitchFamily="34" charset="0"/>
                <a:ea typeface="Calibri" pitchFamily="34" charset="-122"/>
                <a:cs typeface="Calibri" pitchFamily="34" charset="-120"/>
              </a:rPr>
              <a:t>Difficulty tracking which student belongs to which route</a:t>
            </a:r>
            <a:endParaRPr lang="en-US" sz="1300" dirty="0"/>
          </a:p>
        </p:txBody>
      </p:sp>
      <p:sp>
        <p:nvSpPr>
          <p:cNvPr id="16" name="Shape 14"/>
          <p:cNvSpPr/>
          <p:nvPr/>
        </p:nvSpPr>
        <p:spPr>
          <a:xfrm>
            <a:off x="548640" y="3648456"/>
            <a:ext cx="6309360" cy="585216"/>
          </a:xfrm>
          <a:prstGeom prst="roundRect">
            <a:avLst>
              <a:gd name="adj" fmla="val 9375"/>
            </a:avLst>
          </a:prstGeom>
          <a:solidFill>
            <a:srgbClr val="F4F7FD"/>
          </a:solidFill>
          <a:ln/>
        </p:spPr>
      </p:sp>
      <p:sp>
        <p:nvSpPr>
          <p:cNvPr id="17" name="Shape 15"/>
          <p:cNvSpPr/>
          <p:nvPr/>
        </p:nvSpPr>
        <p:spPr>
          <a:xfrm>
            <a:off x="685800" y="3694176"/>
            <a:ext cx="420624" cy="420624"/>
          </a:xfrm>
          <a:prstGeom prst="ellipse">
            <a:avLst/>
          </a:prstGeom>
          <a:solidFill>
            <a:srgbClr val="F2A93B"/>
          </a:solidFill>
          <a:ln/>
        </p:spPr>
      </p:sp>
      <p:sp>
        <p:nvSpPr>
          <p:cNvPr id="18" name="Text 16"/>
          <p:cNvSpPr txBox="1"/>
          <p:nvPr/>
        </p:nvSpPr>
        <p:spPr>
          <a:xfrm>
            <a:off x="685800" y="3694176"/>
            <a:ext cx="420624" cy="420624"/>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9" name="Text 17"/>
          <p:cNvSpPr txBox="1"/>
          <p:nvPr/>
        </p:nvSpPr>
        <p:spPr>
          <a:xfrm>
            <a:off x="1234440" y="3648456"/>
            <a:ext cx="5532120" cy="585216"/>
          </a:xfrm>
          <a:prstGeom prst="rect">
            <a:avLst/>
          </a:prstGeom>
          <a:noFill/>
          <a:ln/>
        </p:spPr>
        <p:txBody>
          <a:bodyPr wrap="square" rtlCol="0" anchor="ctr"/>
          <a:lstStyle/>
          <a:p>
            <a:pPr indent="0" marL="0">
              <a:buNone/>
            </a:pPr>
            <a:r>
              <a:rPr lang="en-US" sz="1300" dirty="0">
                <a:solidFill>
                  <a:srgbClr val="20232B"/>
                </a:solidFill>
                <a:latin typeface="Calibri" pitchFamily="34" charset="0"/>
                <a:ea typeface="Calibri" pitchFamily="34" charset="-122"/>
                <a:cs typeface="Calibri" pitchFamily="34" charset="-120"/>
              </a:rPr>
              <a:t>Difficulty managing pickup points</a:t>
            </a:r>
            <a:endParaRPr lang="en-US" sz="1300" dirty="0"/>
          </a:p>
        </p:txBody>
      </p:sp>
      <p:sp>
        <p:nvSpPr>
          <p:cNvPr id="20" name="Shape 18"/>
          <p:cNvSpPr/>
          <p:nvPr/>
        </p:nvSpPr>
        <p:spPr>
          <a:xfrm>
            <a:off x="548640" y="4361688"/>
            <a:ext cx="6309360" cy="585216"/>
          </a:xfrm>
          <a:prstGeom prst="roundRect">
            <a:avLst>
              <a:gd name="adj" fmla="val 9375"/>
            </a:avLst>
          </a:prstGeom>
          <a:solidFill>
            <a:srgbClr val="F4F7FD"/>
          </a:solidFill>
          <a:ln/>
        </p:spPr>
      </p:sp>
      <p:sp>
        <p:nvSpPr>
          <p:cNvPr id="21" name="Shape 19"/>
          <p:cNvSpPr/>
          <p:nvPr/>
        </p:nvSpPr>
        <p:spPr>
          <a:xfrm>
            <a:off x="685800" y="4407408"/>
            <a:ext cx="420624" cy="420624"/>
          </a:xfrm>
          <a:prstGeom prst="ellipse">
            <a:avLst/>
          </a:prstGeom>
          <a:solidFill>
            <a:srgbClr val="F2A93B"/>
          </a:solidFill>
          <a:ln/>
        </p:spPr>
      </p:sp>
      <p:sp>
        <p:nvSpPr>
          <p:cNvPr id="22" name="Text 20"/>
          <p:cNvSpPr txBox="1"/>
          <p:nvPr/>
        </p:nvSpPr>
        <p:spPr>
          <a:xfrm>
            <a:off x="685800" y="4407408"/>
            <a:ext cx="420624" cy="420624"/>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3" name="Text 21"/>
          <p:cNvSpPr txBox="1"/>
          <p:nvPr/>
        </p:nvSpPr>
        <p:spPr>
          <a:xfrm>
            <a:off x="1234440" y="4361688"/>
            <a:ext cx="5532120" cy="585216"/>
          </a:xfrm>
          <a:prstGeom prst="rect">
            <a:avLst/>
          </a:prstGeom>
          <a:noFill/>
          <a:ln/>
        </p:spPr>
        <p:txBody>
          <a:bodyPr wrap="square" rtlCol="0" anchor="ctr"/>
          <a:lstStyle/>
          <a:p>
            <a:pPr indent="0" marL="0">
              <a:buNone/>
            </a:pPr>
            <a:r>
              <a:rPr lang="en-US" sz="1300" dirty="0">
                <a:solidFill>
                  <a:srgbClr val="20232B"/>
                </a:solidFill>
                <a:latin typeface="Calibri" pitchFamily="34" charset="0"/>
                <a:ea typeface="Calibri" pitchFamily="34" charset="-122"/>
                <a:cs typeface="Calibri" pitchFamily="34" charset="-120"/>
              </a:rPr>
              <a:t>Difficulty knowing which bus and driver are assigned to a route</a:t>
            </a:r>
            <a:endParaRPr lang="en-US" sz="1300" dirty="0"/>
          </a:p>
        </p:txBody>
      </p:sp>
      <p:sp>
        <p:nvSpPr>
          <p:cNvPr id="24" name="Shape 22"/>
          <p:cNvSpPr/>
          <p:nvPr/>
        </p:nvSpPr>
        <p:spPr>
          <a:xfrm>
            <a:off x="548640" y="5074920"/>
            <a:ext cx="6309360" cy="585216"/>
          </a:xfrm>
          <a:prstGeom prst="roundRect">
            <a:avLst>
              <a:gd name="adj" fmla="val 9375"/>
            </a:avLst>
          </a:prstGeom>
          <a:solidFill>
            <a:srgbClr val="F4F7FD"/>
          </a:solidFill>
          <a:ln/>
        </p:spPr>
      </p:sp>
      <p:sp>
        <p:nvSpPr>
          <p:cNvPr id="25" name="Shape 23"/>
          <p:cNvSpPr/>
          <p:nvPr/>
        </p:nvSpPr>
        <p:spPr>
          <a:xfrm>
            <a:off x="685800" y="5120640"/>
            <a:ext cx="420624" cy="420624"/>
          </a:xfrm>
          <a:prstGeom prst="ellipse">
            <a:avLst/>
          </a:prstGeom>
          <a:solidFill>
            <a:srgbClr val="F2A93B"/>
          </a:solidFill>
          <a:ln/>
        </p:spPr>
      </p:sp>
      <p:sp>
        <p:nvSpPr>
          <p:cNvPr id="26" name="Text 24"/>
          <p:cNvSpPr txBox="1"/>
          <p:nvPr/>
        </p:nvSpPr>
        <p:spPr>
          <a:xfrm>
            <a:off x="685800" y="5120640"/>
            <a:ext cx="420624" cy="420624"/>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7" name="Text 25"/>
          <p:cNvSpPr txBox="1"/>
          <p:nvPr/>
        </p:nvSpPr>
        <p:spPr>
          <a:xfrm>
            <a:off x="1234440" y="5074920"/>
            <a:ext cx="5532120" cy="585216"/>
          </a:xfrm>
          <a:prstGeom prst="rect">
            <a:avLst/>
          </a:prstGeom>
          <a:noFill/>
          <a:ln/>
        </p:spPr>
        <p:txBody>
          <a:bodyPr wrap="square" rtlCol="0" anchor="ctr"/>
          <a:lstStyle/>
          <a:p>
            <a:pPr indent="0" marL="0">
              <a:buNone/>
            </a:pPr>
            <a:r>
              <a:rPr lang="en-US" sz="1300" dirty="0">
                <a:solidFill>
                  <a:srgbClr val="20232B"/>
                </a:solidFill>
                <a:latin typeface="Calibri" pitchFamily="34" charset="0"/>
                <a:ea typeface="Calibri" pitchFamily="34" charset="-122"/>
                <a:cs typeface="Calibri" pitchFamily="34" charset="-120"/>
              </a:rPr>
              <a:t>Difficulty retrieving transport information quickly</a:t>
            </a:r>
            <a:endParaRPr lang="en-US" sz="1300" dirty="0"/>
          </a:p>
        </p:txBody>
      </p:sp>
      <p:sp>
        <p:nvSpPr>
          <p:cNvPr id="28" name="Shape 26"/>
          <p:cNvSpPr/>
          <p:nvPr/>
        </p:nvSpPr>
        <p:spPr>
          <a:xfrm>
            <a:off x="7178040" y="1508760"/>
            <a:ext cx="4434840" cy="4663440"/>
          </a:xfrm>
          <a:prstGeom prst="roundRect">
            <a:avLst>
              <a:gd name="adj" fmla="val 2474"/>
            </a:avLst>
          </a:prstGeom>
          <a:solidFill>
            <a:srgbClr val="1E2761"/>
          </a:solidFill>
          <a:ln/>
        </p:spPr>
      </p:sp>
      <p:sp>
        <p:nvSpPr>
          <p:cNvPr id="29" name="Shape 27"/>
          <p:cNvSpPr/>
          <p:nvPr/>
        </p:nvSpPr>
        <p:spPr>
          <a:xfrm>
            <a:off x="7498080" y="1828800"/>
            <a:ext cx="548640" cy="548640"/>
          </a:xfrm>
          <a:prstGeom prst="ellipse">
            <a:avLst/>
          </a:prstGeom>
          <a:solidFill>
            <a:srgbClr val="F2A93B"/>
          </a:solidFill>
          <a:ln/>
        </p:spPr>
      </p:sp>
      <p:sp>
        <p:nvSpPr>
          <p:cNvPr id="30" name="Text 28"/>
          <p:cNvSpPr txBox="1"/>
          <p:nvPr/>
        </p:nvSpPr>
        <p:spPr>
          <a:xfrm>
            <a:off x="7498080" y="1828800"/>
            <a:ext cx="548640" cy="54864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31" name="Text 29"/>
          <p:cNvSpPr txBox="1"/>
          <p:nvPr/>
        </p:nvSpPr>
        <p:spPr>
          <a:xfrm>
            <a:off x="7498080" y="2560320"/>
            <a:ext cx="3794760" cy="3383280"/>
          </a:xfrm>
          <a:prstGeom prst="rect">
            <a:avLst/>
          </a:prstGeom>
          <a:noFill/>
          <a:ln/>
        </p:spPr>
        <p:txBody>
          <a:bodyPr wrap="square" rtlCol="0" anchor="t"/>
          <a:lstStyle/>
          <a:p>
            <a:pPr indent="0" marL="0">
              <a:lnSpc>
                <a:spcPct val="125000"/>
              </a:lnSpc>
              <a:buNone/>
            </a:pPr>
            <a:r>
              <a:rPr lang="en-US" sz="1400" i="1" dirty="0">
                <a:solidFill>
                  <a:srgbClr val="FFFFFF"/>
                </a:solidFill>
                <a:latin typeface="Calibri" pitchFamily="34" charset="0"/>
                <a:ea typeface="Calibri" pitchFamily="34" charset="-122"/>
                <a:cs typeface="Calibri" pitchFamily="34" charset="-120"/>
              </a:rPr>
              <a:t>The main problem I am trying to address is the difficulty of managing interconnected transportation information. A student's transport details are not isolated — they are connected to a pickup point, route and bus. A database can represent these relationships systematically.</a:t>
            </a:r>
            <a:endParaRPr lang="en-US" sz="1400" dirty="0"/>
          </a:p>
        </p:txBody>
      </p:sp>
      <p:sp>
        <p:nvSpPr>
          <p:cNvPr id="32" name="Text 30"/>
          <p:cNvSpPr txBox="1"/>
          <p:nvPr/>
        </p:nvSpPr>
        <p:spPr>
          <a:xfrm>
            <a:off x="457200" y="6510528"/>
            <a:ext cx="7315200" cy="274320"/>
          </a:xfrm>
          <a:prstGeom prst="rect">
            <a:avLst/>
          </a:prstGeom>
          <a:noFill/>
          <a:ln/>
        </p:spPr>
        <p:txBody>
          <a:bodyPr wrap="square" rtlCol="0" anchor="ctr"/>
          <a:lstStyle/>
          <a:p>
            <a:pPr indent="0" marL="0">
              <a:buNone/>
            </a:pPr>
            <a:r>
              <a:rPr lang="en-US" sz="900" dirty="0">
                <a:solidFill>
                  <a:srgbClr val="5B6B8C"/>
                </a:solidFill>
                <a:latin typeface="Calibri" pitchFamily="34" charset="0"/>
                <a:ea typeface="Calibri" pitchFamily="34" charset="-122"/>
                <a:cs typeface="Calibri" pitchFamily="34" charset="-120"/>
              </a:rPr>
              <a:t>School Transport Route &amp; Student Pickup Management System</a:t>
            </a:r>
            <a:endParaRPr lang="en-US" sz="900" dirty="0"/>
          </a:p>
        </p:txBody>
      </p:sp>
      <p:sp>
        <p:nvSpPr>
          <p:cNvPr id="33" name="Text 31"/>
          <p:cNvSpPr txBox="1"/>
          <p:nvPr/>
        </p:nvSpPr>
        <p:spPr>
          <a:xfrm>
            <a:off x="11274552" y="6510528"/>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OBJECTIVES</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548640" y="1508760"/>
            <a:ext cx="457200" cy="457200"/>
          </a:xfrm>
          <a:prstGeom prst="ellipse">
            <a:avLst/>
          </a:prstGeom>
          <a:solidFill>
            <a:srgbClr val="1E2761"/>
          </a:solidFill>
          <a:ln/>
        </p:spPr>
      </p:sp>
      <p:sp>
        <p:nvSpPr>
          <p:cNvPr id="5" name="Text 3"/>
          <p:cNvSpPr txBox="1"/>
          <p:nvPr/>
        </p:nvSpPr>
        <p:spPr>
          <a:xfrm>
            <a:off x="548640" y="1508760"/>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170432" y="1453896"/>
            <a:ext cx="4727448" cy="777240"/>
          </a:xfrm>
          <a:prstGeom prst="rect">
            <a:avLst/>
          </a:prstGeom>
          <a:noFill/>
          <a:ln/>
        </p:spPr>
        <p:txBody>
          <a:bodyPr wrap="square" rtlCol="0" anchor="ctr"/>
          <a:lstStyle/>
          <a:p>
            <a:pPr indent="0" marL="0">
              <a:lnSpc>
                <a:spcPct val="110000"/>
              </a:lnSpc>
              <a:buNone/>
            </a:pPr>
            <a:r>
              <a:rPr lang="en-US" sz="1350" dirty="0">
                <a:solidFill>
                  <a:srgbClr val="20232B"/>
                </a:solidFill>
                <a:latin typeface="Calibri" pitchFamily="34" charset="0"/>
                <a:ea typeface="Calibri" pitchFamily="34" charset="-122"/>
                <a:cs typeface="Calibri" pitchFamily="34" charset="-120"/>
              </a:rPr>
              <a:t>Create a centralized database for school transportation.</a:t>
            </a:r>
            <a:endParaRPr lang="en-US" sz="1350" dirty="0"/>
          </a:p>
        </p:txBody>
      </p:sp>
      <p:sp>
        <p:nvSpPr>
          <p:cNvPr id="7" name="Shape 5"/>
          <p:cNvSpPr/>
          <p:nvPr/>
        </p:nvSpPr>
        <p:spPr>
          <a:xfrm>
            <a:off x="548640" y="2441448"/>
            <a:ext cx="457200" cy="457200"/>
          </a:xfrm>
          <a:prstGeom prst="ellipse">
            <a:avLst/>
          </a:prstGeom>
          <a:solidFill>
            <a:srgbClr val="1E2761"/>
          </a:solidFill>
          <a:ln/>
        </p:spPr>
      </p:sp>
      <p:sp>
        <p:nvSpPr>
          <p:cNvPr id="8" name="Text 6"/>
          <p:cNvSpPr txBox="1"/>
          <p:nvPr/>
        </p:nvSpPr>
        <p:spPr>
          <a:xfrm>
            <a:off x="548640" y="2441448"/>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170432" y="2386584"/>
            <a:ext cx="4727448" cy="777240"/>
          </a:xfrm>
          <a:prstGeom prst="rect">
            <a:avLst/>
          </a:prstGeom>
          <a:noFill/>
          <a:ln/>
        </p:spPr>
        <p:txBody>
          <a:bodyPr wrap="square" rtlCol="0" anchor="ctr"/>
          <a:lstStyle/>
          <a:p>
            <a:pPr indent="0" marL="0">
              <a:lnSpc>
                <a:spcPct val="110000"/>
              </a:lnSpc>
              <a:buNone/>
            </a:pPr>
            <a:r>
              <a:rPr lang="en-US" sz="1350" dirty="0">
                <a:solidFill>
                  <a:srgbClr val="20232B"/>
                </a:solidFill>
                <a:latin typeface="Calibri" pitchFamily="34" charset="0"/>
                <a:ea typeface="Calibri" pitchFamily="34" charset="-122"/>
                <a:cs typeface="Calibri" pitchFamily="34" charset="-120"/>
              </a:rPr>
              <a:t>Store and organize student transport information.</a:t>
            </a:r>
            <a:endParaRPr lang="en-US" sz="1350" dirty="0"/>
          </a:p>
        </p:txBody>
      </p:sp>
      <p:sp>
        <p:nvSpPr>
          <p:cNvPr id="10" name="Shape 8"/>
          <p:cNvSpPr/>
          <p:nvPr/>
        </p:nvSpPr>
        <p:spPr>
          <a:xfrm>
            <a:off x="548640" y="3374136"/>
            <a:ext cx="457200" cy="457200"/>
          </a:xfrm>
          <a:prstGeom prst="ellipse">
            <a:avLst/>
          </a:prstGeom>
          <a:solidFill>
            <a:srgbClr val="1E2761"/>
          </a:solidFill>
          <a:ln/>
        </p:spPr>
      </p:sp>
      <p:sp>
        <p:nvSpPr>
          <p:cNvPr id="11" name="Text 9"/>
          <p:cNvSpPr txBox="1"/>
          <p:nvPr/>
        </p:nvSpPr>
        <p:spPr>
          <a:xfrm>
            <a:off x="548640" y="3374136"/>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3</a:t>
            </a:r>
            <a:endParaRPr lang="en-US" sz="1800" dirty="0"/>
          </a:p>
        </p:txBody>
      </p:sp>
      <p:sp>
        <p:nvSpPr>
          <p:cNvPr id="12" name="Text 10"/>
          <p:cNvSpPr txBox="1"/>
          <p:nvPr/>
        </p:nvSpPr>
        <p:spPr>
          <a:xfrm>
            <a:off x="1170432" y="3319272"/>
            <a:ext cx="4727448" cy="777240"/>
          </a:xfrm>
          <a:prstGeom prst="rect">
            <a:avLst/>
          </a:prstGeom>
          <a:noFill/>
          <a:ln/>
        </p:spPr>
        <p:txBody>
          <a:bodyPr wrap="square" rtlCol="0" anchor="ctr"/>
          <a:lstStyle/>
          <a:p>
            <a:pPr indent="0" marL="0">
              <a:lnSpc>
                <a:spcPct val="110000"/>
              </a:lnSpc>
              <a:buNone/>
            </a:pPr>
            <a:r>
              <a:rPr lang="en-US" sz="1350" dirty="0">
                <a:solidFill>
                  <a:srgbClr val="20232B"/>
                </a:solidFill>
                <a:latin typeface="Calibri" pitchFamily="34" charset="0"/>
                <a:ea typeface="Calibri" pitchFamily="34" charset="-122"/>
                <a:cs typeface="Calibri" pitchFamily="34" charset="-120"/>
              </a:rPr>
              <a:t>Manage buses and driver details.</a:t>
            </a:r>
            <a:endParaRPr lang="en-US" sz="1350" dirty="0"/>
          </a:p>
        </p:txBody>
      </p:sp>
      <p:sp>
        <p:nvSpPr>
          <p:cNvPr id="13" name="Shape 11"/>
          <p:cNvSpPr/>
          <p:nvPr/>
        </p:nvSpPr>
        <p:spPr>
          <a:xfrm>
            <a:off x="548640" y="4306824"/>
            <a:ext cx="457200" cy="457200"/>
          </a:xfrm>
          <a:prstGeom prst="ellipse">
            <a:avLst/>
          </a:prstGeom>
          <a:solidFill>
            <a:srgbClr val="1E2761"/>
          </a:solidFill>
          <a:ln/>
        </p:spPr>
      </p:sp>
      <p:sp>
        <p:nvSpPr>
          <p:cNvPr id="14" name="Text 12"/>
          <p:cNvSpPr txBox="1"/>
          <p:nvPr/>
        </p:nvSpPr>
        <p:spPr>
          <a:xfrm>
            <a:off x="548640" y="4306824"/>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4</a:t>
            </a:r>
            <a:endParaRPr lang="en-US" sz="1800" dirty="0"/>
          </a:p>
        </p:txBody>
      </p:sp>
      <p:sp>
        <p:nvSpPr>
          <p:cNvPr id="15" name="Text 13"/>
          <p:cNvSpPr txBox="1"/>
          <p:nvPr/>
        </p:nvSpPr>
        <p:spPr>
          <a:xfrm>
            <a:off x="1170432" y="4251960"/>
            <a:ext cx="4727448" cy="777240"/>
          </a:xfrm>
          <a:prstGeom prst="rect">
            <a:avLst/>
          </a:prstGeom>
          <a:noFill/>
          <a:ln/>
        </p:spPr>
        <p:txBody>
          <a:bodyPr wrap="square" rtlCol="0" anchor="ctr"/>
          <a:lstStyle/>
          <a:p>
            <a:pPr indent="0" marL="0">
              <a:lnSpc>
                <a:spcPct val="110000"/>
              </a:lnSpc>
              <a:buNone/>
            </a:pPr>
            <a:r>
              <a:rPr lang="en-US" sz="1350" dirty="0">
                <a:solidFill>
                  <a:srgbClr val="20232B"/>
                </a:solidFill>
                <a:latin typeface="Calibri" pitchFamily="34" charset="0"/>
                <a:ea typeface="Calibri" pitchFamily="34" charset="-122"/>
                <a:cs typeface="Calibri" pitchFamily="34" charset="-120"/>
              </a:rPr>
              <a:t>Maintain school routes and pickup points.</a:t>
            </a:r>
            <a:endParaRPr lang="en-US" sz="1350" dirty="0"/>
          </a:p>
        </p:txBody>
      </p:sp>
      <p:sp>
        <p:nvSpPr>
          <p:cNvPr id="16" name="Shape 14"/>
          <p:cNvSpPr/>
          <p:nvPr/>
        </p:nvSpPr>
        <p:spPr>
          <a:xfrm>
            <a:off x="6355080" y="1508760"/>
            <a:ext cx="457200" cy="457200"/>
          </a:xfrm>
          <a:prstGeom prst="ellipse">
            <a:avLst/>
          </a:prstGeom>
          <a:solidFill>
            <a:srgbClr val="F2A93B"/>
          </a:solidFill>
          <a:ln/>
        </p:spPr>
      </p:sp>
      <p:sp>
        <p:nvSpPr>
          <p:cNvPr id="17" name="Text 15"/>
          <p:cNvSpPr txBox="1"/>
          <p:nvPr/>
        </p:nvSpPr>
        <p:spPr>
          <a:xfrm>
            <a:off x="6355080" y="1508760"/>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5</a:t>
            </a:r>
            <a:endParaRPr lang="en-US" sz="1800" dirty="0"/>
          </a:p>
        </p:txBody>
      </p:sp>
      <p:sp>
        <p:nvSpPr>
          <p:cNvPr id="18" name="Text 16"/>
          <p:cNvSpPr txBox="1"/>
          <p:nvPr/>
        </p:nvSpPr>
        <p:spPr>
          <a:xfrm>
            <a:off x="6976872" y="1453896"/>
            <a:ext cx="4727448" cy="777240"/>
          </a:xfrm>
          <a:prstGeom prst="rect">
            <a:avLst/>
          </a:prstGeom>
          <a:noFill/>
          <a:ln/>
        </p:spPr>
        <p:txBody>
          <a:bodyPr wrap="square" rtlCol="0" anchor="ctr"/>
          <a:lstStyle/>
          <a:p>
            <a:pPr indent="0" marL="0">
              <a:lnSpc>
                <a:spcPct val="110000"/>
              </a:lnSpc>
              <a:buNone/>
            </a:pPr>
            <a:r>
              <a:rPr lang="en-US" sz="1350" dirty="0">
                <a:solidFill>
                  <a:srgbClr val="20232B"/>
                </a:solidFill>
                <a:latin typeface="Calibri" pitchFamily="34" charset="0"/>
                <a:ea typeface="Calibri" pitchFamily="34" charset="-122"/>
                <a:cs typeface="Calibri" pitchFamily="34" charset="-120"/>
              </a:rPr>
              <a:t>Associate students with their respective routes and pickup locations.</a:t>
            </a:r>
            <a:endParaRPr lang="en-US" sz="1350" dirty="0"/>
          </a:p>
        </p:txBody>
      </p:sp>
      <p:sp>
        <p:nvSpPr>
          <p:cNvPr id="19" name="Shape 17"/>
          <p:cNvSpPr/>
          <p:nvPr/>
        </p:nvSpPr>
        <p:spPr>
          <a:xfrm>
            <a:off x="6355080" y="2441448"/>
            <a:ext cx="457200" cy="457200"/>
          </a:xfrm>
          <a:prstGeom prst="ellipse">
            <a:avLst/>
          </a:prstGeom>
          <a:solidFill>
            <a:srgbClr val="F2A93B"/>
          </a:solidFill>
          <a:ln/>
        </p:spPr>
      </p:sp>
      <p:sp>
        <p:nvSpPr>
          <p:cNvPr id="20" name="Text 18"/>
          <p:cNvSpPr txBox="1"/>
          <p:nvPr/>
        </p:nvSpPr>
        <p:spPr>
          <a:xfrm>
            <a:off x="6355080" y="2441448"/>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6</a:t>
            </a:r>
            <a:endParaRPr lang="en-US" sz="1800" dirty="0"/>
          </a:p>
        </p:txBody>
      </p:sp>
      <p:sp>
        <p:nvSpPr>
          <p:cNvPr id="21" name="Text 19"/>
          <p:cNvSpPr txBox="1"/>
          <p:nvPr/>
        </p:nvSpPr>
        <p:spPr>
          <a:xfrm>
            <a:off x="6976872" y="2386584"/>
            <a:ext cx="4727448" cy="777240"/>
          </a:xfrm>
          <a:prstGeom prst="rect">
            <a:avLst/>
          </a:prstGeom>
          <a:noFill/>
          <a:ln/>
        </p:spPr>
        <p:txBody>
          <a:bodyPr wrap="square" rtlCol="0" anchor="ctr"/>
          <a:lstStyle/>
          <a:p>
            <a:pPr indent="0" marL="0">
              <a:lnSpc>
                <a:spcPct val="110000"/>
              </a:lnSpc>
              <a:buNone/>
            </a:pPr>
            <a:r>
              <a:rPr lang="en-US" sz="1350" dirty="0">
                <a:solidFill>
                  <a:srgbClr val="20232B"/>
                </a:solidFill>
                <a:latin typeface="Calibri" pitchFamily="34" charset="0"/>
                <a:ea typeface="Calibri" pitchFamily="34" charset="-122"/>
                <a:cs typeface="Calibri" pitchFamily="34" charset="-120"/>
              </a:rPr>
              <a:t>Track student pickup information.</a:t>
            </a:r>
            <a:endParaRPr lang="en-US" sz="1350" dirty="0"/>
          </a:p>
        </p:txBody>
      </p:sp>
      <p:sp>
        <p:nvSpPr>
          <p:cNvPr id="22" name="Shape 20"/>
          <p:cNvSpPr/>
          <p:nvPr/>
        </p:nvSpPr>
        <p:spPr>
          <a:xfrm>
            <a:off x="6355080" y="3374136"/>
            <a:ext cx="457200" cy="457200"/>
          </a:xfrm>
          <a:prstGeom prst="ellipse">
            <a:avLst/>
          </a:prstGeom>
          <a:solidFill>
            <a:srgbClr val="F2A93B"/>
          </a:solidFill>
          <a:ln/>
        </p:spPr>
      </p:sp>
      <p:sp>
        <p:nvSpPr>
          <p:cNvPr id="23" name="Text 21"/>
          <p:cNvSpPr txBox="1"/>
          <p:nvPr/>
        </p:nvSpPr>
        <p:spPr>
          <a:xfrm>
            <a:off x="6355080" y="3374136"/>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7</a:t>
            </a:r>
            <a:endParaRPr lang="en-US" sz="1800" dirty="0"/>
          </a:p>
        </p:txBody>
      </p:sp>
      <p:sp>
        <p:nvSpPr>
          <p:cNvPr id="24" name="Text 22"/>
          <p:cNvSpPr txBox="1"/>
          <p:nvPr/>
        </p:nvSpPr>
        <p:spPr>
          <a:xfrm>
            <a:off x="6976872" y="3319272"/>
            <a:ext cx="4727448" cy="777240"/>
          </a:xfrm>
          <a:prstGeom prst="rect">
            <a:avLst/>
          </a:prstGeom>
          <a:noFill/>
          <a:ln/>
        </p:spPr>
        <p:txBody>
          <a:bodyPr wrap="square" rtlCol="0" anchor="ctr"/>
          <a:lstStyle/>
          <a:p>
            <a:pPr indent="0" marL="0">
              <a:lnSpc>
                <a:spcPct val="110000"/>
              </a:lnSpc>
              <a:buNone/>
            </a:pPr>
            <a:r>
              <a:rPr lang="en-US" sz="1350" dirty="0">
                <a:solidFill>
                  <a:srgbClr val="20232B"/>
                </a:solidFill>
                <a:latin typeface="Calibri" pitchFamily="34" charset="0"/>
                <a:ea typeface="Calibri" pitchFamily="34" charset="-122"/>
                <a:cs typeface="Calibri" pitchFamily="34" charset="-120"/>
              </a:rPr>
              <a:t>Retrieve useful transport information using SQL queries.</a:t>
            </a:r>
            <a:endParaRPr lang="en-US" sz="1350" dirty="0"/>
          </a:p>
        </p:txBody>
      </p:sp>
      <p:sp>
        <p:nvSpPr>
          <p:cNvPr id="25" name="Shape 23"/>
          <p:cNvSpPr/>
          <p:nvPr/>
        </p:nvSpPr>
        <p:spPr>
          <a:xfrm>
            <a:off x="6355080" y="5285232"/>
            <a:ext cx="5349240" cy="868680"/>
          </a:xfrm>
          <a:prstGeom prst="roundRect">
            <a:avLst>
              <a:gd name="adj" fmla="val 8421"/>
            </a:avLst>
          </a:prstGeom>
          <a:solidFill>
            <a:srgbClr val="F4F7FD"/>
          </a:solidFill>
          <a:ln/>
        </p:spPr>
      </p:sp>
      <p:sp>
        <p:nvSpPr>
          <p:cNvPr id="26" name="Text 24"/>
          <p:cNvSpPr txBox="1"/>
          <p:nvPr/>
        </p:nvSpPr>
        <p:spPr>
          <a:xfrm>
            <a:off x="6537960" y="5358384"/>
            <a:ext cx="4983480" cy="731520"/>
          </a:xfrm>
          <a:prstGeom prst="rect">
            <a:avLst/>
          </a:prstGeom>
          <a:noFill/>
          <a:ln/>
        </p:spPr>
        <p:txBody>
          <a:bodyPr wrap="square" rtlCol="0" anchor="ctr"/>
          <a:lstStyle/>
          <a:p>
            <a:pPr indent="0" marL="0">
              <a:lnSpc>
                <a:spcPct val="110000"/>
              </a:lnSpc>
              <a:buNone/>
            </a:pPr>
            <a:r>
              <a:rPr lang="en-US" sz="1200" i="1" dirty="0">
                <a:solidFill>
                  <a:srgbClr val="1E2761"/>
                </a:solidFill>
                <a:latin typeface="Calibri" pitchFamily="34" charset="0"/>
                <a:ea typeface="Calibri" pitchFamily="34" charset="-122"/>
                <a:cs typeface="Calibri" pitchFamily="34" charset="-120"/>
              </a:rPr>
              <a:t>Goal: not just storing data, but establishing relationships and enabling meaningful retrieval.</a:t>
            </a:r>
            <a:endParaRPr lang="en-US" sz="1200" dirty="0"/>
          </a:p>
        </p:txBody>
      </p:sp>
      <p:sp>
        <p:nvSpPr>
          <p:cNvPr id="27" name="Text 25"/>
          <p:cNvSpPr txBox="1"/>
          <p:nvPr/>
        </p:nvSpPr>
        <p:spPr>
          <a:xfrm>
            <a:off x="457200" y="6510528"/>
            <a:ext cx="7315200" cy="274320"/>
          </a:xfrm>
          <a:prstGeom prst="rect">
            <a:avLst/>
          </a:prstGeom>
          <a:noFill/>
          <a:ln/>
        </p:spPr>
        <p:txBody>
          <a:bodyPr wrap="square" rtlCol="0" anchor="ctr"/>
          <a:lstStyle/>
          <a:p>
            <a:pPr indent="0" marL="0">
              <a:buNone/>
            </a:pPr>
            <a:r>
              <a:rPr lang="en-US" sz="900" dirty="0">
                <a:solidFill>
                  <a:srgbClr val="5B6B8C"/>
                </a:solidFill>
                <a:latin typeface="Calibri" pitchFamily="34" charset="0"/>
                <a:ea typeface="Calibri" pitchFamily="34" charset="-122"/>
                <a:cs typeface="Calibri" pitchFamily="34" charset="-120"/>
              </a:rPr>
              <a:t>School Transport Route &amp; Student Pickup Management System</a:t>
            </a:r>
            <a:endParaRPr lang="en-US" sz="900" dirty="0"/>
          </a:p>
        </p:txBody>
      </p:sp>
      <p:sp>
        <p:nvSpPr>
          <p:cNvPr id="28" name="Text 26"/>
          <p:cNvSpPr txBox="1"/>
          <p:nvPr/>
        </p:nvSpPr>
        <p:spPr>
          <a:xfrm>
            <a:off x="11274552" y="6510528"/>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PROPOSED ENTITIES &amp; ATTRIBUTES</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Data Will I Manage?</a:t>
            </a:r>
            <a:endParaRPr lang="en-US" sz="3000" dirty="0"/>
          </a:p>
        </p:txBody>
      </p:sp>
      <p:sp>
        <p:nvSpPr>
          <p:cNvPr id="4" name="Shape 2"/>
          <p:cNvSpPr/>
          <p:nvPr/>
        </p:nvSpPr>
        <p:spPr>
          <a:xfrm>
            <a:off x="548640" y="1417320"/>
            <a:ext cx="2212848" cy="4663440"/>
          </a:xfrm>
          <a:prstGeom prst="roundRect">
            <a:avLst>
              <a:gd name="adj" fmla="val 4132"/>
            </a:avLst>
          </a:prstGeom>
          <a:solidFill>
            <a:srgbClr val="F4F7FD"/>
          </a:solidFill>
          <a:ln/>
        </p:spPr>
      </p:sp>
      <p:sp>
        <p:nvSpPr>
          <p:cNvPr id="5" name="Shape 3"/>
          <p:cNvSpPr/>
          <p:nvPr/>
        </p:nvSpPr>
        <p:spPr>
          <a:xfrm>
            <a:off x="548640" y="1417320"/>
            <a:ext cx="2212848" cy="868680"/>
          </a:xfrm>
          <a:prstGeom prst="roundRect">
            <a:avLst>
              <a:gd name="adj" fmla="val 10526"/>
            </a:avLst>
          </a:prstGeom>
          <a:solidFill>
            <a:srgbClr val="1E2761"/>
          </a:solidFill>
          <a:ln/>
        </p:spPr>
      </p:sp>
      <p:sp>
        <p:nvSpPr>
          <p:cNvPr id="6" name="Shape 4"/>
          <p:cNvSpPr/>
          <p:nvPr/>
        </p:nvSpPr>
        <p:spPr>
          <a:xfrm>
            <a:off x="548640" y="1920240"/>
            <a:ext cx="2212848" cy="365760"/>
          </a:xfrm>
          <a:prstGeom prst="rect">
            <a:avLst/>
          </a:prstGeom>
          <a:solidFill>
            <a:srgbClr val="1E2761"/>
          </a:solidFill>
          <a:ln/>
        </p:spPr>
      </p:sp>
      <p:sp>
        <p:nvSpPr>
          <p:cNvPr id="7" name="Shape 5"/>
          <p:cNvSpPr/>
          <p:nvPr/>
        </p:nvSpPr>
        <p:spPr>
          <a:xfrm>
            <a:off x="1335024" y="1097280"/>
            <a:ext cx="640080" cy="640080"/>
          </a:xfrm>
          <a:prstGeom prst="ellipse">
            <a:avLst/>
          </a:prstGeom>
          <a:solidFill>
            <a:srgbClr val="F2A93B"/>
          </a:solidFill>
          <a:ln/>
        </p:spPr>
      </p:sp>
      <p:sp>
        <p:nvSpPr>
          <p:cNvPr id="8" name="Text 6"/>
          <p:cNvSpPr txBox="1"/>
          <p:nvPr/>
        </p:nvSpPr>
        <p:spPr>
          <a:xfrm>
            <a:off x="1335024" y="1097280"/>
            <a:ext cx="640080" cy="640080"/>
          </a:xfrm>
          <a:prstGeom prst="rect">
            <a:avLst/>
          </a:prstGeom>
          <a:noFill/>
          <a:ln/>
        </p:spPr>
        <p:txBody>
          <a:bodyPr wrap="square"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9" name="Text 7"/>
          <p:cNvSpPr txBox="1"/>
          <p:nvPr/>
        </p:nvSpPr>
        <p:spPr>
          <a:xfrm>
            <a:off x="548640" y="1828800"/>
            <a:ext cx="2212848"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Student</a:t>
            </a:r>
            <a:endParaRPr lang="en-US" sz="1500" dirty="0"/>
          </a:p>
        </p:txBody>
      </p:sp>
      <p:sp>
        <p:nvSpPr>
          <p:cNvPr id="10" name="Text 8"/>
          <p:cNvSpPr txBox="1"/>
          <p:nvPr/>
        </p:nvSpPr>
        <p:spPr>
          <a:xfrm>
            <a:off x="731520" y="2468880"/>
            <a:ext cx="1847088" cy="3429000"/>
          </a:xfrm>
          <a:prstGeom prst="rect">
            <a:avLst/>
          </a:prstGeom>
          <a:noFill/>
          <a:ln/>
        </p:spPr>
        <p:txBody>
          <a:bodyPr wrap="square" rtlCol="0" anchor="t"/>
          <a:lstStyle/>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Student ID</a:t>
            </a:r>
            <a:endParaRPr lang="en-US" sz="1150" dirty="0"/>
          </a:p>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Name</a:t>
            </a:r>
            <a:endParaRPr lang="en-US" sz="1150" dirty="0"/>
          </a:p>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Class</a:t>
            </a:r>
            <a:endParaRPr lang="en-US" sz="1150" dirty="0"/>
          </a:p>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Contact details</a:t>
            </a:r>
            <a:endParaRPr lang="en-US" sz="1150" dirty="0"/>
          </a:p>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Pickup point</a:t>
            </a:r>
            <a:endParaRPr lang="en-US" sz="1150" dirty="0"/>
          </a:p>
        </p:txBody>
      </p:sp>
      <p:sp>
        <p:nvSpPr>
          <p:cNvPr id="11" name="Shape 9"/>
          <p:cNvSpPr/>
          <p:nvPr/>
        </p:nvSpPr>
        <p:spPr>
          <a:xfrm>
            <a:off x="2880360" y="1417320"/>
            <a:ext cx="2212848" cy="4663440"/>
          </a:xfrm>
          <a:prstGeom prst="roundRect">
            <a:avLst>
              <a:gd name="adj" fmla="val 4132"/>
            </a:avLst>
          </a:prstGeom>
          <a:solidFill>
            <a:srgbClr val="F4F7FD"/>
          </a:solidFill>
          <a:ln/>
        </p:spPr>
      </p:sp>
      <p:sp>
        <p:nvSpPr>
          <p:cNvPr id="12" name="Shape 10"/>
          <p:cNvSpPr/>
          <p:nvPr/>
        </p:nvSpPr>
        <p:spPr>
          <a:xfrm>
            <a:off x="2880360" y="1417320"/>
            <a:ext cx="2212848" cy="868680"/>
          </a:xfrm>
          <a:prstGeom prst="roundRect">
            <a:avLst>
              <a:gd name="adj" fmla="val 10526"/>
            </a:avLst>
          </a:prstGeom>
          <a:solidFill>
            <a:srgbClr val="1E2761"/>
          </a:solidFill>
          <a:ln/>
        </p:spPr>
      </p:sp>
      <p:sp>
        <p:nvSpPr>
          <p:cNvPr id="13" name="Shape 11"/>
          <p:cNvSpPr/>
          <p:nvPr/>
        </p:nvSpPr>
        <p:spPr>
          <a:xfrm>
            <a:off x="2880360" y="1920240"/>
            <a:ext cx="2212848" cy="365760"/>
          </a:xfrm>
          <a:prstGeom prst="rect">
            <a:avLst/>
          </a:prstGeom>
          <a:solidFill>
            <a:srgbClr val="1E2761"/>
          </a:solidFill>
          <a:ln/>
        </p:spPr>
      </p:sp>
      <p:sp>
        <p:nvSpPr>
          <p:cNvPr id="14" name="Shape 12"/>
          <p:cNvSpPr/>
          <p:nvPr/>
        </p:nvSpPr>
        <p:spPr>
          <a:xfrm>
            <a:off x="3666744" y="1097280"/>
            <a:ext cx="640080" cy="640080"/>
          </a:xfrm>
          <a:prstGeom prst="ellipse">
            <a:avLst/>
          </a:prstGeom>
          <a:solidFill>
            <a:srgbClr val="F2A93B"/>
          </a:solidFill>
          <a:ln/>
        </p:spPr>
      </p:sp>
      <p:sp>
        <p:nvSpPr>
          <p:cNvPr id="15" name="Text 13"/>
          <p:cNvSpPr txBox="1"/>
          <p:nvPr/>
        </p:nvSpPr>
        <p:spPr>
          <a:xfrm>
            <a:off x="3666744" y="1097280"/>
            <a:ext cx="640080" cy="640080"/>
          </a:xfrm>
          <a:prstGeom prst="rect">
            <a:avLst/>
          </a:prstGeom>
          <a:noFill/>
          <a:ln/>
        </p:spPr>
        <p:txBody>
          <a:bodyPr wrap="square"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6" name="Text 14"/>
          <p:cNvSpPr txBox="1"/>
          <p:nvPr/>
        </p:nvSpPr>
        <p:spPr>
          <a:xfrm>
            <a:off x="2880360" y="1828800"/>
            <a:ext cx="2212848"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Bus</a:t>
            </a:r>
            <a:endParaRPr lang="en-US" sz="1500" dirty="0"/>
          </a:p>
        </p:txBody>
      </p:sp>
      <p:sp>
        <p:nvSpPr>
          <p:cNvPr id="17" name="Text 15"/>
          <p:cNvSpPr txBox="1"/>
          <p:nvPr/>
        </p:nvSpPr>
        <p:spPr>
          <a:xfrm>
            <a:off x="3063240" y="2468880"/>
            <a:ext cx="1847088" cy="3429000"/>
          </a:xfrm>
          <a:prstGeom prst="rect">
            <a:avLst/>
          </a:prstGeom>
          <a:noFill/>
          <a:ln/>
        </p:spPr>
        <p:txBody>
          <a:bodyPr wrap="square" rtlCol="0" anchor="t"/>
          <a:lstStyle/>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Bus ID</a:t>
            </a:r>
            <a:endParaRPr lang="en-US" sz="1150" dirty="0"/>
          </a:p>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Bus number</a:t>
            </a:r>
            <a:endParaRPr lang="en-US" sz="1150" dirty="0"/>
          </a:p>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Capacity</a:t>
            </a:r>
            <a:endParaRPr lang="en-US" sz="1150" dirty="0"/>
          </a:p>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Status</a:t>
            </a:r>
            <a:endParaRPr lang="en-US" sz="1150" dirty="0"/>
          </a:p>
        </p:txBody>
      </p:sp>
      <p:sp>
        <p:nvSpPr>
          <p:cNvPr id="18" name="Shape 16"/>
          <p:cNvSpPr/>
          <p:nvPr/>
        </p:nvSpPr>
        <p:spPr>
          <a:xfrm>
            <a:off x="5212080" y="1417320"/>
            <a:ext cx="2212848" cy="4663440"/>
          </a:xfrm>
          <a:prstGeom prst="roundRect">
            <a:avLst>
              <a:gd name="adj" fmla="val 4132"/>
            </a:avLst>
          </a:prstGeom>
          <a:solidFill>
            <a:srgbClr val="F4F7FD"/>
          </a:solidFill>
          <a:ln/>
        </p:spPr>
      </p:sp>
      <p:sp>
        <p:nvSpPr>
          <p:cNvPr id="19" name="Shape 17"/>
          <p:cNvSpPr/>
          <p:nvPr/>
        </p:nvSpPr>
        <p:spPr>
          <a:xfrm>
            <a:off x="5212080" y="1417320"/>
            <a:ext cx="2212848" cy="868680"/>
          </a:xfrm>
          <a:prstGeom prst="roundRect">
            <a:avLst>
              <a:gd name="adj" fmla="val 10526"/>
            </a:avLst>
          </a:prstGeom>
          <a:solidFill>
            <a:srgbClr val="1E2761"/>
          </a:solidFill>
          <a:ln/>
        </p:spPr>
      </p:sp>
      <p:sp>
        <p:nvSpPr>
          <p:cNvPr id="20" name="Shape 18"/>
          <p:cNvSpPr/>
          <p:nvPr/>
        </p:nvSpPr>
        <p:spPr>
          <a:xfrm>
            <a:off x="5212080" y="1920240"/>
            <a:ext cx="2212848" cy="365760"/>
          </a:xfrm>
          <a:prstGeom prst="rect">
            <a:avLst/>
          </a:prstGeom>
          <a:solidFill>
            <a:srgbClr val="1E2761"/>
          </a:solidFill>
          <a:ln/>
        </p:spPr>
      </p:sp>
      <p:sp>
        <p:nvSpPr>
          <p:cNvPr id="21" name="Shape 19"/>
          <p:cNvSpPr/>
          <p:nvPr/>
        </p:nvSpPr>
        <p:spPr>
          <a:xfrm>
            <a:off x="5998464" y="1097280"/>
            <a:ext cx="640080" cy="640080"/>
          </a:xfrm>
          <a:prstGeom prst="ellipse">
            <a:avLst/>
          </a:prstGeom>
          <a:solidFill>
            <a:srgbClr val="F2A93B"/>
          </a:solidFill>
          <a:ln/>
        </p:spPr>
      </p:sp>
      <p:sp>
        <p:nvSpPr>
          <p:cNvPr id="22" name="Text 20"/>
          <p:cNvSpPr txBox="1"/>
          <p:nvPr/>
        </p:nvSpPr>
        <p:spPr>
          <a:xfrm>
            <a:off x="5998464" y="1097280"/>
            <a:ext cx="640080" cy="640080"/>
          </a:xfrm>
          <a:prstGeom prst="rect">
            <a:avLst/>
          </a:prstGeom>
          <a:noFill/>
          <a:ln/>
        </p:spPr>
        <p:txBody>
          <a:bodyPr wrap="square"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3" name="Text 21"/>
          <p:cNvSpPr txBox="1"/>
          <p:nvPr/>
        </p:nvSpPr>
        <p:spPr>
          <a:xfrm>
            <a:off x="5212080" y="1828800"/>
            <a:ext cx="2212848"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Driver</a:t>
            </a:r>
            <a:endParaRPr lang="en-US" sz="1500" dirty="0"/>
          </a:p>
        </p:txBody>
      </p:sp>
      <p:sp>
        <p:nvSpPr>
          <p:cNvPr id="24" name="Text 22"/>
          <p:cNvSpPr txBox="1"/>
          <p:nvPr/>
        </p:nvSpPr>
        <p:spPr>
          <a:xfrm>
            <a:off x="5394960" y="2468880"/>
            <a:ext cx="1847088" cy="3429000"/>
          </a:xfrm>
          <a:prstGeom prst="rect">
            <a:avLst/>
          </a:prstGeom>
          <a:noFill/>
          <a:ln/>
        </p:spPr>
        <p:txBody>
          <a:bodyPr wrap="square" rtlCol="0" anchor="t"/>
          <a:lstStyle/>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Driver ID</a:t>
            </a:r>
            <a:endParaRPr lang="en-US" sz="1150" dirty="0"/>
          </a:p>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Name</a:t>
            </a:r>
            <a:endParaRPr lang="en-US" sz="1150" dirty="0"/>
          </a:p>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Contact</a:t>
            </a:r>
            <a:endParaRPr lang="en-US" sz="1150" dirty="0"/>
          </a:p>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License details</a:t>
            </a:r>
            <a:endParaRPr lang="en-US" sz="1150" dirty="0"/>
          </a:p>
        </p:txBody>
      </p:sp>
      <p:sp>
        <p:nvSpPr>
          <p:cNvPr id="25" name="Shape 23"/>
          <p:cNvSpPr/>
          <p:nvPr/>
        </p:nvSpPr>
        <p:spPr>
          <a:xfrm>
            <a:off x="7543800" y="1417320"/>
            <a:ext cx="2212848" cy="4663440"/>
          </a:xfrm>
          <a:prstGeom prst="roundRect">
            <a:avLst>
              <a:gd name="adj" fmla="val 4132"/>
            </a:avLst>
          </a:prstGeom>
          <a:solidFill>
            <a:srgbClr val="F4F7FD"/>
          </a:solidFill>
          <a:ln/>
        </p:spPr>
      </p:sp>
      <p:sp>
        <p:nvSpPr>
          <p:cNvPr id="26" name="Shape 24"/>
          <p:cNvSpPr/>
          <p:nvPr/>
        </p:nvSpPr>
        <p:spPr>
          <a:xfrm>
            <a:off x="7543800" y="1417320"/>
            <a:ext cx="2212848" cy="868680"/>
          </a:xfrm>
          <a:prstGeom prst="roundRect">
            <a:avLst>
              <a:gd name="adj" fmla="val 10526"/>
            </a:avLst>
          </a:prstGeom>
          <a:solidFill>
            <a:srgbClr val="1E2761"/>
          </a:solidFill>
          <a:ln/>
        </p:spPr>
      </p:sp>
      <p:sp>
        <p:nvSpPr>
          <p:cNvPr id="27" name="Shape 25"/>
          <p:cNvSpPr/>
          <p:nvPr/>
        </p:nvSpPr>
        <p:spPr>
          <a:xfrm>
            <a:off x="7543800" y="1920240"/>
            <a:ext cx="2212848" cy="365760"/>
          </a:xfrm>
          <a:prstGeom prst="rect">
            <a:avLst/>
          </a:prstGeom>
          <a:solidFill>
            <a:srgbClr val="1E2761"/>
          </a:solidFill>
          <a:ln/>
        </p:spPr>
      </p:sp>
      <p:sp>
        <p:nvSpPr>
          <p:cNvPr id="28" name="Shape 26"/>
          <p:cNvSpPr/>
          <p:nvPr/>
        </p:nvSpPr>
        <p:spPr>
          <a:xfrm>
            <a:off x="8330184" y="1097280"/>
            <a:ext cx="640080" cy="640080"/>
          </a:xfrm>
          <a:prstGeom prst="ellipse">
            <a:avLst/>
          </a:prstGeom>
          <a:solidFill>
            <a:srgbClr val="F2A93B"/>
          </a:solidFill>
          <a:ln/>
        </p:spPr>
      </p:sp>
      <p:sp>
        <p:nvSpPr>
          <p:cNvPr id="29" name="Text 27"/>
          <p:cNvSpPr txBox="1"/>
          <p:nvPr/>
        </p:nvSpPr>
        <p:spPr>
          <a:xfrm>
            <a:off x="8330184" y="1097280"/>
            <a:ext cx="640080" cy="640080"/>
          </a:xfrm>
          <a:prstGeom prst="rect">
            <a:avLst/>
          </a:prstGeom>
          <a:noFill/>
          <a:ln/>
        </p:spPr>
        <p:txBody>
          <a:bodyPr wrap="square"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30" name="Text 28"/>
          <p:cNvSpPr txBox="1"/>
          <p:nvPr/>
        </p:nvSpPr>
        <p:spPr>
          <a:xfrm>
            <a:off x="7543800" y="1828800"/>
            <a:ext cx="2212848"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Route</a:t>
            </a:r>
            <a:endParaRPr lang="en-US" sz="1500" dirty="0"/>
          </a:p>
        </p:txBody>
      </p:sp>
      <p:sp>
        <p:nvSpPr>
          <p:cNvPr id="31" name="Text 29"/>
          <p:cNvSpPr txBox="1"/>
          <p:nvPr/>
        </p:nvSpPr>
        <p:spPr>
          <a:xfrm>
            <a:off x="7726680" y="2468880"/>
            <a:ext cx="1847088" cy="3429000"/>
          </a:xfrm>
          <a:prstGeom prst="rect">
            <a:avLst/>
          </a:prstGeom>
          <a:noFill/>
          <a:ln/>
        </p:spPr>
        <p:txBody>
          <a:bodyPr wrap="square" rtlCol="0" anchor="t"/>
          <a:lstStyle/>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Route ID</a:t>
            </a:r>
            <a:endParaRPr lang="en-US" sz="1150" dirty="0"/>
          </a:p>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Route name</a:t>
            </a:r>
            <a:endParaRPr lang="en-US" sz="1150" dirty="0"/>
          </a:p>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Starting point</a:t>
            </a:r>
            <a:endParaRPr lang="en-US" sz="1150" dirty="0"/>
          </a:p>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Destination</a:t>
            </a:r>
            <a:endParaRPr lang="en-US" sz="1150" dirty="0"/>
          </a:p>
        </p:txBody>
      </p:sp>
      <p:sp>
        <p:nvSpPr>
          <p:cNvPr id="32" name="Shape 30"/>
          <p:cNvSpPr/>
          <p:nvPr/>
        </p:nvSpPr>
        <p:spPr>
          <a:xfrm>
            <a:off x="9875520" y="1417320"/>
            <a:ext cx="2212848" cy="4663440"/>
          </a:xfrm>
          <a:prstGeom prst="roundRect">
            <a:avLst>
              <a:gd name="adj" fmla="val 4132"/>
            </a:avLst>
          </a:prstGeom>
          <a:solidFill>
            <a:srgbClr val="F4F7FD"/>
          </a:solidFill>
          <a:ln/>
        </p:spPr>
      </p:sp>
      <p:sp>
        <p:nvSpPr>
          <p:cNvPr id="33" name="Shape 31"/>
          <p:cNvSpPr/>
          <p:nvPr/>
        </p:nvSpPr>
        <p:spPr>
          <a:xfrm>
            <a:off x="9875520" y="1417320"/>
            <a:ext cx="2212848" cy="868680"/>
          </a:xfrm>
          <a:prstGeom prst="roundRect">
            <a:avLst>
              <a:gd name="adj" fmla="val 10526"/>
            </a:avLst>
          </a:prstGeom>
          <a:solidFill>
            <a:srgbClr val="1E2761"/>
          </a:solidFill>
          <a:ln/>
        </p:spPr>
      </p:sp>
      <p:sp>
        <p:nvSpPr>
          <p:cNvPr id="34" name="Shape 32"/>
          <p:cNvSpPr/>
          <p:nvPr/>
        </p:nvSpPr>
        <p:spPr>
          <a:xfrm>
            <a:off x="9875520" y="1920240"/>
            <a:ext cx="2212848" cy="365760"/>
          </a:xfrm>
          <a:prstGeom prst="rect">
            <a:avLst/>
          </a:prstGeom>
          <a:solidFill>
            <a:srgbClr val="1E2761"/>
          </a:solidFill>
          <a:ln/>
        </p:spPr>
      </p:sp>
      <p:sp>
        <p:nvSpPr>
          <p:cNvPr id="35" name="Shape 33"/>
          <p:cNvSpPr/>
          <p:nvPr/>
        </p:nvSpPr>
        <p:spPr>
          <a:xfrm>
            <a:off x="10661904" y="1097280"/>
            <a:ext cx="640080" cy="640080"/>
          </a:xfrm>
          <a:prstGeom prst="ellipse">
            <a:avLst/>
          </a:prstGeom>
          <a:solidFill>
            <a:srgbClr val="F2A93B"/>
          </a:solidFill>
          <a:ln/>
        </p:spPr>
      </p:sp>
      <p:sp>
        <p:nvSpPr>
          <p:cNvPr id="36" name="Text 34"/>
          <p:cNvSpPr txBox="1"/>
          <p:nvPr/>
        </p:nvSpPr>
        <p:spPr>
          <a:xfrm>
            <a:off x="10661904" y="1097280"/>
            <a:ext cx="640080" cy="640080"/>
          </a:xfrm>
          <a:prstGeom prst="rect">
            <a:avLst/>
          </a:prstGeom>
          <a:noFill/>
          <a:ln/>
        </p:spPr>
        <p:txBody>
          <a:bodyPr wrap="square"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37" name="Text 35"/>
          <p:cNvSpPr txBox="1"/>
          <p:nvPr/>
        </p:nvSpPr>
        <p:spPr>
          <a:xfrm>
            <a:off x="9875520" y="1828800"/>
            <a:ext cx="2212848"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Pickup Point</a:t>
            </a:r>
            <a:endParaRPr lang="en-US" sz="1500" dirty="0"/>
          </a:p>
        </p:txBody>
      </p:sp>
      <p:sp>
        <p:nvSpPr>
          <p:cNvPr id="38" name="Text 36"/>
          <p:cNvSpPr txBox="1"/>
          <p:nvPr/>
        </p:nvSpPr>
        <p:spPr>
          <a:xfrm>
            <a:off x="10058400" y="2468880"/>
            <a:ext cx="1847088" cy="3429000"/>
          </a:xfrm>
          <a:prstGeom prst="rect">
            <a:avLst/>
          </a:prstGeom>
          <a:noFill/>
          <a:ln/>
        </p:spPr>
        <p:txBody>
          <a:bodyPr wrap="square" rtlCol="0" anchor="t"/>
          <a:lstStyle/>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Pickup point ID</a:t>
            </a:r>
            <a:endParaRPr lang="en-US" sz="1150" dirty="0"/>
          </a:p>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Location</a:t>
            </a:r>
            <a:endParaRPr lang="en-US" sz="1150" dirty="0"/>
          </a:p>
          <a:p>
            <a:pPr marL="152400" indent="-152400">
              <a:lnSpc>
                <a:spcPct val="130000"/>
              </a:lnSpc>
              <a:spcAft>
                <a:spcPts val="600"/>
              </a:spcAft>
              <a:buSzPct val="100000"/>
              <a:buChar char="•"/>
            </a:pPr>
            <a:r>
              <a:rPr lang="en-US" sz="1150" dirty="0">
                <a:solidFill>
                  <a:srgbClr val="20232B"/>
                </a:solidFill>
                <a:latin typeface="Calibri" pitchFamily="34" charset="0"/>
                <a:ea typeface="Calibri" pitchFamily="34" charset="-122"/>
                <a:cs typeface="Calibri" pitchFamily="34" charset="-120"/>
              </a:rPr>
              <a:t>Pickup time</a:t>
            </a:r>
            <a:endParaRPr lang="en-US" sz="1150" dirty="0"/>
          </a:p>
        </p:txBody>
      </p:sp>
      <p:sp>
        <p:nvSpPr>
          <p:cNvPr id="39" name="Text 37"/>
          <p:cNvSpPr txBox="1"/>
          <p:nvPr/>
        </p:nvSpPr>
        <p:spPr>
          <a:xfrm>
            <a:off x="548640" y="6263640"/>
            <a:ext cx="11064240" cy="365760"/>
          </a:xfrm>
          <a:prstGeom prst="rect">
            <a:avLst/>
          </a:prstGeom>
          <a:noFill/>
          <a:ln/>
        </p:spPr>
        <p:txBody>
          <a:bodyPr wrap="square" rtlCol="0" anchor="ctr"/>
          <a:lstStyle/>
          <a:p>
            <a:pPr indent="0" marL="0">
              <a:buNone/>
            </a:pPr>
            <a:r>
              <a:rPr lang="en-US" sz="1050" i="1" dirty="0">
                <a:solidFill>
                  <a:srgbClr val="5B6B8C"/>
                </a:solidFill>
                <a:latin typeface="Calibri" pitchFamily="34" charset="0"/>
                <a:ea typeface="Calibri" pitchFamily="34" charset="-122"/>
                <a:cs typeface="Calibri" pitchFamily="34" charset="-120"/>
              </a:rPr>
              <a:t>These are proposed attributes for the initial design — not fixed requirements.</a:t>
            </a:r>
            <a:endParaRPr lang="en-US" sz="1050" dirty="0"/>
          </a:p>
        </p:txBody>
      </p:sp>
      <p:sp>
        <p:nvSpPr>
          <p:cNvPr id="40" name="Text 38"/>
          <p:cNvSpPr txBox="1"/>
          <p:nvPr/>
        </p:nvSpPr>
        <p:spPr>
          <a:xfrm>
            <a:off x="457200" y="6510528"/>
            <a:ext cx="7315200" cy="274320"/>
          </a:xfrm>
          <a:prstGeom prst="rect">
            <a:avLst/>
          </a:prstGeom>
          <a:noFill/>
          <a:ln/>
        </p:spPr>
        <p:txBody>
          <a:bodyPr wrap="square" rtlCol="0" anchor="ctr"/>
          <a:lstStyle/>
          <a:p>
            <a:pPr indent="0" marL="0">
              <a:buNone/>
            </a:pPr>
            <a:r>
              <a:rPr lang="en-US" sz="900" dirty="0">
                <a:solidFill>
                  <a:srgbClr val="5B6B8C"/>
                </a:solidFill>
                <a:latin typeface="Calibri" pitchFamily="34" charset="0"/>
                <a:ea typeface="Calibri" pitchFamily="34" charset="-122"/>
                <a:cs typeface="Calibri" pitchFamily="34" charset="-120"/>
              </a:rPr>
              <a:t>School Transport Route &amp; Student Pickup Management System</a:t>
            </a:r>
            <a:endParaRPr lang="en-US" sz="900" dirty="0"/>
          </a:p>
        </p:txBody>
      </p:sp>
      <p:sp>
        <p:nvSpPr>
          <p:cNvPr id="41" name="Text 39"/>
          <p:cNvSpPr txBox="1"/>
          <p:nvPr/>
        </p:nvSpPr>
        <p:spPr>
          <a:xfrm>
            <a:off x="11274552" y="6510528"/>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HOW THE ENTITIES ARE CONNECTED</a:t>
            </a:r>
            <a:endParaRPr lang="en-US" sz="1200" dirty="0"/>
          </a:p>
        </p:txBody>
      </p:sp>
      <p:sp>
        <p:nvSpPr>
          <p:cNvPr id="3" name="Text 1"/>
          <p:cNvSpPr txBox="1"/>
          <p:nvPr/>
        </p:nvSpPr>
        <p:spPr>
          <a:xfrm>
            <a:off x="548640" y="566928"/>
            <a:ext cx="9144000"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Entity Relationship Flow</a:t>
            </a:r>
            <a:endParaRPr lang="en-US" sz="2800" dirty="0"/>
          </a:p>
        </p:txBody>
      </p:sp>
      <p:sp>
        <p:nvSpPr>
          <p:cNvPr id="4" name="Shape 2"/>
          <p:cNvSpPr/>
          <p:nvPr/>
        </p:nvSpPr>
        <p:spPr>
          <a:xfrm>
            <a:off x="457200" y="3040380"/>
            <a:ext cx="1828800" cy="1417320"/>
          </a:xfrm>
          <a:prstGeom prst="roundRect">
            <a:avLst>
              <a:gd name="adj" fmla="val 6452"/>
            </a:avLst>
          </a:prstGeom>
          <a:solidFill>
            <a:srgbClr val="FFFFFF"/>
          </a:solidFill>
          <a:ln/>
        </p:spPr>
      </p:sp>
      <p:sp>
        <p:nvSpPr>
          <p:cNvPr id="5" name="Text 3"/>
          <p:cNvSpPr txBox="1"/>
          <p:nvPr/>
        </p:nvSpPr>
        <p:spPr>
          <a:xfrm>
            <a:off x="457200" y="3177540"/>
            <a:ext cx="182880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6" name="Text 4"/>
          <p:cNvSpPr txBox="1"/>
          <p:nvPr/>
        </p:nvSpPr>
        <p:spPr>
          <a:xfrm>
            <a:off x="457200" y="3726180"/>
            <a:ext cx="1828800" cy="548640"/>
          </a:xfrm>
          <a:prstGeom prst="rect">
            <a:avLst/>
          </a:prstGeom>
          <a:noFill/>
          <a:ln/>
        </p:spPr>
        <p:txBody>
          <a:bodyPr wrap="square" rtlCol="0" anchor="t"/>
          <a:lstStyle/>
          <a:p>
            <a:pPr algn="ctr" indent="0" marL="0">
              <a:buNone/>
            </a:pPr>
            <a:r>
              <a:rPr lang="en-US" sz="1300" b="1" dirty="0">
                <a:solidFill>
                  <a:srgbClr val="1E2761"/>
                </a:solidFill>
                <a:latin typeface="Cambria" pitchFamily="34" charset="0"/>
                <a:ea typeface="Cambria" pitchFamily="34" charset="-122"/>
                <a:cs typeface="Cambria" pitchFamily="34" charset="-120"/>
              </a:rPr>
              <a:t>STUDENT</a:t>
            </a:r>
            <a:endParaRPr lang="en-US" sz="1300" dirty="0"/>
          </a:p>
        </p:txBody>
      </p:sp>
      <p:sp>
        <p:nvSpPr>
          <p:cNvPr id="7" name="Shape 5"/>
          <p:cNvSpPr/>
          <p:nvPr/>
        </p:nvSpPr>
        <p:spPr>
          <a:xfrm>
            <a:off x="2322576" y="3639312"/>
            <a:ext cx="310896" cy="219456"/>
          </a:xfrm>
          <a:prstGeom prst="rightArrow">
            <a:avLst/>
          </a:prstGeom>
          <a:solidFill>
            <a:srgbClr val="F2A93B"/>
          </a:solidFill>
          <a:ln/>
        </p:spPr>
      </p:sp>
      <p:sp>
        <p:nvSpPr>
          <p:cNvPr id="8" name="Text 6"/>
          <p:cNvSpPr txBox="1"/>
          <p:nvPr/>
        </p:nvSpPr>
        <p:spPr>
          <a:xfrm>
            <a:off x="1783080" y="2583180"/>
            <a:ext cx="1389888" cy="292608"/>
          </a:xfrm>
          <a:prstGeom prst="rect">
            <a:avLst/>
          </a:prstGeom>
          <a:noFill/>
          <a:ln/>
        </p:spPr>
        <p:txBody>
          <a:bodyPr wrap="square"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assigned to</a:t>
            </a:r>
            <a:endParaRPr lang="en-US" sz="1000" dirty="0"/>
          </a:p>
        </p:txBody>
      </p:sp>
      <p:sp>
        <p:nvSpPr>
          <p:cNvPr id="9" name="Shape 7"/>
          <p:cNvSpPr/>
          <p:nvPr/>
        </p:nvSpPr>
        <p:spPr>
          <a:xfrm>
            <a:off x="2670048" y="3040380"/>
            <a:ext cx="1828800" cy="1417320"/>
          </a:xfrm>
          <a:prstGeom prst="roundRect">
            <a:avLst>
              <a:gd name="adj" fmla="val 6452"/>
            </a:avLst>
          </a:prstGeom>
          <a:solidFill>
            <a:srgbClr val="FFFFFF"/>
          </a:solidFill>
          <a:ln/>
        </p:spPr>
      </p:sp>
      <p:sp>
        <p:nvSpPr>
          <p:cNvPr id="10" name="Text 8"/>
          <p:cNvSpPr txBox="1"/>
          <p:nvPr/>
        </p:nvSpPr>
        <p:spPr>
          <a:xfrm>
            <a:off x="2670048" y="3177540"/>
            <a:ext cx="182880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1" name="Text 9"/>
          <p:cNvSpPr txBox="1"/>
          <p:nvPr/>
        </p:nvSpPr>
        <p:spPr>
          <a:xfrm>
            <a:off x="2670048" y="3726180"/>
            <a:ext cx="1828800" cy="548640"/>
          </a:xfrm>
          <a:prstGeom prst="rect">
            <a:avLst/>
          </a:prstGeom>
          <a:noFill/>
          <a:ln/>
        </p:spPr>
        <p:txBody>
          <a:bodyPr wrap="square" rtlCol="0" anchor="t"/>
          <a:lstStyle/>
          <a:p>
            <a:pPr algn="ctr" indent="0" marL="0">
              <a:buNone/>
            </a:pPr>
            <a:r>
              <a:rPr lang="en-US" sz="1300" b="1" dirty="0">
                <a:solidFill>
                  <a:srgbClr val="1E2761"/>
                </a:solidFill>
                <a:latin typeface="Cambria" pitchFamily="34" charset="0"/>
                <a:ea typeface="Cambria" pitchFamily="34" charset="-122"/>
                <a:cs typeface="Cambria" pitchFamily="34" charset="-120"/>
              </a:rPr>
              <a:t>PICKUP POINT</a:t>
            </a:r>
            <a:endParaRPr lang="en-US" sz="1300" dirty="0"/>
          </a:p>
        </p:txBody>
      </p:sp>
      <p:sp>
        <p:nvSpPr>
          <p:cNvPr id="12" name="Shape 10"/>
          <p:cNvSpPr/>
          <p:nvPr/>
        </p:nvSpPr>
        <p:spPr>
          <a:xfrm>
            <a:off x="4535424" y="3639312"/>
            <a:ext cx="310896" cy="219456"/>
          </a:xfrm>
          <a:prstGeom prst="rightArrow">
            <a:avLst/>
          </a:prstGeom>
          <a:solidFill>
            <a:srgbClr val="F2A93B"/>
          </a:solidFill>
          <a:ln/>
        </p:spPr>
      </p:sp>
      <p:sp>
        <p:nvSpPr>
          <p:cNvPr id="13" name="Text 11"/>
          <p:cNvSpPr txBox="1"/>
          <p:nvPr/>
        </p:nvSpPr>
        <p:spPr>
          <a:xfrm>
            <a:off x="3995928" y="2583180"/>
            <a:ext cx="1389888" cy="292608"/>
          </a:xfrm>
          <a:prstGeom prst="rect">
            <a:avLst/>
          </a:prstGeom>
          <a:noFill/>
          <a:ln/>
        </p:spPr>
        <p:txBody>
          <a:bodyPr wrap="square"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belongs to</a:t>
            </a:r>
            <a:endParaRPr lang="en-US" sz="1000" dirty="0"/>
          </a:p>
        </p:txBody>
      </p:sp>
      <p:sp>
        <p:nvSpPr>
          <p:cNvPr id="14" name="Shape 12"/>
          <p:cNvSpPr/>
          <p:nvPr/>
        </p:nvSpPr>
        <p:spPr>
          <a:xfrm>
            <a:off x="4882896" y="3040380"/>
            <a:ext cx="1828800" cy="1417320"/>
          </a:xfrm>
          <a:prstGeom prst="roundRect">
            <a:avLst>
              <a:gd name="adj" fmla="val 6452"/>
            </a:avLst>
          </a:prstGeom>
          <a:solidFill>
            <a:srgbClr val="FFFFFF"/>
          </a:solidFill>
          <a:ln/>
        </p:spPr>
      </p:sp>
      <p:sp>
        <p:nvSpPr>
          <p:cNvPr id="15" name="Text 13"/>
          <p:cNvSpPr txBox="1"/>
          <p:nvPr/>
        </p:nvSpPr>
        <p:spPr>
          <a:xfrm>
            <a:off x="4882896" y="3177540"/>
            <a:ext cx="182880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6" name="Text 14"/>
          <p:cNvSpPr txBox="1"/>
          <p:nvPr/>
        </p:nvSpPr>
        <p:spPr>
          <a:xfrm>
            <a:off x="4882896" y="3726180"/>
            <a:ext cx="1828800" cy="548640"/>
          </a:xfrm>
          <a:prstGeom prst="rect">
            <a:avLst/>
          </a:prstGeom>
          <a:noFill/>
          <a:ln/>
        </p:spPr>
        <p:txBody>
          <a:bodyPr wrap="square" rtlCol="0" anchor="t"/>
          <a:lstStyle/>
          <a:p>
            <a:pPr algn="ctr" indent="0" marL="0">
              <a:buNone/>
            </a:pPr>
            <a:r>
              <a:rPr lang="en-US" sz="1300" b="1" dirty="0">
                <a:solidFill>
                  <a:srgbClr val="1E2761"/>
                </a:solidFill>
                <a:latin typeface="Cambria" pitchFamily="34" charset="0"/>
                <a:ea typeface="Cambria" pitchFamily="34" charset="-122"/>
                <a:cs typeface="Cambria" pitchFamily="34" charset="-120"/>
              </a:rPr>
              <a:t>ROUTE</a:t>
            </a:r>
            <a:endParaRPr lang="en-US" sz="1300" dirty="0"/>
          </a:p>
        </p:txBody>
      </p:sp>
      <p:sp>
        <p:nvSpPr>
          <p:cNvPr id="17" name="Shape 15"/>
          <p:cNvSpPr/>
          <p:nvPr/>
        </p:nvSpPr>
        <p:spPr>
          <a:xfrm>
            <a:off x="6748272" y="3639312"/>
            <a:ext cx="310896" cy="219456"/>
          </a:xfrm>
          <a:prstGeom prst="rightArrow">
            <a:avLst/>
          </a:prstGeom>
          <a:solidFill>
            <a:srgbClr val="F2A93B"/>
          </a:solidFill>
          <a:ln/>
        </p:spPr>
      </p:sp>
      <p:sp>
        <p:nvSpPr>
          <p:cNvPr id="18" name="Text 16"/>
          <p:cNvSpPr txBox="1"/>
          <p:nvPr/>
        </p:nvSpPr>
        <p:spPr>
          <a:xfrm>
            <a:off x="6208776" y="2583180"/>
            <a:ext cx="1389888" cy="292608"/>
          </a:xfrm>
          <a:prstGeom prst="rect">
            <a:avLst/>
          </a:prstGeom>
          <a:noFill/>
          <a:ln/>
        </p:spPr>
        <p:txBody>
          <a:bodyPr wrap="square"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assigned to</a:t>
            </a:r>
            <a:endParaRPr lang="en-US" sz="1000" dirty="0"/>
          </a:p>
        </p:txBody>
      </p:sp>
      <p:sp>
        <p:nvSpPr>
          <p:cNvPr id="19" name="Shape 17"/>
          <p:cNvSpPr/>
          <p:nvPr/>
        </p:nvSpPr>
        <p:spPr>
          <a:xfrm>
            <a:off x="7095744" y="3040380"/>
            <a:ext cx="1828800" cy="1417320"/>
          </a:xfrm>
          <a:prstGeom prst="roundRect">
            <a:avLst>
              <a:gd name="adj" fmla="val 6452"/>
            </a:avLst>
          </a:prstGeom>
          <a:solidFill>
            <a:srgbClr val="FFFFFF"/>
          </a:solidFill>
          <a:ln/>
        </p:spPr>
      </p:sp>
      <p:sp>
        <p:nvSpPr>
          <p:cNvPr id="20" name="Text 18"/>
          <p:cNvSpPr txBox="1"/>
          <p:nvPr/>
        </p:nvSpPr>
        <p:spPr>
          <a:xfrm>
            <a:off x="7095744" y="3177540"/>
            <a:ext cx="182880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1" name="Text 19"/>
          <p:cNvSpPr txBox="1"/>
          <p:nvPr/>
        </p:nvSpPr>
        <p:spPr>
          <a:xfrm>
            <a:off x="7095744" y="3726180"/>
            <a:ext cx="1828800" cy="548640"/>
          </a:xfrm>
          <a:prstGeom prst="rect">
            <a:avLst/>
          </a:prstGeom>
          <a:noFill/>
          <a:ln/>
        </p:spPr>
        <p:txBody>
          <a:bodyPr wrap="square" rtlCol="0" anchor="t"/>
          <a:lstStyle/>
          <a:p>
            <a:pPr algn="ctr" indent="0" marL="0">
              <a:buNone/>
            </a:pPr>
            <a:r>
              <a:rPr lang="en-US" sz="1300" b="1" dirty="0">
                <a:solidFill>
                  <a:srgbClr val="1E2761"/>
                </a:solidFill>
                <a:latin typeface="Cambria" pitchFamily="34" charset="0"/>
                <a:ea typeface="Cambria" pitchFamily="34" charset="-122"/>
                <a:cs typeface="Cambria" pitchFamily="34" charset="-120"/>
              </a:rPr>
              <a:t>BUS</a:t>
            </a:r>
            <a:endParaRPr lang="en-US" sz="1300" dirty="0"/>
          </a:p>
        </p:txBody>
      </p:sp>
      <p:sp>
        <p:nvSpPr>
          <p:cNvPr id="22" name="Shape 20"/>
          <p:cNvSpPr/>
          <p:nvPr/>
        </p:nvSpPr>
        <p:spPr>
          <a:xfrm>
            <a:off x="8961120" y="3639312"/>
            <a:ext cx="310896" cy="219456"/>
          </a:xfrm>
          <a:prstGeom prst="rightArrow">
            <a:avLst/>
          </a:prstGeom>
          <a:solidFill>
            <a:srgbClr val="F2A93B"/>
          </a:solidFill>
          <a:ln/>
        </p:spPr>
      </p:sp>
      <p:sp>
        <p:nvSpPr>
          <p:cNvPr id="23" name="Text 21"/>
          <p:cNvSpPr txBox="1"/>
          <p:nvPr/>
        </p:nvSpPr>
        <p:spPr>
          <a:xfrm>
            <a:off x="8421624" y="2583180"/>
            <a:ext cx="1389888" cy="292608"/>
          </a:xfrm>
          <a:prstGeom prst="rect">
            <a:avLst/>
          </a:prstGeom>
          <a:noFill/>
          <a:ln/>
        </p:spPr>
        <p:txBody>
          <a:bodyPr wrap="square"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driven by</a:t>
            </a:r>
            <a:endParaRPr lang="en-US" sz="1000" dirty="0"/>
          </a:p>
        </p:txBody>
      </p:sp>
      <p:sp>
        <p:nvSpPr>
          <p:cNvPr id="24" name="Shape 22"/>
          <p:cNvSpPr/>
          <p:nvPr/>
        </p:nvSpPr>
        <p:spPr>
          <a:xfrm>
            <a:off x="9308592" y="3040380"/>
            <a:ext cx="1828800" cy="1417320"/>
          </a:xfrm>
          <a:prstGeom prst="roundRect">
            <a:avLst>
              <a:gd name="adj" fmla="val 6452"/>
            </a:avLst>
          </a:prstGeom>
          <a:solidFill>
            <a:srgbClr val="FFFFFF"/>
          </a:solidFill>
          <a:ln/>
        </p:spPr>
      </p:sp>
      <p:sp>
        <p:nvSpPr>
          <p:cNvPr id="25" name="Text 23"/>
          <p:cNvSpPr txBox="1"/>
          <p:nvPr/>
        </p:nvSpPr>
        <p:spPr>
          <a:xfrm>
            <a:off x="9308592" y="3177540"/>
            <a:ext cx="182880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6" name="Text 24"/>
          <p:cNvSpPr txBox="1"/>
          <p:nvPr/>
        </p:nvSpPr>
        <p:spPr>
          <a:xfrm>
            <a:off x="9308592" y="3726180"/>
            <a:ext cx="1828800" cy="548640"/>
          </a:xfrm>
          <a:prstGeom prst="rect">
            <a:avLst/>
          </a:prstGeom>
          <a:noFill/>
          <a:ln/>
        </p:spPr>
        <p:txBody>
          <a:bodyPr wrap="square" rtlCol="0" anchor="t"/>
          <a:lstStyle/>
          <a:p>
            <a:pPr algn="ctr" indent="0" marL="0">
              <a:buNone/>
            </a:pPr>
            <a:r>
              <a:rPr lang="en-US" sz="1300" b="1" dirty="0">
                <a:solidFill>
                  <a:srgbClr val="1E2761"/>
                </a:solidFill>
                <a:latin typeface="Cambria" pitchFamily="34" charset="0"/>
                <a:ea typeface="Cambria" pitchFamily="34" charset="-122"/>
                <a:cs typeface="Cambria" pitchFamily="34" charset="-120"/>
              </a:rPr>
              <a:t>DRIVER</a:t>
            </a:r>
            <a:endParaRPr lang="en-US" sz="1300" dirty="0"/>
          </a:p>
        </p:txBody>
      </p:sp>
      <p:sp>
        <p:nvSpPr>
          <p:cNvPr id="27" name="Shape 25"/>
          <p:cNvSpPr/>
          <p:nvPr/>
        </p:nvSpPr>
        <p:spPr>
          <a:xfrm>
            <a:off x="914400" y="5212080"/>
            <a:ext cx="10360152" cy="1234440"/>
          </a:xfrm>
          <a:prstGeom prst="roundRect">
            <a:avLst>
              <a:gd name="adj" fmla="val 7407"/>
            </a:avLst>
          </a:prstGeom>
          <a:solidFill>
            <a:srgbClr val="263578"/>
          </a:solidFill>
          <a:ln/>
        </p:spPr>
      </p:sp>
      <p:sp>
        <p:nvSpPr>
          <p:cNvPr id="28" name="Text 26"/>
          <p:cNvSpPr txBox="1"/>
          <p:nvPr/>
        </p:nvSpPr>
        <p:spPr>
          <a:xfrm>
            <a:off x="1188720" y="5212080"/>
            <a:ext cx="9811512" cy="1234440"/>
          </a:xfrm>
          <a:prstGeom prst="rect">
            <a:avLst/>
          </a:prstGeom>
          <a:noFill/>
          <a:ln/>
        </p:spPr>
        <p:txBody>
          <a:bodyPr wrap="square" rtlCol="0" anchor="ctr"/>
          <a:lstStyle/>
          <a:p>
            <a:pPr algn="ctr" indent="0" marL="0">
              <a:lnSpc>
                <a:spcPct val="125000"/>
              </a:lnSpc>
              <a:buNone/>
            </a:pPr>
            <a:r>
              <a:rPr lang="en-US" sz="1400" i="1" dirty="0">
                <a:solidFill>
                  <a:srgbClr val="FFFFFF"/>
                </a:solidFill>
                <a:latin typeface="Calibri" pitchFamily="34" charset="0"/>
                <a:ea typeface="Calibri" pitchFamily="34" charset="-122"/>
                <a:cs typeface="Calibri" pitchFamily="34" charset="-120"/>
              </a:rPr>
              <a:t>A student is assigned to a pickup point. That pickup point belongs to a particular route. The route is serviced by a bus, and the bus has an assigned driver.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PROPOSED WORKING APPROACH</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How I Will Develop the System</a:t>
            </a:r>
            <a:endParaRPr lang="en-US" sz="3000" dirty="0"/>
          </a:p>
        </p:txBody>
      </p:sp>
      <p:sp>
        <p:nvSpPr>
          <p:cNvPr id="4" name="Shape 2"/>
          <p:cNvSpPr/>
          <p:nvPr/>
        </p:nvSpPr>
        <p:spPr>
          <a:xfrm>
            <a:off x="548640" y="1691640"/>
            <a:ext cx="1975104" cy="1234440"/>
          </a:xfrm>
          <a:prstGeom prst="roundRect">
            <a:avLst>
              <a:gd name="adj" fmla="val 5926"/>
            </a:avLst>
          </a:prstGeom>
          <a:solidFill>
            <a:srgbClr val="1E2761"/>
          </a:solidFill>
          <a:ln/>
        </p:spPr>
      </p:sp>
      <p:sp>
        <p:nvSpPr>
          <p:cNvPr id="5" name="Text 3"/>
          <p:cNvSpPr txBox="1"/>
          <p:nvPr/>
        </p:nvSpPr>
        <p:spPr>
          <a:xfrm>
            <a:off x="640080" y="1764792"/>
            <a:ext cx="457200" cy="365760"/>
          </a:xfrm>
          <a:prstGeom prst="rect">
            <a:avLst/>
          </a:prstGeom>
          <a:noFill/>
          <a:ln/>
        </p:spPr>
        <p:txBody>
          <a:bodyPr wrap="square" rtlCol="0" anchor="ctr"/>
          <a:lstStyle/>
          <a:p>
            <a:pPr indent="0" marL="0">
              <a:buNone/>
            </a:pPr>
            <a:r>
              <a:rPr lang="en-US" sz="1300" b="1" dirty="0">
                <a:solidFill>
                  <a:srgbClr val="F2A93B"/>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658368" y="2075688"/>
            <a:ext cx="1755648" cy="777240"/>
          </a:xfrm>
          <a:prstGeom prst="rect">
            <a:avLst/>
          </a:prstGeom>
          <a:noFill/>
          <a:ln/>
        </p:spPr>
        <p:txBody>
          <a:bodyPr wrap="square" rtlCol="0" anchor="t"/>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Understand Problem</a:t>
            </a:r>
            <a:endParaRPr lang="en-US" sz="1200" dirty="0"/>
          </a:p>
        </p:txBody>
      </p:sp>
      <p:sp>
        <p:nvSpPr>
          <p:cNvPr id="7" name="Shape 5"/>
          <p:cNvSpPr/>
          <p:nvPr/>
        </p:nvSpPr>
        <p:spPr>
          <a:xfrm>
            <a:off x="2532888" y="2226564"/>
            <a:ext cx="109728" cy="164592"/>
          </a:xfrm>
          <a:prstGeom prst="rightArrow">
            <a:avLst/>
          </a:prstGeom>
          <a:solidFill>
            <a:srgbClr val="F2A93B"/>
          </a:solidFill>
          <a:ln/>
        </p:spPr>
      </p:sp>
      <p:sp>
        <p:nvSpPr>
          <p:cNvPr id="8" name="Shape 6"/>
          <p:cNvSpPr/>
          <p:nvPr/>
        </p:nvSpPr>
        <p:spPr>
          <a:xfrm>
            <a:off x="2651760" y="1691640"/>
            <a:ext cx="1975104" cy="1234440"/>
          </a:xfrm>
          <a:prstGeom prst="roundRect">
            <a:avLst>
              <a:gd name="adj" fmla="val 5926"/>
            </a:avLst>
          </a:prstGeom>
          <a:solidFill>
            <a:srgbClr val="2C3B85"/>
          </a:solidFill>
          <a:ln/>
        </p:spPr>
      </p:sp>
      <p:sp>
        <p:nvSpPr>
          <p:cNvPr id="9" name="Text 7"/>
          <p:cNvSpPr txBox="1"/>
          <p:nvPr/>
        </p:nvSpPr>
        <p:spPr>
          <a:xfrm>
            <a:off x="2743200" y="1764792"/>
            <a:ext cx="457200" cy="365760"/>
          </a:xfrm>
          <a:prstGeom prst="rect">
            <a:avLst/>
          </a:prstGeom>
          <a:noFill/>
          <a:ln/>
        </p:spPr>
        <p:txBody>
          <a:bodyPr wrap="square" rtlCol="0" anchor="ctr"/>
          <a:lstStyle/>
          <a:p>
            <a:pPr indent="0" marL="0">
              <a:buNone/>
            </a:pPr>
            <a:r>
              <a:rPr lang="en-US" sz="1300" b="1" dirty="0">
                <a:solidFill>
                  <a:srgbClr val="F2A93B"/>
                </a:solidFill>
                <a:latin typeface="Cambria" pitchFamily="34" charset="0"/>
                <a:ea typeface="Cambria" pitchFamily="34" charset="-122"/>
                <a:cs typeface="Cambria" pitchFamily="34" charset="-120"/>
              </a:rPr>
              <a:t>2</a:t>
            </a:r>
            <a:endParaRPr lang="en-US" sz="1300" dirty="0"/>
          </a:p>
        </p:txBody>
      </p:sp>
      <p:sp>
        <p:nvSpPr>
          <p:cNvPr id="10" name="Text 8"/>
          <p:cNvSpPr txBox="1"/>
          <p:nvPr/>
        </p:nvSpPr>
        <p:spPr>
          <a:xfrm>
            <a:off x="2761488" y="2075688"/>
            <a:ext cx="1755648" cy="777240"/>
          </a:xfrm>
          <a:prstGeom prst="rect">
            <a:avLst/>
          </a:prstGeom>
          <a:noFill/>
          <a:ln/>
        </p:spPr>
        <p:txBody>
          <a:bodyPr wrap="square" rtlCol="0" anchor="t"/>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Identify Entities</a:t>
            </a:r>
            <a:endParaRPr lang="en-US" sz="1200" dirty="0"/>
          </a:p>
        </p:txBody>
      </p:sp>
      <p:sp>
        <p:nvSpPr>
          <p:cNvPr id="11" name="Shape 9"/>
          <p:cNvSpPr/>
          <p:nvPr/>
        </p:nvSpPr>
        <p:spPr>
          <a:xfrm>
            <a:off x="4636008" y="2226564"/>
            <a:ext cx="109728" cy="164592"/>
          </a:xfrm>
          <a:prstGeom prst="rightArrow">
            <a:avLst/>
          </a:prstGeom>
          <a:solidFill>
            <a:srgbClr val="F2A93B"/>
          </a:solidFill>
          <a:ln/>
        </p:spPr>
      </p:sp>
      <p:sp>
        <p:nvSpPr>
          <p:cNvPr id="12" name="Shape 10"/>
          <p:cNvSpPr/>
          <p:nvPr/>
        </p:nvSpPr>
        <p:spPr>
          <a:xfrm>
            <a:off x="4754880" y="1691640"/>
            <a:ext cx="1975104" cy="1234440"/>
          </a:xfrm>
          <a:prstGeom prst="roundRect">
            <a:avLst>
              <a:gd name="adj" fmla="val 5926"/>
            </a:avLst>
          </a:prstGeom>
          <a:solidFill>
            <a:srgbClr val="1E2761"/>
          </a:solidFill>
          <a:ln/>
        </p:spPr>
      </p:sp>
      <p:sp>
        <p:nvSpPr>
          <p:cNvPr id="13" name="Text 11"/>
          <p:cNvSpPr txBox="1"/>
          <p:nvPr/>
        </p:nvSpPr>
        <p:spPr>
          <a:xfrm>
            <a:off x="4846320" y="1764792"/>
            <a:ext cx="457200" cy="365760"/>
          </a:xfrm>
          <a:prstGeom prst="rect">
            <a:avLst/>
          </a:prstGeom>
          <a:noFill/>
          <a:ln/>
        </p:spPr>
        <p:txBody>
          <a:bodyPr wrap="square" rtlCol="0" anchor="ctr"/>
          <a:lstStyle/>
          <a:p>
            <a:pPr indent="0" marL="0">
              <a:buNone/>
            </a:pPr>
            <a:r>
              <a:rPr lang="en-US" sz="1300" b="1" dirty="0">
                <a:solidFill>
                  <a:srgbClr val="F2A93B"/>
                </a:solidFill>
                <a:latin typeface="Cambria" pitchFamily="34" charset="0"/>
                <a:ea typeface="Cambria" pitchFamily="34" charset="-122"/>
                <a:cs typeface="Cambria" pitchFamily="34" charset="-120"/>
              </a:rPr>
              <a:t>3</a:t>
            </a:r>
            <a:endParaRPr lang="en-US" sz="1300" dirty="0"/>
          </a:p>
        </p:txBody>
      </p:sp>
      <p:sp>
        <p:nvSpPr>
          <p:cNvPr id="14" name="Text 12"/>
          <p:cNvSpPr txBox="1"/>
          <p:nvPr/>
        </p:nvSpPr>
        <p:spPr>
          <a:xfrm>
            <a:off x="4864608" y="2075688"/>
            <a:ext cx="1755648" cy="777240"/>
          </a:xfrm>
          <a:prstGeom prst="rect">
            <a:avLst/>
          </a:prstGeom>
          <a:noFill/>
          <a:ln/>
        </p:spPr>
        <p:txBody>
          <a:bodyPr wrap="square" rtlCol="0" anchor="t"/>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Define Attributes</a:t>
            </a:r>
            <a:endParaRPr lang="en-US" sz="1200" dirty="0"/>
          </a:p>
        </p:txBody>
      </p:sp>
      <p:sp>
        <p:nvSpPr>
          <p:cNvPr id="15" name="Shape 13"/>
          <p:cNvSpPr/>
          <p:nvPr/>
        </p:nvSpPr>
        <p:spPr>
          <a:xfrm>
            <a:off x="6739128" y="2226564"/>
            <a:ext cx="109728" cy="164592"/>
          </a:xfrm>
          <a:prstGeom prst="rightArrow">
            <a:avLst/>
          </a:prstGeom>
          <a:solidFill>
            <a:srgbClr val="F2A93B"/>
          </a:solidFill>
          <a:ln/>
        </p:spPr>
      </p:sp>
      <p:sp>
        <p:nvSpPr>
          <p:cNvPr id="16" name="Shape 14"/>
          <p:cNvSpPr/>
          <p:nvPr/>
        </p:nvSpPr>
        <p:spPr>
          <a:xfrm>
            <a:off x="6858000" y="1691640"/>
            <a:ext cx="1975104" cy="1234440"/>
          </a:xfrm>
          <a:prstGeom prst="roundRect">
            <a:avLst>
              <a:gd name="adj" fmla="val 5926"/>
            </a:avLst>
          </a:prstGeom>
          <a:solidFill>
            <a:srgbClr val="2C3B85"/>
          </a:solidFill>
          <a:ln/>
        </p:spPr>
      </p:sp>
      <p:sp>
        <p:nvSpPr>
          <p:cNvPr id="17" name="Text 15"/>
          <p:cNvSpPr txBox="1"/>
          <p:nvPr/>
        </p:nvSpPr>
        <p:spPr>
          <a:xfrm>
            <a:off x="6949440" y="1764792"/>
            <a:ext cx="457200" cy="365760"/>
          </a:xfrm>
          <a:prstGeom prst="rect">
            <a:avLst/>
          </a:prstGeom>
          <a:noFill/>
          <a:ln/>
        </p:spPr>
        <p:txBody>
          <a:bodyPr wrap="square" rtlCol="0" anchor="ctr"/>
          <a:lstStyle/>
          <a:p>
            <a:pPr indent="0" marL="0">
              <a:buNone/>
            </a:pPr>
            <a:r>
              <a:rPr lang="en-US" sz="1300" b="1" dirty="0">
                <a:solidFill>
                  <a:srgbClr val="F2A93B"/>
                </a:solidFill>
                <a:latin typeface="Cambria" pitchFamily="34" charset="0"/>
                <a:ea typeface="Cambria" pitchFamily="34" charset="-122"/>
                <a:cs typeface="Cambria" pitchFamily="34" charset="-120"/>
              </a:rPr>
              <a:t>4</a:t>
            </a:r>
            <a:endParaRPr lang="en-US" sz="1300" dirty="0"/>
          </a:p>
        </p:txBody>
      </p:sp>
      <p:sp>
        <p:nvSpPr>
          <p:cNvPr id="18" name="Text 16"/>
          <p:cNvSpPr txBox="1"/>
          <p:nvPr/>
        </p:nvSpPr>
        <p:spPr>
          <a:xfrm>
            <a:off x="6967728" y="2075688"/>
            <a:ext cx="1755648" cy="777240"/>
          </a:xfrm>
          <a:prstGeom prst="rect">
            <a:avLst/>
          </a:prstGeom>
          <a:noFill/>
          <a:ln/>
        </p:spPr>
        <p:txBody>
          <a:bodyPr wrap="square" rtlCol="0" anchor="t"/>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Establish Relationships</a:t>
            </a:r>
            <a:endParaRPr lang="en-US" sz="1200" dirty="0"/>
          </a:p>
        </p:txBody>
      </p:sp>
      <p:sp>
        <p:nvSpPr>
          <p:cNvPr id="19" name="Shape 17"/>
          <p:cNvSpPr/>
          <p:nvPr/>
        </p:nvSpPr>
        <p:spPr>
          <a:xfrm>
            <a:off x="8842248" y="2226564"/>
            <a:ext cx="109728" cy="164592"/>
          </a:xfrm>
          <a:prstGeom prst="rightArrow">
            <a:avLst/>
          </a:prstGeom>
          <a:solidFill>
            <a:srgbClr val="F2A93B"/>
          </a:solidFill>
          <a:ln/>
        </p:spPr>
      </p:sp>
      <p:sp>
        <p:nvSpPr>
          <p:cNvPr id="20" name="Shape 18"/>
          <p:cNvSpPr/>
          <p:nvPr/>
        </p:nvSpPr>
        <p:spPr>
          <a:xfrm>
            <a:off x="8961120" y="1691640"/>
            <a:ext cx="1975104" cy="1234440"/>
          </a:xfrm>
          <a:prstGeom prst="roundRect">
            <a:avLst>
              <a:gd name="adj" fmla="val 5926"/>
            </a:avLst>
          </a:prstGeom>
          <a:solidFill>
            <a:srgbClr val="1E2761"/>
          </a:solidFill>
          <a:ln/>
        </p:spPr>
      </p:sp>
      <p:sp>
        <p:nvSpPr>
          <p:cNvPr id="21" name="Text 19"/>
          <p:cNvSpPr txBox="1"/>
          <p:nvPr/>
        </p:nvSpPr>
        <p:spPr>
          <a:xfrm>
            <a:off x="9052560" y="1764792"/>
            <a:ext cx="457200" cy="365760"/>
          </a:xfrm>
          <a:prstGeom prst="rect">
            <a:avLst/>
          </a:prstGeom>
          <a:noFill/>
          <a:ln/>
        </p:spPr>
        <p:txBody>
          <a:bodyPr wrap="square" rtlCol="0" anchor="ctr"/>
          <a:lstStyle/>
          <a:p>
            <a:pPr indent="0" marL="0">
              <a:buNone/>
            </a:pPr>
            <a:r>
              <a:rPr lang="en-US" sz="1300" b="1" dirty="0">
                <a:solidFill>
                  <a:srgbClr val="F2A93B"/>
                </a:solidFill>
                <a:latin typeface="Cambria" pitchFamily="34" charset="0"/>
                <a:ea typeface="Cambria" pitchFamily="34" charset="-122"/>
                <a:cs typeface="Cambria" pitchFamily="34" charset="-120"/>
              </a:rPr>
              <a:t>5</a:t>
            </a:r>
            <a:endParaRPr lang="en-US" sz="1300" dirty="0"/>
          </a:p>
        </p:txBody>
      </p:sp>
      <p:sp>
        <p:nvSpPr>
          <p:cNvPr id="22" name="Text 20"/>
          <p:cNvSpPr txBox="1"/>
          <p:nvPr/>
        </p:nvSpPr>
        <p:spPr>
          <a:xfrm>
            <a:off x="9070848" y="2075688"/>
            <a:ext cx="1755648" cy="777240"/>
          </a:xfrm>
          <a:prstGeom prst="rect">
            <a:avLst/>
          </a:prstGeom>
          <a:noFill/>
          <a:ln/>
        </p:spPr>
        <p:txBody>
          <a:bodyPr wrap="square" rtlCol="0" anchor="t"/>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Create ER Diagram</a:t>
            </a:r>
            <a:endParaRPr lang="en-US" sz="1200" dirty="0"/>
          </a:p>
        </p:txBody>
      </p:sp>
      <p:sp>
        <p:nvSpPr>
          <p:cNvPr id="23" name="Shape 21"/>
          <p:cNvSpPr/>
          <p:nvPr/>
        </p:nvSpPr>
        <p:spPr>
          <a:xfrm>
            <a:off x="9838944" y="2971800"/>
            <a:ext cx="219456" cy="502920"/>
          </a:xfrm>
          <a:prstGeom prst="downArrow">
            <a:avLst/>
          </a:prstGeom>
          <a:solidFill>
            <a:srgbClr val="F2A93B"/>
          </a:solidFill>
          <a:ln/>
        </p:spPr>
      </p:sp>
      <p:sp>
        <p:nvSpPr>
          <p:cNvPr id="24" name="Shape 22"/>
          <p:cNvSpPr/>
          <p:nvPr/>
        </p:nvSpPr>
        <p:spPr>
          <a:xfrm>
            <a:off x="8961120" y="3794760"/>
            <a:ext cx="1975104" cy="1234440"/>
          </a:xfrm>
          <a:prstGeom prst="roundRect">
            <a:avLst>
              <a:gd name="adj" fmla="val 5926"/>
            </a:avLst>
          </a:prstGeom>
          <a:solidFill>
            <a:srgbClr val="2C3B85"/>
          </a:solidFill>
          <a:ln/>
        </p:spPr>
      </p:sp>
      <p:sp>
        <p:nvSpPr>
          <p:cNvPr id="25" name="Text 23"/>
          <p:cNvSpPr txBox="1"/>
          <p:nvPr/>
        </p:nvSpPr>
        <p:spPr>
          <a:xfrm>
            <a:off x="9052560" y="3867912"/>
            <a:ext cx="457200" cy="365760"/>
          </a:xfrm>
          <a:prstGeom prst="rect">
            <a:avLst/>
          </a:prstGeom>
          <a:noFill/>
          <a:ln/>
        </p:spPr>
        <p:txBody>
          <a:bodyPr wrap="square" rtlCol="0" anchor="ctr"/>
          <a:lstStyle/>
          <a:p>
            <a:pPr indent="0" marL="0">
              <a:buNone/>
            </a:pPr>
            <a:r>
              <a:rPr lang="en-US" sz="1300" b="1" dirty="0">
                <a:solidFill>
                  <a:srgbClr val="F2A93B"/>
                </a:solidFill>
                <a:latin typeface="Cambria" pitchFamily="34" charset="0"/>
                <a:ea typeface="Cambria" pitchFamily="34" charset="-122"/>
                <a:cs typeface="Cambria" pitchFamily="34" charset="-120"/>
              </a:rPr>
              <a:t>6</a:t>
            </a:r>
            <a:endParaRPr lang="en-US" sz="1300" dirty="0"/>
          </a:p>
        </p:txBody>
      </p:sp>
      <p:sp>
        <p:nvSpPr>
          <p:cNvPr id="26" name="Text 24"/>
          <p:cNvSpPr txBox="1"/>
          <p:nvPr/>
        </p:nvSpPr>
        <p:spPr>
          <a:xfrm>
            <a:off x="9070848" y="4178808"/>
            <a:ext cx="1755648" cy="777240"/>
          </a:xfrm>
          <a:prstGeom prst="rect">
            <a:avLst/>
          </a:prstGeom>
          <a:noFill/>
          <a:ln/>
        </p:spPr>
        <p:txBody>
          <a:bodyPr wrap="square" rtlCol="0" anchor="t"/>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Convert to Relational Schema</a:t>
            </a:r>
            <a:endParaRPr lang="en-US" sz="1200" dirty="0"/>
          </a:p>
        </p:txBody>
      </p:sp>
      <p:sp>
        <p:nvSpPr>
          <p:cNvPr id="27" name="Shape 25"/>
          <p:cNvSpPr/>
          <p:nvPr/>
        </p:nvSpPr>
        <p:spPr>
          <a:xfrm>
            <a:off x="8842248" y="4329684"/>
            <a:ext cx="109728" cy="164592"/>
          </a:xfrm>
          <a:prstGeom prst="leftArrow">
            <a:avLst/>
          </a:prstGeom>
          <a:solidFill>
            <a:srgbClr val="F2A93B"/>
          </a:solidFill>
          <a:ln/>
        </p:spPr>
      </p:sp>
      <p:sp>
        <p:nvSpPr>
          <p:cNvPr id="28" name="Shape 26"/>
          <p:cNvSpPr/>
          <p:nvPr/>
        </p:nvSpPr>
        <p:spPr>
          <a:xfrm>
            <a:off x="6858000" y="3794760"/>
            <a:ext cx="1975104" cy="1234440"/>
          </a:xfrm>
          <a:prstGeom prst="roundRect">
            <a:avLst>
              <a:gd name="adj" fmla="val 5926"/>
            </a:avLst>
          </a:prstGeom>
          <a:solidFill>
            <a:srgbClr val="1E2761"/>
          </a:solidFill>
          <a:ln/>
        </p:spPr>
      </p:sp>
      <p:sp>
        <p:nvSpPr>
          <p:cNvPr id="29" name="Text 27"/>
          <p:cNvSpPr txBox="1"/>
          <p:nvPr/>
        </p:nvSpPr>
        <p:spPr>
          <a:xfrm>
            <a:off x="6949440" y="3867912"/>
            <a:ext cx="457200" cy="365760"/>
          </a:xfrm>
          <a:prstGeom prst="rect">
            <a:avLst/>
          </a:prstGeom>
          <a:noFill/>
          <a:ln/>
        </p:spPr>
        <p:txBody>
          <a:bodyPr wrap="square" rtlCol="0" anchor="ctr"/>
          <a:lstStyle/>
          <a:p>
            <a:pPr indent="0" marL="0">
              <a:buNone/>
            </a:pPr>
            <a:r>
              <a:rPr lang="en-US" sz="1300" b="1" dirty="0">
                <a:solidFill>
                  <a:srgbClr val="F2A93B"/>
                </a:solidFill>
                <a:latin typeface="Cambria" pitchFamily="34" charset="0"/>
                <a:ea typeface="Cambria" pitchFamily="34" charset="-122"/>
                <a:cs typeface="Cambria" pitchFamily="34" charset="-120"/>
              </a:rPr>
              <a:t>7</a:t>
            </a:r>
            <a:endParaRPr lang="en-US" sz="1300" dirty="0"/>
          </a:p>
        </p:txBody>
      </p:sp>
      <p:sp>
        <p:nvSpPr>
          <p:cNvPr id="30" name="Text 28"/>
          <p:cNvSpPr txBox="1"/>
          <p:nvPr/>
        </p:nvSpPr>
        <p:spPr>
          <a:xfrm>
            <a:off x="6967728" y="4178808"/>
            <a:ext cx="1755648" cy="777240"/>
          </a:xfrm>
          <a:prstGeom prst="rect">
            <a:avLst/>
          </a:prstGeom>
          <a:noFill/>
          <a:ln/>
        </p:spPr>
        <p:txBody>
          <a:bodyPr wrap="square" rtlCol="0" anchor="t"/>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Normalize Tables</a:t>
            </a:r>
            <a:endParaRPr lang="en-US" sz="1200" dirty="0"/>
          </a:p>
        </p:txBody>
      </p:sp>
      <p:sp>
        <p:nvSpPr>
          <p:cNvPr id="31" name="Shape 29"/>
          <p:cNvSpPr/>
          <p:nvPr/>
        </p:nvSpPr>
        <p:spPr>
          <a:xfrm>
            <a:off x="6739128" y="4329684"/>
            <a:ext cx="109728" cy="164592"/>
          </a:xfrm>
          <a:prstGeom prst="leftArrow">
            <a:avLst/>
          </a:prstGeom>
          <a:solidFill>
            <a:srgbClr val="F2A93B"/>
          </a:solidFill>
          <a:ln/>
        </p:spPr>
      </p:sp>
      <p:sp>
        <p:nvSpPr>
          <p:cNvPr id="32" name="Shape 30"/>
          <p:cNvSpPr/>
          <p:nvPr/>
        </p:nvSpPr>
        <p:spPr>
          <a:xfrm>
            <a:off x="4754880" y="3794760"/>
            <a:ext cx="1975104" cy="1234440"/>
          </a:xfrm>
          <a:prstGeom prst="roundRect">
            <a:avLst>
              <a:gd name="adj" fmla="val 5926"/>
            </a:avLst>
          </a:prstGeom>
          <a:solidFill>
            <a:srgbClr val="2C3B85"/>
          </a:solidFill>
          <a:ln/>
        </p:spPr>
      </p:sp>
      <p:sp>
        <p:nvSpPr>
          <p:cNvPr id="33" name="Text 31"/>
          <p:cNvSpPr txBox="1"/>
          <p:nvPr/>
        </p:nvSpPr>
        <p:spPr>
          <a:xfrm>
            <a:off x="4846320" y="3867912"/>
            <a:ext cx="457200" cy="365760"/>
          </a:xfrm>
          <a:prstGeom prst="rect">
            <a:avLst/>
          </a:prstGeom>
          <a:noFill/>
          <a:ln/>
        </p:spPr>
        <p:txBody>
          <a:bodyPr wrap="square" rtlCol="0" anchor="ctr"/>
          <a:lstStyle/>
          <a:p>
            <a:pPr indent="0" marL="0">
              <a:buNone/>
            </a:pPr>
            <a:r>
              <a:rPr lang="en-US" sz="1300" b="1" dirty="0">
                <a:solidFill>
                  <a:srgbClr val="F2A93B"/>
                </a:solidFill>
                <a:latin typeface="Cambria" pitchFamily="34" charset="0"/>
                <a:ea typeface="Cambria" pitchFamily="34" charset="-122"/>
                <a:cs typeface="Cambria" pitchFamily="34" charset="-120"/>
              </a:rPr>
              <a:t>8</a:t>
            </a:r>
            <a:endParaRPr lang="en-US" sz="1300" dirty="0"/>
          </a:p>
        </p:txBody>
      </p:sp>
      <p:sp>
        <p:nvSpPr>
          <p:cNvPr id="34" name="Text 32"/>
          <p:cNvSpPr txBox="1"/>
          <p:nvPr/>
        </p:nvSpPr>
        <p:spPr>
          <a:xfrm>
            <a:off x="4864608" y="4178808"/>
            <a:ext cx="1755648" cy="777240"/>
          </a:xfrm>
          <a:prstGeom prst="rect">
            <a:avLst/>
          </a:prstGeom>
          <a:noFill/>
          <a:ln/>
        </p:spPr>
        <p:txBody>
          <a:bodyPr wrap="square" rtlCol="0" anchor="t"/>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Implement in MySQL</a:t>
            </a:r>
            <a:endParaRPr lang="en-US" sz="1200" dirty="0"/>
          </a:p>
        </p:txBody>
      </p:sp>
      <p:sp>
        <p:nvSpPr>
          <p:cNvPr id="35" name="Shape 33"/>
          <p:cNvSpPr/>
          <p:nvPr/>
        </p:nvSpPr>
        <p:spPr>
          <a:xfrm>
            <a:off x="4636008" y="4329684"/>
            <a:ext cx="109728" cy="164592"/>
          </a:xfrm>
          <a:prstGeom prst="leftArrow">
            <a:avLst/>
          </a:prstGeom>
          <a:solidFill>
            <a:srgbClr val="F2A93B"/>
          </a:solidFill>
          <a:ln/>
        </p:spPr>
      </p:sp>
      <p:sp>
        <p:nvSpPr>
          <p:cNvPr id="36" name="Shape 34"/>
          <p:cNvSpPr/>
          <p:nvPr/>
        </p:nvSpPr>
        <p:spPr>
          <a:xfrm>
            <a:off x="2651760" y="3794760"/>
            <a:ext cx="1975104" cy="1234440"/>
          </a:xfrm>
          <a:prstGeom prst="roundRect">
            <a:avLst>
              <a:gd name="adj" fmla="val 5926"/>
            </a:avLst>
          </a:prstGeom>
          <a:solidFill>
            <a:srgbClr val="1E2761"/>
          </a:solidFill>
          <a:ln/>
        </p:spPr>
      </p:sp>
      <p:sp>
        <p:nvSpPr>
          <p:cNvPr id="37" name="Text 35"/>
          <p:cNvSpPr txBox="1"/>
          <p:nvPr/>
        </p:nvSpPr>
        <p:spPr>
          <a:xfrm>
            <a:off x="2743200" y="3867912"/>
            <a:ext cx="457200" cy="365760"/>
          </a:xfrm>
          <a:prstGeom prst="rect">
            <a:avLst/>
          </a:prstGeom>
          <a:noFill/>
          <a:ln/>
        </p:spPr>
        <p:txBody>
          <a:bodyPr wrap="square" rtlCol="0" anchor="ctr"/>
          <a:lstStyle/>
          <a:p>
            <a:pPr indent="0" marL="0">
              <a:buNone/>
            </a:pPr>
            <a:r>
              <a:rPr lang="en-US" sz="1300" b="1" dirty="0">
                <a:solidFill>
                  <a:srgbClr val="F2A93B"/>
                </a:solidFill>
                <a:latin typeface="Cambria" pitchFamily="34" charset="0"/>
                <a:ea typeface="Cambria" pitchFamily="34" charset="-122"/>
                <a:cs typeface="Cambria" pitchFamily="34" charset="-120"/>
              </a:rPr>
              <a:t>9</a:t>
            </a:r>
            <a:endParaRPr lang="en-US" sz="1300" dirty="0"/>
          </a:p>
        </p:txBody>
      </p:sp>
      <p:sp>
        <p:nvSpPr>
          <p:cNvPr id="38" name="Text 36"/>
          <p:cNvSpPr txBox="1"/>
          <p:nvPr/>
        </p:nvSpPr>
        <p:spPr>
          <a:xfrm>
            <a:off x="2761488" y="4178808"/>
            <a:ext cx="1755648" cy="777240"/>
          </a:xfrm>
          <a:prstGeom prst="rect">
            <a:avLst/>
          </a:prstGeom>
          <a:noFill/>
          <a:ln/>
        </p:spPr>
        <p:txBody>
          <a:bodyPr wrap="square" rtlCol="0" anchor="t"/>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Insert Sample Data</a:t>
            </a:r>
            <a:endParaRPr lang="en-US" sz="1200" dirty="0"/>
          </a:p>
        </p:txBody>
      </p:sp>
      <p:sp>
        <p:nvSpPr>
          <p:cNvPr id="39" name="Shape 37"/>
          <p:cNvSpPr/>
          <p:nvPr/>
        </p:nvSpPr>
        <p:spPr>
          <a:xfrm>
            <a:off x="2532888" y="4329684"/>
            <a:ext cx="109728" cy="164592"/>
          </a:xfrm>
          <a:prstGeom prst="leftArrow">
            <a:avLst/>
          </a:prstGeom>
          <a:solidFill>
            <a:srgbClr val="F2A93B"/>
          </a:solidFill>
          <a:ln/>
        </p:spPr>
      </p:sp>
      <p:sp>
        <p:nvSpPr>
          <p:cNvPr id="40" name="Shape 38"/>
          <p:cNvSpPr/>
          <p:nvPr/>
        </p:nvSpPr>
        <p:spPr>
          <a:xfrm>
            <a:off x="548640" y="3794760"/>
            <a:ext cx="1975104" cy="1234440"/>
          </a:xfrm>
          <a:prstGeom prst="roundRect">
            <a:avLst>
              <a:gd name="adj" fmla="val 5926"/>
            </a:avLst>
          </a:prstGeom>
          <a:solidFill>
            <a:srgbClr val="2C3B85"/>
          </a:solidFill>
          <a:ln/>
        </p:spPr>
      </p:sp>
      <p:sp>
        <p:nvSpPr>
          <p:cNvPr id="41" name="Text 39"/>
          <p:cNvSpPr txBox="1"/>
          <p:nvPr/>
        </p:nvSpPr>
        <p:spPr>
          <a:xfrm>
            <a:off x="640080" y="3867912"/>
            <a:ext cx="457200" cy="365760"/>
          </a:xfrm>
          <a:prstGeom prst="rect">
            <a:avLst/>
          </a:prstGeom>
          <a:noFill/>
          <a:ln/>
        </p:spPr>
        <p:txBody>
          <a:bodyPr wrap="square" rtlCol="0" anchor="ctr"/>
          <a:lstStyle/>
          <a:p>
            <a:pPr indent="0" marL="0">
              <a:buNone/>
            </a:pPr>
            <a:r>
              <a:rPr lang="en-US" sz="1300" b="1" dirty="0">
                <a:solidFill>
                  <a:srgbClr val="F2A93B"/>
                </a:solidFill>
                <a:latin typeface="Cambria" pitchFamily="34" charset="0"/>
                <a:ea typeface="Cambria" pitchFamily="34" charset="-122"/>
                <a:cs typeface="Cambria" pitchFamily="34" charset="-120"/>
              </a:rPr>
              <a:t>10</a:t>
            </a:r>
            <a:endParaRPr lang="en-US" sz="1300" dirty="0"/>
          </a:p>
        </p:txBody>
      </p:sp>
      <p:sp>
        <p:nvSpPr>
          <p:cNvPr id="42" name="Text 40"/>
          <p:cNvSpPr txBox="1"/>
          <p:nvPr/>
        </p:nvSpPr>
        <p:spPr>
          <a:xfrm>
            <a:off x="658368" y="4178808"/>
            <a:ext cx="1755648" cy="777240"/>
          </a:xfrm>
          <a:prstGeom prst="rect">
            <a:avLst/>
          </a:prstGeom>
          <a:noFill/>
          <a:ln/>
        </p:spPr>
        <p:txBody>
          <a:bodyPr wrap="square" rtlCol="0" anchor="t"/>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Write &amp; Test SQL Queries</a:t>
            </a:r>
            <a:endParaRPr lang="en-US" sz="1200" dirty="0"/>
          </a:p>
        </p:txBody>
      </p:sp>
      <p:sp>
        <p:nvSpPr>
          <p:cNvPr id="43" name="Shape 41"/>
          <p:cNvSpPr/>
          <p:nvPr/>
        </p:nvSpPr>
        <p:spPr>
          <a:xfrm>
            <a:off x="548640" y="5349240"/>
            <a:ext cx="11091672" cy="1005840"/>
          </a:xfrm>
          <a:prstGeom prst="roundRect">
            <a:avLst>
              <a:gd name="adj" fmla="val 7273"/>
            </a:avLst>
          </a:prstGeom>
          <a:solidFill>
            <a:srgbClr val="F4F7FD"/>
          </a:solidFill>
          <a:ln/>
        </p:spPr>
      </p:sp>
      <p:sp>
        <p:nvSpPr>
          <p:cNvPr id="44" name="Text 42"/>
          <p:cNvSpPr txBox="1"/>
          <p:nvPr/>
        </p:nvSpPr>
        <p:spPr>
          <a:xfrm>
            <a:off x="777240" y="5349240"/>
            <a:ext cx="10607040" cy="1005840"/>
          </a:xfrm>
          <a:prstGeom prst="rect">
            <a:avLst/>
          </a:prstGeom>
          <a:noFill/>
          <a:ln/>
        </p:spPr>
        <p:txBody>
          <a:bodyPr wrap="square" rtlCol="0" anchor="ctr"/>
          <a:lstStyle/>
          <a:p>
            <a:pPr indent="0" marL="0">
              <a:lnSpc>
                <a:spcPct val="120000"/>
              </a:lnSpc>
              <a:buNone/>
            </a:pPr>
            <a:r>
              <a:rPr lang="en-US" sz="1200" i="1" dirty="0">
                <a:solidFill>
                  <a:srgbClr val="1E2761"/>
                </a:solidFill>
                <a:latin typeface="Calibri" pitchFamily="34" charset="0"/>
                <a:ea typeface="Calibri" pitchFamily="34" charset="-122"/>
                <a:cs typeface="Calibri" pitchFamily="34" charset="-120"/>
              </a:rPr>
              <a:t>Start with conceptual design rather than SQL: identify entities &amp; relationships, build the ER model, convert to relational tables, normalize, implement in MySQL, populate with sample data, and test using SQL queries.</a:t>
            </a:r>
            <a:endParaRPr lang="en-US" sz="1200" dirty="0"/>
          </a:p>
        </p:txBody>
      </p:sp>
      <p:sp>
        <p:nvSpPr>
          <p:cNvPr id="45" name="Text 43"/>
          <p:cNvSpPr txBox="1"/>
          <p:nvPr/>
        </p:nvSpPr>
        <p:spPr>
          <a:xfrm>
            <a:off x="457200" y="6510528"/>
            <a:ext cx="7315200" cy="274320"/>
          </a:xfrm>
          <a:prstGeom prst="rect">
            <a:avLst/>
          </a:prstGeom>
          <a:noFill/>
          <a:ln/>
        </p:spPr>
        <p:txBody>
          <a:bodyPr wrap="square" rtlCol="0" anchor="ctr"/>
          <a:lstStyle/>
          <a:p>
            <a:pPr indent="0" marL="0">
              <a:buNone/>
            </a:pPr>
            <a:r>
              <a:rPr lang="en-US" sz="900" dirty="0">
                <a:solidFill>
                  <a:srgbClr val="5B6B8C"/>
                </a:solidFill>
                <a:latin typeface="Calibri" pitchFamily="34" charset="0"/>
                <a:ea typeface="Calibri" pitchFamily="34" charset="-122"/>
                <a:cs typeface="Calibri" pitchFamily="34" charset="-120"/>
              </a:rPr>
              <a:t>School Transport Route &amp; Student Pickup Management System</a:t>
            </a:r>
            <a:endParaRPr lang="en-US" sz="900" dirty="0"/>
          </a:p>
        </p:txBody>
      </p:sp>
      <p:sp>
        <p:nvSpPr>
          <p:cNvPr id="46" name="Text 44"/>
          <p:cNvSpPr txBox="1"/>
          <p:nvPr/>
        </p:nvSpPr>
        <p:spPr>
          <a:xfrm>
            <a:off x="11274552" y="6510528"/>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WHERE THIS PROJECT IS HEADED</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Expected Outcome &amp; Future Work</a:t>
            </a:r>
            <a:endParaRPr lang="en-US" sz="3000" dirty="0"/>
          </a:p>
        </p:txBody>
      </p:sp>
      <p:sp>
        <p:nvSpPr>
          <p:cNvPr id="4" name="Shape 2"/>
          <p:cNvSpPr/>
          <p:nvPr/>
        </p:nvSpPr>
        <p:spPr>
          <a:xfrm>
            <a:off x="548640" y="1463040"/>
            <a:ext cx="5440680" cy="4754880"/>
          </a:xfrm>
          <a:prstGeom prst="roundRect">
            <a:avLst>
              <a:gd name="adj" fmla="val 1923"/>
            </a:avLst>
          </a:prstGeom>
          <a:solidFill>
            <a:srgbClr val="F4F7FD"/>
          </a:solidFill>
          <a:ln/>
        </p:spPr>
      </p:sp>
      <p:sp>
        <p:nvSpPr>
          <p:cNvPr id="5" name="Shape 3"/>
          <p:cNvSpPr/>
          <p:nvPr/>
        </p:nvSpPr>
        <p:spPr>
          <a:xfrm>
            <a:off x="822960" y="1691640"/>
            <a:ext cx="502920" cy="502920"/>
          </a:xfrm>
          <a:prstGeom prst="ellipse">
            <a:avLst/>
          </a:prstGeom>
          <a:solidFill>
            <a:srgbClr val="1E2761"/>
          </a:solidFill>
          <a:ln/>
        </p:spPr>
      </p:sp>
      <p:sp>
        <p:nvSpPr>
          <p:cNvPr id="6" name="Text 4"/>
          <p:cNvSpPr txBox="1"/>
          <p:nvPr/>
        </p:nvSpPr>
        <p:spPr>
          <a:xfrm>
            <a:off x="822960" y="1691640"/>
            <a:ext cx="502920" cy="50292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7" name="Text 5"/>
          <p:cNvSpPr txBox="1"/>
          <p:nvPr/>
        </p:nvSpPr>
        <p:spPr>
          <a:xfrm>
            <a:off x="1463040" y="1691640"/>
            <a:ext cx="4206240" cy="502920"/>
          </a:xfrm>
          <a:prstGeom prst="rect">
            <a:avLst/>
          </a:prstGeom>
          <a:noFill/>
          <a:ln/>
        </p:spPr>
        <p:txBody>
          <a:bodyPr wrap="square"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Expected Outcome</a:t>
            </a:r>
            <a:endParaRPr lang="en-US" sz="1700" dirty="0"/>
          </a:p>
        </p:txBody>
      </p:sp>
      <p:sp>
        <p:nvSpPr>
          <p:cNvPr id="8" name="Text 6"/>
          <p:cNvSpPr txBox="1"/>
          <p:nvPr/>
        </p:nvSpPr>
        <p:spPr>
          <a:xfrm>
            <a:off x="868680" y="2331720"/>
            <a:ext cx="4892040" cy="3749040"/>
          </a:xfrm>
          <a:prstGeom prst="rect">
            <a:avLst/>
          </a:prstGeom>
          <a:noFill/>
          <a:ln/>
        </p:spPr>
        <p:txBody>
          <a:bodyPr wrap="square" rtlCol="0" anchor="t"/>
          <a:lstStyle/>
          <a:p>
            <a:pPr marL="228600" indent="-228600">
              <a:lnSpc>
                <a:spcPct val="135000"/>
              </a:lnSpc>
              <a:spcAft>
                <a:spcPts val="800"/>
              </a:spcAft>
              <a:buSzPct val="100000"/>
              <a:buChar char="✓"/>
            </a:pPr>
            <a:r>
              <a:rPr lang="en-US" sz="1300" dirty="0">
                <a:solidFill>
                  <a:srgbClr val="20232B"/>
                </a:solidFill>
                <a:latin typeface="Calibri" pitchFamily="34" charset="0"/>
                <a:ea typeface="Calibri" pitchFamily="34" charset="-122"/>
                <a:cs typeface="Calibri" pitchFamily="34" charset="-120"/>
              </a:rPr>
              <a:t>Manage student transport information</a:t>
            </a:r>
            <a:endParaRPr lang="en-US" sz="1300" dirty="0"/>
          </a:p>
          <a:p>
            <a:pPr marL="228600" indent="-228600">
              <a:lnSpc>
                <a:spcPct val="135000"/>
              </a:lnSpc>
              <a:spcAft>
                <a:spcPts val="800"/>
              </a:spcAft>
              <a:buSzPct val="100000"/>
              <a:buChar char="✓"/>
            </a:pPr>
            <a:r>
              <a:rPr lang="en-US" sz="1300" dirty="0">
                <a:solidFill>
                  <a:srgbClr val="20232B"/>
                </a:solidFill>
                <a:latin typeface="Calibri" pitchFamily="34" charset="0"/>
                <a:ea typeface="Calibri" pitchFamily="34" charset="-122"/>
                <a:cs typeface="Calibri" pitchFamily="34" charset="-120"/>
              </a:rPr>
              <a:t>Manage buses and drivers</a:t>
            </a:r>
            <a:endParaRPr lang="en-US" sz="1300" dirty="0"/>
          </a:p>
          <a:p>
            <a:pPr marL="228600" indent="-228600">
              <a:lnSpc>
                <a:spcPct val="135000"/>
              </a:lnSpc>
              <a:spcAft>
                <a:spcPts val="800"/>
              </a:spcAft>
              <a:buSzPct val="100000"/>
              <a:buChar char="✓"/>
            </a:pPr>
            <a:r>
              <a:rPr lang="en-US" sz="1300" dirty="0">
                <a:solidFill>
                  <a:srgbClr val="20232B"/>
                </a:solidFill>
                <a:latin typeface="Calibri" pitchFamily="34" charset="0"/>
                <a:ea typeface="Calibri" pitchFamily="34" charset="-122"/>
                <a:cs typeface="Calibri" pitchFamily="34" charset="-120"/>
              </a:rPr>
              <a:t>Maintain routes and pickup points</a:t>
            </a:r>
            <a:endParaRPr lang="en-US" sz="1300" dirty="0"/>
          </a:p>
          <a:p>
            <a:pPr marL="228600" indent="-228600">
              <a:lnSpc>
                <a:spcPct val="135000"/>
              </a:lnSpc>
              <a:spcAft>
                <a:spcPts val="800"/>
              </a:spcAft>
              <a:buSzPct val="100000"/>
              <a:buChar char="✓"/>
            </a:pPr>
            <a:r>
              <a:rPr lang="en-US" sz="1300" dirty="0">
                <a:solidFill>
                  <a:srgbClr val="20232B"/>
                </a:solidFill>
                <a:latin typeface="Calibri" pitchFamily="34" charset="0"/>
                <a:ea typeface="Calibri" pitchFamily="34" charset="-122"/>
                <a:cs typeface="Calibri" pitchFamily="34" charset="-120"/>
              </a:rPr>
              <a:t>Assign students to transport routes</a:t>
            </a:r>
            <a:endParaRPr lang="en-US" sz="1300" dirty="0"/>
          </a:p>
          <a:p>
            <a:pPr marL="228600" indent="-228600">
              <a:lnSpc>
                <a:spcPct val="135000"/>
              </a:lnSpc>
              <a:spcAft>
                <a:spcPts val="800"/>
              </a:spcAft>
              <a:buSzPct val="100000"/>
              <a:buChar char="✓"/>
            </a:pPr>
            <a:r>
              <a:rPr lang="en-US" sz="1300" dirty="0">
                <a:solidFill>
                  <a:srgbClr val="20232B"/>
                </a:solidFill>
                <a:latin typeface="Calibri" pitchFamily="34" charset="0"/>
                <a:ea typeface="Calibri" pitchFamily="34" charset="-122"/>
                <a:cs typeface="Calibri" pitchFamily="34" charset="-120"/>
              </a:rPr>
              <a:t>Track pickup information</a:t>
            </a:r>
            <a:endParaRPr lang="en-US" sz="1300" dirty="0"/>
          </a:p>
          <a:p>
            <a:pPr marL="228600" indent="-228600">
              <a:lnSpc>
                <a:spcPct val="135000"/>
              </a:lnSpc>
              <a:spcAft>
                <a:spcPts val="800"/>
              </a:spcAft>
              <a:buSzPct val="100000"/>
              <a:buChar char="✓"/>
            </a:pPr>
            <a:r>
              <a:rPr lang="en-US" sz="1300" dirty="0">
                <a:solidFill>
                  <a:srgbClr val="20232B"/>
                </a:solidFill>
                <a:latin typeface="Calibri" pitchFamily="34" charset="0"/>
                <a:ea typeface="Calibri" pitchFamily="34" charset="-122"/>
                <a:cs typeface="Calibri" pitchFamily="34" charset="-120"/>
              </a:rPr>
              <a:t>Generate transport information via SQL queries</a:t>
            </a:r>
            <a:endParaRPr lang="en-US" sz="1300" dirty="0"/>
          </a:p>
        </p:txBody>
      </p:sp>
      <p:sp>
        <p:nvSpPr>
          <p:cNvPr id="9" name="Shape 7"/>
          <p:cNvSpPr/>
          <p:nvPr/>
        </p:nvSpPr>
        <p:spPr>
          <a:xfrm>
            <a:off x="6199632" y="1463040"/>
            <a:ext cx="5440680" cy="4754880"/>
          </a:xfrm>
          <a:prstGeom prst="roundRect">
            <a:avLst>
              <a:gd name="adj" fmla="val 1923"/>
            </a:avLst>
          </a:prstGeom>
          <a:solidFill>
            <a:srgbClr val="1E2761"/>
          </a:solidFill>
          <a:ln/>
        </p:spPr>
      </p:sp>
      <p:sp>
        <p:nvSpPr>
          <p:cNvPr id="10" name="Shape 8"/>
          <p:cNvSpPr/>
          <p:nvPr/>
        </p:nvSpPr>
        <p:spPr>
          <a:xfrm>
            <a:off x="6473952" y="1691640"/>
            <a:ext cx="502920" cy="502920"/>
          </a:xfrm>
          <a:prstGeom prst="ellipse">
            <a:avLst/>
          </a:prstGeom>
          <a:solidFill>
            <a:srgbClr val="F2A93B"/>
          </a:solidFill>
          <a:ln/>
        </p:spPr>
      </p:sp>
      <p:sp>
        <p:nvSpPr>
          <p:cNvPr id="11" name="Text 9"/>
          <p:cNvSpPr txBox="1"/>
          <p:nvPr/>
        </p:nvSpPr>
        <p:spPr>
          <a:xfrm>
            <a:off x="6473952" y="1691640"/>
            <a:ext cx="502920" cy="50292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2" name="Text 10"/>
          <p:cNvSpPr txBox="1"/>
          <p:nvPr/>
        </p:nvSpPr>
        <p:spPr>
          <a:xfrm>
            <a:off x="7114032" y="1691640"/>
            <a:ext cx="4297680" cy="50292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Future Development</a:t>
            </a:r>
            <a:endParaRPr lang="en-US" sz="1700" dirty="0"/>
          </a:p>
        </p:txBody>
      </p:sp>
      <p:sp>
        <p:nvSpPr>
          <p:cNvPr id="13" name="Text 11"/>
          <p:cNvSpPr txBox="1"/>
          <p:nvPr/>
        </p:nvSpPr>
        <p:spPr>
          <a:xfrm>
            <a:off x="6519672" y="2331720"/>
            <a:ext cx="4892040" cy="3749040"/>
          </a:xfrm>
          <a:prstGeom prst="rect">
            <a:avLst/>
          </a:prstGeom>
          <a:noFill/>
          <a:ln/>
        </p:spPr>
        <p:txBody>
          <a:bodyPr wrap="square" rtlCol="0" anchor="t"/>
          <a:lstStyle/>
          <a:p>
            <a:pPr marL="228600" indent="-228600">
              <a:lnSpc>
                <a:spcPct val="135000"/>
              </a:lnSpc>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Transport fee management</a:t>
            </a:r>
            <a:endParaRPr lang="en-US" sz="1300" dirty="0"/>
          </a:p>
          <a:p>
            <a:pPr marL="228600" indent="-228600">
              <a:lnSpc>
                <a:spcPct val="135000"/>
              </a:lnSpc>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Attendance / pickup status</a:t>
            </a:r>
            <a:endParaRPr lang="en-US" sz="1300" dirty="0"/>
          </a:p>
          <a:p>
            <a:pPr marL="228600" indent="-228600">
              <a:lnSpc>
                <a:spcPct val="135000"/>
              </a:lnSpc>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Route capacity monitoring</a:t>
            </a:r>
            <a:endParaRPr lang="en-US" sz="1300" dirty="0"/>
          </a:p>
          <a:p>
            <a:pPr marL="228600" indent="-228600">
              <a:lnSpc>
                <a:spcPct val="135000"/>
              </a:lnSpc>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Reports</a:t>
            </a:r>
            <a:endParaRPr lang="en-US" sz="1300" dirty="0"/>
          </a:p>
          <a:p>
            <a:pPr marL="228600" indent="-228600">
              <a:lnSpc>
                <a:spcPct val="135000"/>
              </a:lnSpc>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Administrative interface</a:t>
            </a:r>
            <a:endParaRPr lang="en-US" sz="1300" dirty="0"/>
          </a:p>
        </p:txBody>
      </p:sp>
      <p:sp>
        <p:nvSpPr>
          <p:cNvPr id="14" name="Text 12"/>
          <p:cNvSpPr txBox="1"/>
          <p:nvPr/>
        </p:nvSpPr>
        <p:spPr>
          <a:xfrm>
            <a:off x="457200" y="6510528"/>
            <a:ext cx="7315200" cy="274320"/>
          </a:xfrm>
          <a:prstGeom prst="rect">
            <a:avLst/>
          </a:prstGeom>
          <a:noFill/>
          <a:ln/>
        </p:spPr>
        <p:txBody>
          <a:bodyPr wrap="square" rtlCol="0" anchor="ctr"/>
          <a:lstStyle/>
          <a:p>
            <a:pPr indent="0" marL="0">
              <a:buNone/>
            </a:pPr>
            <a:r>
              <a:rPr lang="en-US" sz="900" dirty="0">
                <a:solidFill>
                  <a:srgbClr val="5B6B8C"/>
                </a:solidFill>
                <a:latin typeface="Calibri" pitchFamily="34" charset="0"/>
                <a:ea typeface="Calibri" pitchFamily="34" charset="-122"/>
                <a:cs typeface="Calibri" pitchFamily="34" charset="-120"/>
              </a:rPr>
              <a:t>School Transport Route &amp; Student Pickup Management System</a:t>
            </a:r>
            <a:endParaRPr lang="en-US" sz="900" dirty="0"/>
          </a:p>
        </p:txBody>
      </p:sp>
      <p:sp>
        <p:nvSpPr>
          <p:cNvPr id="15" name="Text 13"/>
          <p:cNvSpPr txBox="1"/>
          <p:nvPr/>
        </p:nvSpPr>
        <p:spPr>
          <a:xfrm>
            <a:off x="11274552" y="6510528"/>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2026-08-29T14:51:32Z</dcterms:created>
  <dcterms:modified xsi:type="dcterms:W3CDTF">2026-08-29T14:51:32Z</dcterms:modified>
</cp:coreProperties>
</file>