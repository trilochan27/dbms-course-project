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8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515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4C8DFF">
              <a:alpha val="18000"/>
            </a:srgbClr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MYSQL IMPLEMENTATION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Phase 2 Review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Route &amp; Student Pickup Management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675888"/>
            <a:ext cx="585216" cy="58521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03320"/>
            <a:ext cx="530352" cy="5303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96" y="3830604"/>
            <a:ext cx="275783" cy="27578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72768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Sardar Trilochan Singh
</a:t>
            </a:r>
            <a:r>
              <a:rPr lang="en-US" sz="110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AIML  |  Woxsen University  |  Batch 2025–2029 |      25WU0102246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9692640" y="1371600"/>
            <a:ext cx="1371600" cy="36576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9418320" y="1371600"/>
            <a:ext cx="274320" cy="137160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10881360" y="1737360"/>
            <a:ext cx="182880" cy="137160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18320" y="2743200"/>
            <a:ext cx="1463040" cy="36576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18320" y="2743200"/>
            <a:ext cx="548640" cy="137160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9966960" y="3108960"/>
            <a:ext cx="914400" cy="1005840"/>
          </a:xfrm>
          <a:prstGeom prst="line">
            <a:avLst/>
          </a:prstGeom>
          <a:noFill/>
          <a:ln w="1270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28632" y="1307592"/>
            <a:ext cx="128016" cy="12801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000232" y="1673352"/>
            <a:ext cx="128016" cy="12801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54312" y="2679192"/>
            <a:ext cx="128016" cy="12801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817352" y="3044952"/>
            <a:ext cx="128016" cy="12801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902952" y="4050792"/>
            <a:ext cx="128016" cy="12801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8696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Schema — Conceptual Node Map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8.0   ·   Database: school_transport_db   ·   8 Tables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OVERVIEW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Implementation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converts the proposed system into a structured relational database and validates it through SQL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3127248"/>
            <a:ext cx="621792" cy="62179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794" y="3276478"/>
            <a:ext cx="323332" cy="3233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3504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240280" y="3611880"/>
            <a:ext cx="188915" cy="0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429195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36687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119" y="3127248"/>
            <a:ext cx="621792" cy="62179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349" y="3276478"/>
            <a:ext cx="323332" cy="3233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484059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120835" y="3611880"/>
            <a:ext cx="188915" cy="0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4309750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17242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674" y="3127248"/>
            <a:ext cx="621792" cy="621792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3904" y="3276478"/>
            <a:ext cx="323332" cy="3233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64614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6001390" y="3611880"/>
            <a:ext cx="188915" cy="0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23" name="Shape 15"/>
          <p:cNvSpPr/>
          <p:nvPr/>
        </p:nvSpPr>
        <p:spPr>
          <a:xfrm>
            <a:off x="6190305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97797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29" y="3127248"/>
            <a:ext cx="621792" cy="62179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4459" y="3276478"/>
            <a:ext cx="323332" cy="32333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245169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Tables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7881945" y="3611880"/>
            <a:ext cx="188915" cy="0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29" name="Shape 19"/>
          <p:cNvSpPr/>
          <p:nvPr/>
        </p:nvSpPr>
        <p:spPr>
          <a:xfrm>
            <a:off x="8070860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78352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784" y="3127248"/>
            <a:ext cx="621792" cy="621792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5014" y="3276478"/>
            <a:ext cx="323332" cy="32333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125724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50" dirty="0"/>
          </a:p>
        </p:txBody>
      </p:sp>
      <p:sp>
        <p:nvSpPr>
          <p:cNvPr id="34" name="Shape 22"/>
          <p:cNvSpPr/>
          <p:nvPr/>
        </p:nvSpPr>
        <p:spPr>
          <a:xfrm>
            <a:off x="9762500" y="3611880"/>
            <a:ext cx="188915" cy="0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35" name="Shape 23"/>
          <p:cNvSpPr/>
          <p:nvPr/>
        </p:nvSpPr>
        <p:spPr>
          <a:xfrm>
            <a:off x="9951415" y="29260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458907" y="3099816"/>
            <a:ext cx="676656" cy="67665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339" y="3127248"/>
            <a:ext cx="621792" cy="621792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5569" y="3276478"/>
            <a:ext cx="323332" cy="323332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006279" y="384048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150" dirty="0"/>
          </a:p>
        </p:txBody>
      </p:sp>
      <p:sp>
        <p:nvSpPr>
          <p:cNvPr id="40" name="Text 26"/>
          <p:cNvSpPr txBox="1"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covered the project idea and motivation — this review demonstrates the working database.</a:t>
            </a:r>
            <a:endParaRPr lang="en-US" sz="1150" dirty="0"/>
          </a:p>
        </p:txBody>
      </p:sp>
      <p:sp>
        <p:nvSpPr>
          <p:cNvPr id="41" name="Text 2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42" name="Text 28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3055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1726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63830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6383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6383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21030"/>
            <a:ext cx="201168" cy="20116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1853034"/>
            <a:ext cx="137160" cy="137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179359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driver_id  (PK)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206791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driver_name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6120" y="1363830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36383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246120" y="136383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821030"/>
            <a:ext cx="201168" cy="201168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852" y="1853034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30168" y="179359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bus_id  (PK)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355848" y="2095350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852" y="2127354"/>
            <a:ext cx="137160" cy="1371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630168" y="206791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driver_id  (FK)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035040" y="1363830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035040" y="136383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035040" y="136383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821030"/>
            <a:ext cx="201168" cy="201168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2" y="1853034"/>
            <a:ext cx="137160" cy="1371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19088" y="179359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  (PK)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144768" y="2095350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772" y="2127354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419088" y="206791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bus_id  (FK)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8823960" y="1363830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823960" y="136383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8823960" y="136383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PICKUP_POINT</a:t>
            </a:r>
            <a:endParaRPr lang="en-US" sz="12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1821030"/>
            <a:ext cx="201168" cy="201168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692" y="1853034"/>
            <a:ext cx="137160" cy="13716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208008" y="179359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pickup_id  (PK)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8933688" y="2095350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692" y="2127354"/>
            <a:ext cx="137160" cy="13716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208008" y="206791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  (FK)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2971800" y="1885038"/>
            <a:ext cx="274320" cy="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39" name="Text 26"/>
          <p:cNvSpPr txBox="1"/>
          <p:nvPr/>
        </p:nvSpPr>
        <p:spPr>
          <a:xfrm>
            <a:off x="2971800" y="161071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5760720" y="1885038"/>
            <a:ext cx="274320" cy="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41" name="Text 28"/>
          <p:cNvSpPr txBox="1"/>
          <p:nvPr/>
        </p:nvSpPr>
        <p:spPr>
          <a:xfrm>
            <a:off x="5760720" y="161071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8549640" y="1885038"/>
            <a:ext cx="274320" cy="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43" name="Text 30"/>
          <p:cNvSpPr txBox="1"/>
          <p:nvPr/>
        </p:nvSpPr>
        <p:spPr>
          <a:xfrm>
            <a:off x="8549640" y="161071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44" name="Shape 31"/>
          <p:cNvSpPr/>
          <p:nvPr/>
        </p:nvSpPr>
        <p:spPr>
          <a:xfrm>
            <a:off x="457200" y="2909166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457200" y="2909166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457200" y="290916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66366"/>
            <a:ext cx="201168" cy="201168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3398370"/>
            <a:ext cx="137160" cy="13716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41248" y="333893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 (PK)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841248" y="361325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student_name</a:t>
            </a:r>
            <a:endParaRPr lang="en-US" sz="950" dirty="0"/>
          </a:p>
        </p:txBody>
      </p:sp>
      <p:sp>
        <p:nvSpPr>
          <p:cNvPr id="51" name="Shape 36"/>
          <p:cNvSpPr/>
          <p:nvPr/>
        </p:nvSpPr>
        <p:spPr>
          <a:xfrm>
            <a:off x="8823960" y="2909166"/>
            <a:ext cx="2514600" cy="1316736"/>
          </a:xfrm>
          <a:prstGeom prst="roundRect">
            <a:avLst>
              <a:gd name="adj" fmla="val 5556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2" name="Shape 37"/>
          <p:cNvSpPr/>
          <p:nvPr/>
        </p:nvSpPr>
        <p:spPr>
          <a:xfrm>
            <a:off x="8823960" y="2909166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8823960" y="290916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STUDENT_TRANSPORT</a:t>
            </a:r>
            <a:endParaRPr lang="en-US" sz="12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3366366"/>
            <a:ext cx="201168" cy="201168"/>
          </a:xfrm>
          <a:prstGeom prst="rect">
            <a:avLst/>
          </a:prstGeom>
        </p:spPr>
      </p:pic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692" y="3398370"/>
            <a:ext cx="137160" cy="13716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9208008" y="333893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assignment_id  (PK)</a:t>
            </a:r>
            <a:endParaRPr lang="en-US" sz="1000" dirty="0"/>
          </a:p>
        </p:txBody>
      </p:sp>
      <p:sp>
        <p:nvSpPr>
          <p:cNvPr id="57" name="Shape 40"/>
          <p:cNvSpPr/>
          <p:nvPr/>
        </p:nvSpPr>
        <p:spPr>
          <a:xfrm>
            <a:off x="8933688" y="3640686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692" y="3672690"/>
            <a:ext cx="137160" cy="137160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9208008" y="361325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 (FK)</a:t>
            </a:r>
            <a:endParaRPr lang="en-US" sz="950" dirty="0"/>
          </a:p>
        </p:txBody>
      </p:sp>
      <p:sp>
        <p:nvSpPr>
          <p:cNvPr id="60" name="Shape 42"/>
          <p:cNvSpPr/>
          <p:nvPr/>
        </p:nvSpPr>
        <p:spPr>
          <a:xfrm>
            <a:off x="8933688" y="3915006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692" y="3947010"/>
            <a:ext cx="137160" cy="137160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9208008" y="388757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pickup_id  (FK)</a:t>
            </a:r>
            <a:endParaRPr lang="en-US" sz="950" dirty="0"/>
          </a:p>
        </p:txBody>
      </p:sp>
      <p:sp>
        <p:nvSpPr>
          <p:cNvPr id="63" name="Shape 44"/>
          <p:cNvSpPr/>
          <p:nvPr/>
        </p:nvSpPr>
        <p:spPr>
          <a:xfrm>
            <a:off x="10081260" y="2406246"/>
            <a:ext cx="0" cy="50292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64" name="Text 45"/>
          <p:cNvSpPr txBox="1"/>
          <p:nvPr/>
        </p:nvSpPr>
        <p:spPr>
          <a:xfrm>
            <a:off x="9532620" y="25388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65" name="Shape 46"/>
          <p:cNvSpPr/>
          <p:nvPr/>
        </p:nvSpPr>
        <p:spPr>
          <a:xfrm>
            <a:off x="2971800" y="3101190"/>
            <a:ext cx="5852160" cy="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66" name="Text 47"/>
          <p:cNvSpPr txBox="1"/>
          <p:nvPr/>
        </p:nvSpPr>
        <p:spPr>
          <a:xfrm>
            <a:off x="5212080" y="280858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(assigns)</a:t>
            </a:r>
            <a:endParaRPr lang="en-US" sz="900" dirty="0"/>
          </a:p>
        </p:txBody>
      </p:sp>
      <p:sp>
        <p:nvSpPr>
          <p:cNvPr id="67" name="Shape 48"/>
          <p:cNvSpPr/>
          <p:nvPr/>
        </p:nvSpPr>
        <p:spPr>
          <a:xfrm>
            <a:off x="457200" y="4408782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8" name="Shape 49"/>
          <p:cNvSpPr/>
          <p:nvPr/>
        </p:nvSpPr>
        <p:spPr>
          <a:xfrm>
            <a:off x="457200" y="4408782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50"/>
          <p:cNvSpPr txBox="1"/>
          <p:nvPr/>
        </p:nvSpPr>
        <p:spPr>
          <a:xfrm>
            <a:off x="457200" y="440878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PICKUP_RECORD</a:t>
            </a:r>
            <a:endParaRPr lang="en-US" sz="1200" dirty="0"/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865982"/>
            <a:ext cx="201168" cy="201168"/>
          </a:xfrm>
          <a:prstGeom prst="rect">
            <a:avLst/>
          </a:prstGeom>
        </p:spPr>
      </p:pic>
      <p:pic>
        <p:nvPicPr>
          <p:cNvPr id="71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4897986"/>
            <a:ext cx="137160" cy="137160"/>
          </a:xfrm>
          <a:prstGeom prst="rect">
            <a:avLst/>
          </a:prstGeom>
        </p:spPr>
      </p:pic>
      <p:sp>
        <p:nvSpPr>
          <p:cNvPr id="72" name="Text 51"/>
          <p:cNvSpPr txBox="1"/>
          <p:nvPr/>
        </p:nvSpPr>
        <p:spPr>
          <a:xfrm>
            <a:off x="841248" y="483855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  (PK)</a:t>
            </a:r>
            <a:endParaRPr lang="en-US" sz="1000" dirty="0"/>
          </a:p>
        </p:txBody>
      </p:sp>
      <p:sp>
        <p:nvSpPr>
          <p:cNvPr id="73" name="Shape 52"/>
          <p:cNvSpPr/>
          <p:nvPr/>
        </p:nvSpPr>
        <p:spPr>
          <a:xfrm>
            <a:off x="566928" y="5140302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4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5172306"/>
            <a:ext cx="137160" cy="137160"/>
          </a:xfrm>
          <a:prstGeom prst="rect">
            <a:avLst/>
          </a:prstGeom>
        </p:spPr>
      </p:pic>
      <p:sp>
        <p:nvSpPr>
          <p:cNvPr id="75" name="Text 53"/>
          <p:cNvSpPr txBox="1"/>
          <p:nvPr/>
        </p:nvSpPr>
        <p:spPr>
          <a:xfrm>
            <a:off x="841248" y="511287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 (FK)</a:t>
            </a:r>
            <a:endParaRPr lang="en-US" sz="950" dirty="0"/>
          </a:p>
        </p:txBody>
      </p:sp>
      <p:sp>
        <p:nvSpPr>
          <p:cNvPr id="76" name="Shape 54"/>
          <p:cNvSpPr/>
          <p:nvPr/>
        </p:nvSpPr>
        <p:spPr>
          <a:xfrm>
            <a:off x="3246120" y="4408782"/>
            <a:ext cx="2514600" cy="1042416"/>
          </a:xfrm>
          <a:prstGeom prst="roundRect">
            <a:avLst>
              <a:gd name="adj" fmla="val 7018"/>
            </a:avLst>
          </a:prstGeom>
          <a:solidFill>
            <a:srgbClr val="111B2E">
              <a:alpha val="96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7" name="Shape 55"/>
          <p:cNvSpPr/>
          <p:nvPr/>
        </p:nvSpPr>
        <p:spPr>
          <a:xfrm>
            <a:off x="3246120" y="4408782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3A76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56"/>
          <p:cNvSpPr txBox="1"/>
          <p:nvPr/>
        </p:nvSpPr>
        <p:spPr>
          <a:xfrm>
            <a:off x="3246120" y="440878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TRANSPORT_FEE</a:t>
            </a:r>
            <a:endParaRPr lang="en-US" sz="1200" dirty="0"/>
          </a:p>
        </p:txBody>
      </p:sp>
      <p:pic>
        <p:nvPicPr>
          <p:cNvPr id="79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4865982"/>
            <a:ext cx="201168" cy="201168"/>
          </a:xfrm>
          <a:prstGeom prst="rect">
            <a:avLst/>
          </a:prstGeom>
        </p:spPr>
      </p:pic>
      <p:pic>
        <p:nvPicPr>
          <p:cNvPr id="80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852" y="4897986"/>
            <a:ext cx="137160" cy="137160"/>
          </a:xfrm>
          <a:prstGeom prst="rect">
            <a:avLst/>
          </a:prstGeom>
        </p:spPr>
      </p:pic>
      <p:sp>
        <p:nvSpPr>
          <p:cNvPr id="81" name="Text 57"/>
          <p:cNvSpPr txBox="1"/>
          <p:nvPr/>
        </p:nvSpPr>
        <p:spPr>
          <a:xfrm>
            <a:off x="3630168" y="483855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fee_id  (PK)</a:t>
            </a:r>
            <a:endParaRPr lang="en-US" sz="1000" dirty="0"/>
          </a:p>
        </p:txBody>
      </p:sp>
      <p:sp>
        <p:nvSpPr>
          <p:cNvPr id="82" name="Shape 58"/>
          <p:cNvSpPr/>
          <p:nvPr/>
        </p:nvSpPr>
        <p:spPr>
          <a:xfrm>
            <a:off x="3355848" y="5140302"/>
            <a:ext cx="201168" cy="201168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3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852" y="5172306"/>
            <a:ext cx="137160" cy="137160"/>
          </a:xfrm>
          <a:prstGeom prst="rect">
            <a:avLst/>
          </a:prstGeom>
        </p:spPr>
      </p:pic>
      <p:sp>
        <p:nvSpPr>
          <p:cNvPr id="84" name="Text 59"/>
          <p:cNvSpPr txBox="1"/>
          <p:nvPr/>
        </p:nvSpPr>
        <p:spPr>
          <a:xfrm>
            <a:off x="3630168" y="511287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 (FK)</a:t>
            </a:r>
            <a:endParaRPr lang="en-US" sz="950" dirty="0"/>
          </a:p>
        </p:txBody>
      </p:sp>
      <p:sp>
        <p:nvSpPr>
          <p:cNvPr id="85" name="Shape 60"/>
          <p:cNvSpPr/>
          <p:nvPr/>
        </p:nvSpPr>
        <p:spPr>
          <a:xfrm>
            <a:off x="1714500" y="3951582"/>
            <a:ext cx="0" cy="45720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86" name="Text 61"/>
          <p:cNvSpPr txBox="1"/>
          <p:nvPr/>
        </p:nvSpPr>
        <p:spPr>
          <a:xfrm>
            <a:off x="1165860" y="406131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87" name="Shape 62"/>
          <p:cNvSpPr/>
          <p:nvPr/>
        </p:nvSpPr>
        <p:spPr>
          <a:xfrm>
            <a:off x="1714500" y="3951582"/>
            <a:ext cx="0" cy="228600"/>
          </a:xfrm>
          <a:prstGeom prst="line">
            <a:avLst/>
          </a:prstGeom>
          <a:noFill/>
          <a:ln w="19050">
            <a:solidFill>
              <a:srgbClr val="4C8DFF"/>
            </a:solidFill>
            <a:prstDash val="solid"/>
          </a:ln>
        </p:spPr>
      </p:sp>
      <p:sp>
        <p:nvSpPr>
          <p:cNvPr id="88" name="Shape 63"/>
          <p:cNvSpPr/>
          <p:nvPr/>
        </p:nvSpPr>
        <p:spPr>
          <a:xfrm>
            <a:off x="1714500" y="4180182"/>
            <a:ext cx="2788920" cy="0"/>
          </a:xfrm>
          <a:prstGeom prst="line">
            <a:avLst/>
          </a:prstGeom>
          <a:noFill/>
          <a:ln w="19050">
            <a:solidFill>
              <a:srgbClr val="4C8DFF"/>
            </a:solidFill>
            <a:prstDash val="solid"/>
          </a:ln>
        </p:spPr>
      </p:sp>
      <p:sp>
        <p:nvSpPr>
          <p:cNvPr id="89" name="Shape 64"/>
          <p:cNvSpPr/>
          <p:nvPr/>
        </p:nvSpPr>
        <p:spPr>
          <a:xfrm>
            <a:off x="4503420" y="4180182"/>
            <a:ext cx="0" cy="228600"/>
          </a:xfrm>
          <a:prstGeom prst="line">
            <a:avLst/>
          </a:prstGeom>
          <a:noFill/>
          <a:ln w="22225">
            <a:solidFill>
              <a:srgbClr val="4C8DFF"/>
            </a:solidFill>
            <a:prstDash val="solid"/>
            <a:tailEnd type="triangle"/>
          </a:ln>
        </p:spPr>
      </p:sp>
      <p:pic>
        <p:nvPicPr>
          <p:cNvPr id="90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500222"/>
            <a:ext cx="219456" cy="219456"/>
          </a:xfrm>
          <a:prstGeom prst="rect">
            <a:avLst/>
          </a:prstGeom>
        </p:spPr>
      </p:pic>
      <p:pic>
        <p:nvPicPr>
          <p:cNvPr id="91" name="Image 2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536798"/>
            <a:ext cx="146304" cy="146304"/>
          </a:xfrm>
          <a:prstGeom prst="rect">
            <a:avLst/>
          </a:prstGeom>
        </p:spPr>
      </p:pic>
      <p:sp>
        <p:nvSpPr>
          <p:cNvPr id="92" name="Text 65"/>
          <p:cNvSpPr txBox="1"/>
          <p:nvPr/>
        </p:nvSpPr>
        <p:spPr>
          <a:xfrm>
            <a:off x="6601968" y="448193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93" name="Shape 66"/>
          <p:cNvSpPr/>
          <p:nvPr/>
        </p:nvSpPr>
        <p:spPr>
          <a:xfrm>
            <a:off x="8046720" y="4500222"/>
            <a:ext cx="219456" cy="219456"/>
          </a:xfrm>
          <a:prstGeom prst="ellipse">
            <a:avLst/>
          </a:prstGeom>
          <a:solidFill>
            <a:srgbClr val="4C8D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4" name="Image 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4536798"/>
            <a:ext cx="146304" cy="146304"/>
          </a:xfrm>
          <a:prstGeom prst="rect">
            <a:avLst/>
          </a:prstGeom>
        </p:spPr>
      </p:pic>
      <p:sp>
        <p:nvSpPr>
          <p:cNvPr id="95" name="Text 67"/>
          <p:cNvSpPr txBox="1"/>
          <p:nvPr/>
        </p:nvSpPr>
        <p:spPr>
          <a:xfrm>
            <a:off x="8339328" y="448193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96" name="Text 68"/>
          <p:cNvSpPr txBox="1"/>
          <p:nvPr/>
        </p:nvSpPr>
        <p:spPr>
          <a:xfrm>
            <a:off x="548640" y="663991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97" name="Text 69"/>
          <p:cNvSpPr txBox="1"/>
          <p:nvPr/>
        </p:nvSpPr>
        <p:spPr>
          <a:xfrm>
            <a:off x="11185855" y="663991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C01AA1E2-996B-9022-3B23-D784E63EED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17629"/>
            <a:ext cx="10964174" cy="5015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77095" y="4572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4C8DFF">
              <a:alpha val="18000"/>
            </a:srgbClr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77095" y="457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IMPLEMENTED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35331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380744"/>
            <a:ext cx="420624" cy="42062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64" y="1475384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6128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49224" y="18928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9224" y="2176272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9224" y="226771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student_name   •   class   •   section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10128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35331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80744"/>
            <a:ext cx="420624" cy="420624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1072" y="1475384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68496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3456432" y="18928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driver_id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456432" y="2176272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456432" y="226771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driver_name   •   license_no (UQ)   •   status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117336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36208" y="135331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80744"/>
            <a:ext cx="420624" cy="420624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280" y="1475384"/>
            <a:ext cx="231343" cy="231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75704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6263640" y="18928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bus_id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6263640" y="21305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driver_id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263640" y="2395728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263640" y="24871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bus_number (UQ)   •   capacity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8924544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043416" y="135331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1380744"/>
            <a:ext cx="420624" cy="420624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5488" y="1475384"/>
            <a:ext cx="231343" cy="231343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582912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50" dirty="0"/>
          </a:p>
        </p:txBody>
      </p:sp>
      <p:sp>
        <p:nvSpPr>
          <p:cNvPr id="36" name="Text 26"/>
          <p:cNvSpPr txBox="1"/>
          <p:nvPr/>
        </p:nvSpPr>
        <p:spPr>
          <a:xfrm>
            <a:off x="9070848" y="18928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9070848" y="21305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bus_id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070848" y="2395728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9070848" y="24871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route_name   •   distance_km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02920" y="358444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21792" y="3703320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730752"/>
            <a:ext cx="420624" cy="420624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864" y="3825392"/>
            <a:ext cx="231343" cy="231343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161288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PICKUP_POINT</a:t>
            </a:r>
            <a:endParaRPr lang="en-US" sz="1150" dirty="0"/>
          </a:p>
        </p:txBody>
      </p:sp>
      <p:sp>
        <p:nvSpPr>
          <p:cNvPr id="45" name="Text 33"/>
          <p:cNvSpPr txBox="1"/>
          <p:nvPr/>
        </p:nvSpPr>
        <p:spPr>
          <a:xfrm>
            <a:off x="649224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pickup_id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649224" y="44805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649224" y="4745736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649224" y="48371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pickup_name   •   pickup_time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3310128" y="358444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3429000" y="3703320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3730752"/>
            <a:ext cx="420624" cy="420624"/>
          </a:xfrm>
          <a:prstGeom prst="rect">
            <a:avLst/>
          </a:prstGeom>
        </p:spPr>
      </p:pic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1072" y="3825392"/>
            <a:ext cx="231343" cy="231343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3968496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STUDENT_TRANSPORT</a:t>
            </a:r>
            <a:endParaRPr lang="en-US" sz="1150" dirty="0"/>
          </a:p>
        </p:txBody>
      </p:sp>
      <p:sp>
        <p:nvSpPr>
          <p:cNvPr id="54" name="Text 40"/>
          <p:cNvSpPr txBox="1"/>
          <p:nvPr/>
        </p:nvSpPr>
        <p:spPr>
          <a:xfrm>
            <a:off x="3456432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assignment_id</a:t>
            </a:r>
            <a:endParaRPr lang="en-US" sz="900" dirty="0"/>
          </a:p>
        </p:txBody>
      </p:sp>
      <p:sp>
        <p:nvSpPr>
          <p:cNvPr id="55" name="Text 41"/>
          <p:cNvSpPr txBox="1"/>
          <p:nvPr/>
        </p:nvSpPr>
        <p:spPr>
          <a:xfrm>
            <a:off x="3456432" y="44805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3456432" y="47000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pickup_id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3456432" y="4965192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3456432" y="505663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  •   status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6117336" y="358444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6236208" y="3703320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730752"/>
            <a:ext cx="420624" cy="420624"/>
          </a:xfrm>
          <a:prstGeom prst="rect">
            <a:avLst/>
          </a:prstGeom>
        </p:spPr>
      </p:pic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8280" y="3825392"/>
            <a:ext cx="231343" cy="231343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6775704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PICKUP_RECORD</a:t>
            </a:r>
            <a:endParaRPr lang="en-US" sz="1150" dirty="0"/>
          </a:p>
        </p:txBody>
      </p:sp>
      <p:sp>
        <p:nvSpPr>
          <p:cNvPr id="64" name="Text 48"/>
          <p:cNvSpPr txBox="1"/>
          <p:nvPr/>
        </p:nvSpPr>
        <p:spPr>
          <a:xfrm>
            <a:off x="6263640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endParaRPr lang="en-US" sz="900" dirty="0"/>
          </a:p>
        </p:txBody>
      </p:sp>
      <p:sp>
        <p:nvSpPr>
          <p:cNvPr id="65" name="Text 49"/>
          <p:cNvSpPr txBox="1"/>
          <p:nvPr/>
        </p:nvSpPr>
        <p:spPr>
          <a:xfrm>
            <a:off x="6263640" y="44805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66" name="Shape 50"/>
          <p:cNvSpPr/>
          <p:nvPr/>
        </p:nvSpPr>
        <p:spPr>
          <a:xfrm>
            <a:off x="6263640" y="4745736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67" name="Text 51"/>
          <p:cNvSpPr txBox="1"/>
          <p:nvPr/>
        </p:nvSpPr>
        <p:spPr>
          <a:xfrm>
            <a:off x="6263640" y="48371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   •   status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8924544" y="358444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9" name="Shape 53"/>
          <p:cNvSpPr/>
          <p:nvPr/>
        </p:nvSpPr>
        <p:spPr>
          <a:xfrm>
            <a:off x="9043416" y="3703320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730752"/>
            <a:ext cx="420624" cy="420624"/>
          </a:xfrm>
          <a:prstGeom prst="rect">
            <a:avLst/>
          </a:prstGeom>
        </p:spPr>
      </p:pic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5488" y="3825392"/>
            <a:ext cx="231343" cy="231343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9582912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TRANSPORT_FEE</a:t>
            </a:r>
            <a:endParaRPr lang="en-US" sz="1150" dirty="0"/>
          </a:p>
        </p:txBody>
      </p:sp>
      <p:sp>
        <p:nvSpPr>
          <p:cNvPr id="73" name="Text 55"/>
          <p:cNvSpPr txBox="1"/>
          <p:nvPr/>
        </p:nvSpPr>
        <p:spPr>
          <a:xfrm>
            <a:off x="9070848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54"/>
                </a:solidFill>
              </a:rPr>
              <a:t>PK  </a:t>
            </a:r>
            <a:r>
              <a:rPr lang="en-US" sz="9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fee_id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9070848" y="44805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DFF"/>
                </a:solidFill>
              </a:rPr>
              <a:t>FK  </a:t>
            </a:r>
            <a:r>
              <a:rPr lang="en-US" sz="9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75" name="Shape 57"/>
          <p:cNvSpPr/>
          <p:nvPr/>
        </p:nvSpPr>
        <p:spPr>
          <a:xfrm>
            <a:off x="9070848" y="4745736"/>
            <a:ext cx="2313432" cy="0"/>
          </a:xfrm>
          <a:prstGeom prst="line">
            <a:avLst/>
          </a:prstGeom>
          <a:noFill/>
          <a:ln w="9525">
            <a:solidFill>
              <a:srgbClr val="223154"/>
            </a:solidFill>
            <a:prstDash val="solid"/>
          </a:ln>
        </p:spPr>
      </p:sp>
      <p:sp>
        <p:nvSpPr>
          <p:cNvPr id="76" name="Text 58"/>
          <p:cNvSpPr txBox="1"/>
          <p:nvPr/>
        </p:nvSpPr>
        <p:spPr>
          <a:xfrm>
            <a:off x="9070848" y="48371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  •   payment_status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78" name="Text 60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0A1424">
              <a:alpha val="85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</a:t>
            </a:r>
            <a:r>
              <a:rPr lang="en-US" sz="130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school_transport_db;
</a:t>
            </a:r>
            <a:r>
              <a:rPr lang="en-US" sz="13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n-US" sz="130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school_transport_db;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0A1424">
              <a:alpha val="85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r>
              <a:rPr lang="en-US" sz="11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(
</a:t>
            </a:r>
            <a:r>
              <a:rPr lang="en-US" sz="11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student_id     VARCHAR(10)  </a:t>
            </a:r>
            <a:r>
              <a:rPr lang="en-US" sz="1150" b="1" dirty="0">
                <a:solidFill>
                  <a:srgbClr val="F0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r>
              <a:rPr lang="en-US" sz="1150" dirty="0">
                <a:solidFill>
                  <a:srgbClr val="9AAA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student_name   VARCHAR(100) NOT NULL,
    class          VARCHAR(20),
    section        VARCHAR(10),
    parent_name    VARCHAR(100),
    parent_contact VARCHAR(15)
</a:t>
            </a:r>
            <a:r>
              <a:rPr lang="en-US" sz="1150" dirty="0">
                <a:solidFill>
                  <a:srgbClr val="F4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5608015" cy="713232"/>
          </a:xfrm>
          <a:prstGeom prst="roundRect">
            <a:avLst>
              <a:gd name="adj" fmla="val 12821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2763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55064"/>
            <a:ext cx="420624" cy="42062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92" y="1749704"/>
            <a:ext cx="231343" cy="231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12280" y="1508760"/>
            <a:ext cx="4739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created in MySQL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2377440"/>
            <a:ext cx="5608015" cy="713232"/>
          </a:xfrm>
          <a:prstGeom prst="roundRect">
            <a:avLst>
              <a:gd name="adj" fmla="val 12821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249631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523744"/>
            <a:ext cx="420624" cy="420624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992" y="2618384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2377440"/>
            <a:ext cx="4739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relational tables implemented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80760" y="3246120"/>
            <a:ext cx="5608015" cy="713232"/>
          </a:xfrm>
          <a:prstGeom prst="roundRect">
            <a:avLst>
              <a:gd name="adj" fmla="val 12821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217920" y="336499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392424"/>
            <a:ext cx="420624" cy="420624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992" y="3487064"/>
            <a:ext cx="231343" cy="23134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12280" y="3246120"/>
            <a:ext cx="4739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defined on every table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080760" y="4114800"/>
            <a:ext cx="5608015" cy="713232"/>
          </a:xfrm>
          <a:prstGeom prst="roundRect">
            <a:avLst>
              <a:gd name="adj" fmla="val 12821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217920" y="423367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4261104"/>
            <a:ext cx="420624" cy="420624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992" y="4355744"/>
            <a:ext cx="231343" cy="231343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812280" y="4114800"/>
            <a:ext cx="4739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established between tables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080760" y="4983480"/>
            <a:ext cx="5608015" cy="713232"/>
          </a:xfrm>
          <a:prstGeom prst="roundRect">
            <a:avLst>
              <a:gd name="adj" fmla="val 12821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6217920" y="5102352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5129784"/>
            <a:ext cx="420624" cy="420624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9992" y="5224424"/>
            <a:ext cx="231343" cy="231343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812280" y="4983480"/>
            <a:ext cx="4739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inserted for all tables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35" name="Text 23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MYSQL EVIDENCE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Populated RDBMS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77095" y="4572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4C8DFF">
              <a:alpha val="18000"/>
            </a:srgbClr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77095" y="457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MYSQL OUTPUT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3220987"/>
          </a:xfrm>
          <a:prstGeom prst="roundRect">
            <a:avLst>
              <a:gd name="adj" fmla="val 2555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/mnt/user-data/uploads/Screenshot_2026-09-15_1255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01368"/>
            <a:ext cx="3566160" cy="27180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50876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TABLES;  →  8 Tables Registered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417320"/>
            <a:ext cx="7269480" cy="2331720"/>
          </a:xfrm>
          <a:prstGeom prst="roundRect">
            <a:avLst>
              <a:gd name="adj" fmla="val 3529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/mnt/user-data/uploads/Screenshot_2026-09-15_1256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599" y="1801368"/>
            <a:ext cx="6837082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80560" y="1508760"/>
            <a:ext cx="699516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0560" y="1508760"/>
            <a:ext cx="699516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343400" y="3794760"/>
            <a:ext cx="7269480" cy="2331720"/>
          </a:xfrm>
          <a:prstGeom prst="roundRect">
            <a:avLst>
              <a:gd name="adj" fmla="val 3529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5" name="Image 2" descr="/mnt/user-data/uploads/Screenshot_2026-09-15_1257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444" y="4178808"/>
            <a:ext cx="6457392" cy="1828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480560" y="3886200"/>
            <a:ext cx="699516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80560" y="3886200"/>
            <a:ext cx="699516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Student_Transport Table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successfully populated with sample transport records.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MYSQL EVIDENCE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Populated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566160" cy="1277374"/>
          </a:xfrm>
          <a:prstGeom prst="roundRect">
            <a:avLst>
              <a:gd name="adj" fmla="val 6443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mnt/user-data/uploads/Screenshot_2026-09-15_1255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09928"/>
            <a:ext cx="3566160" cy="774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41732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Table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79392" y="1325880"/>
            <a:ext cx="3566160" cy="1380365"/>
          </a:xfrm>
          <a:prstGeom prst="roundRect">
            <a:avLst>
              <a:gd name="adj" fmla="val 5962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1" descr="/mnt/user-data/uploads/Screenshot_2026-09-15_1256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709928"/>
            <a:ext cx="3566160" cy="8774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6552" y="141732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16552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Table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101584" y="1325880"/>
            <a:ext cx="3566160" cy="1247470"/>
          </a:xfrm>
          <a:prstGeom prst="roundRect">
            <a:avLst>
              <a:gd name="adj" fmla="val 6597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2" descr="/mnt/user-data/uploads/Screenshot_2026-09-15_1256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709928"/>
            <a:ext cx="3566160" cy="7445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38744" y="141732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38744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4023360"/>
            <a:ext cx="3566160" cy="1419595"/>
          </a:xfrm>
          <a:prstGeom prst="roundRect">
            <a:avLst>
              <a:gd name="adj" fmla="val 5797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7" name="Image 3" descr="/mnt/user-data/uploads/Screenshot_2026-09-15_1256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07408"/>
            <a:ext cx="3566160" cy="91667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4360" y="41148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94360" y="4114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Pickup_Point Table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279392" y="4023360"/>
            <a:ext cx="3566160" cy="1485720"/>
          </a:xfrm>
          <a:prstGeom prst="roundRect">
            <a:avLst>
              <a:gd name="adj" fmla="val 5539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4" descr="/mnt/user-data/uploads/Screenshot_2026-09-15_1257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4407408"/>
            <a:ext cx="3566160" cy="9828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416552" y="41148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416552" y="4114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Pickup_Record Table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8101584" y="4023360"/>
            <a:ext cx="3566160" cy="1477865"/>
          </a:xfrm>
          <a:prstGeom prst="roundRect">
            <a:avLst>
              <a:gd name="adj" fmla="val 5569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5" name="Image 5" descr="/mnt/user-data/uploads/Screenshot_2026-09-15_12572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1584" y="4407408"/>
            <a:ext cx="3566160" cy="97494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238744" y="41148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238744" y="4114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Transport_Fee Table</a:t>
            </a:r>
            <a:endParaRPr lang="en-US" sz="9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Execution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3682617"/>
          </a:xfrm>
          <a:prstGeom prst="roundRect">
            <a:avLst>
              <a:gd name="adj" fmla="val 2235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dbms_ppt2/join_query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55648"/>
            <a:ext cx="6949440" cy="31796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463040"/>
            <a:ext cx="667512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Query — Student Transport Assignment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41732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query does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2011680"/>
            <a:ext cx="3916375" cy="914400"/>
          </a:xfrm>
          <a:prstGeom prst="roundRect">
            <a:avLst>
              <a:gd name="adj" fmla="val 10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91272" y="2121408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2148840"/>
            <a:ext cx="420624" cy="42062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344" y="2243480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18704" y="2578608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student and transport information across 5 tables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772400" y="3063240"/>
            <a:ext cx="3916375" cy="914400"/>
          </a:xfrm>
          <a:prstGeom prst="roundRect">
            <a:avLst>
              <a:gd name="adj" fmla="val 10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891272" y="3172968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3200400"/>
            <a:ext cx="420624" cy="42062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344" y="3295040"/>
            <a:ext cx="231343" cy="231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918704" y="3630168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pickup point, route, bus and driver details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7772400" y="4114800"/>
            <a:ext cx="3916375" cy="914400"/>
          </a:xfrm>
          <a:prstGeom prst="roundRect">
            <a:avLst>
              <a:gd name="adj" fmla="val 10000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7891272" y="4224528"/>
            <a:ext cx="475488" cy="475488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4251960"/>
            <a:ext cx="420624" cy="420624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344" y="4346600"/>
            <a:ext cx="231343" cy="23134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918704" y="4681728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primary/foreign key relationships in action</a:t>
            </a:r>
            <a:endParaRPr lang="en-US" sz="1050" dirty="0"/>
          </a:p>
        </p:txBody>
      </p:sp>
      <p:sp>
        <p:nvSpPr>
          <p:cNvPr id="24" name="Text 1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25" name="Text 16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600200"/>
            <a:ext cx="9784080" cy="3059703"/>
          </a:xfrm>
          <a:prstGeom prst="roundRect">
            <a:avLst>
              <a:gd name="adj" fmla="val 2690"/>
            </a:avLst>
          </a:prstGeom>
          <a:solidFill>
            <a:srgbClr val="0A1424">
              <a:alpha val="80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dbms_ppt2/join_resul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84248"/>
            <a:ext cx="9784080" cy="25567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5880" y="1691640"/>
            <a:ext cx="9509760" cy="256032"/>
          </a:xfrm>
          <a:prstGeom prst="roundRect">
            <a:avLst>
              <a:gd name="adj" fmla="val 17857"/>
            </a:avLst>
          </a:prstGeom>
          <a:solidFill>
            <a:srgbClr val="1E3A7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25880" y="1691640"/>
            <a:ext cx="9509760" cy="25603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 — 5 Rows Returned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188720" y="5074920"/>
            <a:ext cx="9784080" cy="1005840"/>
          </a:xfrm>
          <a:prstGeom prst="roundRect">
            <a:avLst>
              <a:gd name="adj" fmla="val 10909"/>
            </a:avLst>
          </a:prstGeom>
          <a:solidFill>
            <a:srgbClr val="1E3A76">
              <a:alpha val="80000"/>
            </a:srgbClr>
          </a:solidFill>
          <a:ln w="12700">
            <a:solidFill>
              <a:srgbClr val="4C8D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89888" y="5230368"/>
            <a:ext cx="585216" cy="585216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257800"/>
            <a:ext cx="530352" cy="53035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604" y="5385084"/>
            <a:ext cx="275783" cy="27578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48840" y="5074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output confirms that the relational links and JOIN operations are functioning correctly.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2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8468" y="1691640"/>
            <a:ext cx="786384" cy="786384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1719072"/>
            <a:ext cx="73152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465" y="1894637"/>
            <a:ext cx="380390" cy="38039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1600200"/>
            <a:ext cx="365760" cy="36576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344" y="1655064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8580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Designed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338328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4293108" y="1691640"/>
            <a:ext cx="786384" cy="786384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719072"/>
            <a:ext cx="731520" cy="73152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6105" y="1894637"/>
            <a:ext cx="380390" cy="38039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600200"/>
            <a:ext cx="365760" cy="36576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6984" y="1655064"/>
            <a:ext cx="256032" cy="256032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352044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Implemented</a:t>
            </a:r>
            <a:endParaRPr lang="en-US" sz="1250" dirty="0"/>
          </a:p>
        </p:txBody>
      </p:sp>
      <p:sp>
        <p:nvSpPr>
          <p:cNvPr id="18" name="Shape 8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9"/>
          <p:cNvSpPr/>
          <p:nvPr/>
        </p:nvSpPr>
        <p:spPr>
          <a:xfrm>
            <a:off x="7127748" y="1691640"/>
            <a:ext cx="786384" cy="786384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1719072"/>
            <a:ext cx="731520" cy="73152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0745" y="1894637"/>
            <a:ext cx="380390" cy="380390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600200"/>
            <a:ext cx="365760" cy="36576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1655064"/>
            <a:ext cx="256032" cy="256032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635508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 Populated</a:t>
            </a:r>
            <a:endParaRPr lang="en-US" sz="1250" dirty="0"/>
          </a:p>
        </p:txBody>
      </p:sp>
      <p:sp>
        <p:nvSpPr>
          <p:cNvPr id="25" name="Shape 11"/>
          <p:cNvSpPr/>
          <p:nvPr/>
        </p:nvSpPr>
        <p:spPr>
          <a:xfrm>
            <a:off x="905256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11B2E">
              <a:alpha val="92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12"/>
          <p:cNvSpPr/>
          <p:nvPr/>
        </p:nvSpPr>
        <p:spPr>
          <a:xfrm>
            <a:off x="9962388" y="1691640"/>
            <a:ext cx="786384" cy="786384"/>
          </a:xfrm>
          <a:prstGeom prst="ellipse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1719072"/>
            <a:ext cx="731520" cy="731520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5385" y="1894637"/>
            <a:ext cx="380390" cy="38039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1600200"/>
            <a:ext cx="365760" cy="365760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56264" y="1655064"/>
            <a:ext cx="256032" cy="256032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918972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Successfully Executed</a:t>
            </a:r>
            <a:endParaRPr lang="en-US" sz="1250" dirty="0"/>
          </a:p>
        </p:txBody>
      </p:sp>
      <p:sp>
        <p:nvSpPr>
          <p:cNvPr id="32" name="Shape 14"/>
          <p:cNvSpPr/>
          <p:nvPr/>
        </p:nvSpPr>
        <p:spPr>
          <a:xfrm>
            <a:off x="548640" y="3794760"/>
            <a:ext cx="11094415" cy="1691640"/>
          </a:xfrm>
          <a:prstGeom prst="roundRect">
            <a:avLst>
              <a:gd name="adj" fmla="val 6486"/>
            </a:avLst>
          </a:prstGeom>
          <a:solidFill>
            <a:srgbClr val="16223A">
              <a:alpha val="94000"/>
            </a:srgbClr>
          </a:solidFill>
          <a:ln w="12700">
            <a:solidFill>
              <a:srgbClr val="22315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15"/>
          <p:cNvSpPr/>
          <p:nvPr/>
        </p:nvSpPr>
        <p:spPr>
          <a:xfrm>
            <a:off x="777240" y="40233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0B454">
              <a:alpha val="18000"/>
            </a:srgbClr>
          </a:solidFill>
          <a:ln w="12700">
            <a:solidFill>
              <a:srgbClr val="F0B454"/>
            </a:solidFill>
            <a:prstDash val="solid"/>
          </a:ln>
        </p:spPr>
      </p:sp>
      <p:sp>
        <p:nvSpPr>
          <p:cNvPr id="34" name="Text 16"/>
          <p:cNvSpPr txBox="1"/>
          <p:nvPr/>
        </p:nvSpPr>
        <p:spPr>
          <a:xfrm>
            <a:off x="777240" y="4023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0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950" dirty="0"/>
          </a:p>
        </p:txBody>
      </p:sp>
      <p:sp>
        <p:nvSpPr>
          <p:cNvPr id="35" name="Text 17"/>
          <p:cNvSpPr txBox="1"/>
          <p:nvPr/>
        </p:nvSpPr>
        <p:spPr>
          <a:xfrm>
            <a:off x="777240" y="44805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queries, reports and additional database functionality.</a:t>
            </a:r>
            <a:endParaRPr lang="en-US" sz="1500" dirty="0"/>
          </a:p>
        </p:txBody>
      </p:sp>
      <p:sp>
        <p:nvSpPr>
          <p:cNvPr id="36" name="Text 1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Phase 2 Review — School Transport Route &amp; Student Pickup Management System</a:t>
            </a:r>
            <a:endParaRPr lang="en-US" sz="850" dirty="0"/>
          </a:p>
        </p:txBody>
      </p:sp>
      <p:sp>
        <p:nvSpPr>
          <p:cNvPr id="37" name="Text 19"/>
          <p:cNvSpPr txBox="1"/>
          <p:nvPr/>
        </p:nvSpPr>
        <p:spPr>
          <a:xfrm>
            <a:off x="1118585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780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Trilochan Singh</cp:lastModifiedBy>
  <cp:revision>2</cp:revision>
  <dcterms:created xsi:type="dcterms:W3CDTF">2026-09-15T07:37:38Z</dcterms:created>
  <dcterms:modified xsi:type="dcterms:W3CDTF">2026-09-15T07:49:39Z</dcterms:modified>
</cp:coreProperties>
</file>